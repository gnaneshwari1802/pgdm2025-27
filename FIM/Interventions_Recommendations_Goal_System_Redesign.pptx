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Interventions /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 System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latin typeface="Calibri"/>
              </a:defRPr>
            </a:pPr>
            <a:r>
              <a:t>• Shift from annual KPIs to Quarterly OKRs.</a:t>
            </a:r>
          </a:p>
          <a:p>
            <a:pPr>
              <a:spcAft>
                <a:spcPts val="800"/>
              </a:spcAft>
              <a:defRPr sz="1600">
                <a:latin typeface="Calibri"/>
              </a:defRPr>
            </a:pPr>
            <a:r>
              <a:t>• Promote participative goal-setting (employee involvement).</a:t>
            </a:r>
          </a:p>
          <a:p>
            <a:pPr>
              <a:spcAft>
                <a:spcPts val="800"/>
              </a:spcAft>
              <a:defRPr sz="1600">
                <a:latin typeface="Calibri"/>
              </a:defRPr>
            </a:pPr>
            <a:r>
              <a:t>• Establish continuous feedback loops.</a:t>
            </a:r>
          </a:p>
          <a:p>
            <a:pPr>
              <a:spcAft>
                <a:spcPts val="800"/>
              </a:spcAft>
              <a:defRPr sz="1600">
                <a:latin typeface="Calibri"/>
              </a:defRPr>
            </a:pPr>
            <a:r>
              <a:t>• Encourage intrinsic motivators (autonomy, mastery, purpose).</a:t>
            </a:r>
          </a:p>
          <a:p>
            <a:pPr>
              <a:spcAft>
                <a:spcPts val="800"/>
              </a:spcAft>
              <a:defRPr sz="1600">
                <a:latin typeface="Calibri"/>
              </a:defRPr>
            </a:pPr>
            <a:r>
              <a:t>• Train managers in coaching leadership styles.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0" y="2651760"/>
            <a:ext cx="109728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Quarterly OKRs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17290" y="4391052"/>
            <a:ext cx="1097280" cy="1097280"/>
          </a:xfrm>
          <a:prstGeom prst="rect">
            <a:avLst/>
          </a:prstGeom>
          <a:solidFill>
            <a:srgbClr val="00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Participative</a:t>
            </a:r>
          </a:p>
          <a:p>
            <a:r>
              <a:t>Goal-Setting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2629" y="3726701"/>
            <a:ext cx="1097280" cy="1097280"/>
          </a:xfrm>
          <a:prstGeom prst="rect">
            <a:avLst/>
          </a:prstGeom>
          <a:solidFill>
            <a:srgbClr val="FFC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Continuous</a:t>
            </a:r>
          </a:p>
          <a:p>
            <a:r>
              <a:t>Feedback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2629" y="1576818"/>
            <a:ext cx="1097280" cy="1097280"/>
          </a:xfrm>
          <a:prstGeom prst="rect">
            <a:avLst/>
          </a:prstGeom>
          <a:solidFill>
            <a:srgbClr val="FF66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Intrinsic</a:t>
            </a:r>
          </a:p>
          <a:p>
            <a:r>
              <a:t>Motivation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17290" y="912467"/>
            <a:ext cx="1097280" cy="1097280"/>
          </a:xfrm>
          <a:prstGeom prst="rect">
            <a:avLst/>
          </a:prstGeom>
          <a:solidFill>
            <a:srgbClr val="CC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Coaching</a:t>
            </a:r>
          </a:p>
          <a:p>
            <a:r>
              <a:t>Leadership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2651760"/>
            <a:ext cx="1097280" cy="1097280"/>
          </a:xfrm>
          <a:prstGeom prst="rect">
            <a:avLst/>
          </a:prstGeom>
          <a:solidFill>
            <a:srgbClr val="3232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Goal</a:t>
            </a:r>
          </a:p>
          <a:p>
            <a:r>
              <a:t>System</a:t>
            </a:r>
          </a:p>
          <a:p>
            <a:r>
              <a:t>Redesign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