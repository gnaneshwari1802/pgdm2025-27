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32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5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62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1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6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2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3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448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84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1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4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1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1615498"/>
          </a:xfrm>
        </p:spPr>
        <p:txBody>
          <a:bodyPr/>
          <a:lstStyle/>
          <a:p>
            <a:r>
              <a:rPr sz="4800" dirty="0"/>
              <a:t>Investor Pitch: Boutique Fashion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208206"/>
            <a:ext cx="6803136" cy="976776"/>
          </a:xfrm>
        </p:spPr>
        <p:txBody>
          <a:bodyPr>
            <a:normAutofit/>
          </a:bodyPr>
          <a:lstStyle/>
          <a:p>
            <a:r>
              <a:rPr dirty="0"/>
              <a:t>Presented by: Gnaneshwari Mahimaluru</a:t>
            </a:r>
          </a:p>
          <a:p>
            <a:r>
              <a:rPr dirty="0"/>
              <a:t>Roll No: PGBA25002</a:t>
            </a:r>
          </a:p>
          <a:p>
            <a:r>
              <a:rPr dirty="0"/>
              <a:t>Program: PGDM-BA</a:t>
            </a:r>
          </a:p>
          <a:p>
            <a:r>
              <a:rPr dirty="0"/>
              <a:t>Professor: KNV Subramanyam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4922028" cy="3931920"/>
          </a:xfrm>
        </p:spPr>
        <p:txBody>
          <a:bodyPr/>
          <a:lstStyle/>
          <a:p>
            <a:r>
              <a:rPr lang="en-US" dirty="0"/>
              <a:t>A modern boutique fashion brand focusing on customized ethnic and fusion wear for young professionals. Our brand delivers </a:t>
            </a:r>
            <a:r>
              <a:rPr lang="en-US" b="1" dirty="0"/>
              <a:t>customized ethnic and fusion wear</a:t>
            </a:r>
            <a:r>
              <a:rPr lang="en-US" dirty="0"/>
              <a:t> specifically tailored for the modern, young professional demographic.</a:t>
            </a:r>
            <a:endParaRPr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BDF263C-9598-21CE-F255-44E7EB7303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2915265" cy="291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5A0D83-61B6-74C2-1663-CB54C1A5A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43" y="650780"/>
            <a:ext cx="3073241" cy="57874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4872867" cy="3931920"/>
          </a:xfrm>
        </p:spPr>
        <p:txBody>
          <a:bodyPr/>
          <a:lstStyle/>
          <a:p>
            <a:r>
              <a:rPr dirty="0"/>
              <a:t>Customers struggle to find affordable, personalized fashion with high-quality design and fast delivery.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96F90F-ABEA-0ED3-CBEE-34C87B2F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658" y="264864"/>
            <a:ext cx="3086100" cy="6328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533" y="613098"/>
            <a:ext cx="7680960" cy="1371600"/>
          </a:xfrm>
        </p:spPr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533" y="1867146"/>
            <a:ext cx="4863035" cy="3931920"/>
          </a:xfrm>
        </p:spPr>
        <p:txBody>
          <a:bodyPr/>
          <a:lstStyle/>
          <a:p>
            <a:r>
              <a:rPr lang="en-US" dirty="0"/>
              <a:t>Customized boutique designs tailored to individual styles</a:t>
            </a:r>
          </a:p>
          <a:p>
            <a:r>
              <a:rPr lang="en-US" dirty="0"/>
              <a:t>Digital consultation services for personalized styling</a:t>
            </a:r>
          </a:p>
          <a:p>
            <a:r>
              <a:rPr lang="en-US" dirty="0"/>
              <a:t>Efficient supply chain ensuring fast delivery</a:t>
            </a:r>
          </a:p>
          <a:p>
            <a:r>
              <a:rPr lang="en-US" dirty="0"/>
              <a:t>Trend-based fashion collections for modern professionals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EFF42-17F8-39D5-CF2F-E76A1C6F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17" y="264864"/>
            <a:ext cx="3073241" cy="63282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02" y="377123"/>
            <a:ext cx="7680960" cy="1371600"/>
          </a:xfrm>
        </p:spPr>
        <p:txBody>
          <a:bodyPr/>
          <a:lstStyle/>
          <a:p>
            <a:r>
              <a:rPr dirty="0"/>
              <a:t>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89" y="1748723"/>
            <a:ext cx="4745048" cy="47321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Exclusive </a:t>
            </a:r>
            <a:r>
              <a:rPr lang="en-US" b="1" dirty="0"/>
              <a:t>designer sarees </a:t>
            </a:r>
            <a:r>
              <a:rPr lang="en-US" dirty="0"/>
              <a:t>with modern aesthetics</a:t>
            </a:r>
          </a:p>
          <a:p>
            <a:endParaRPr lang="en-US" dirty="0"/>
          </a:p>
          <a:p>
            <a:r>
              <a:rPr lang="en-US" dirty="0"/>
              <a:t>Versatile </a:t>
            </a:r>
            <a:r>
              <a:rPr lang="en-US" b="1" dirty="0"/>
              <a:t>fusion wear</a:t>
            </a:r>
            <a:r>
              <a:rPr lang="en-US" dirty="0"/>
              <a:t> for daily and formal occasions</a:t>
            </a:r>
          </a:p>
          <a:p>
            <a:endParaRPr lang="en-US" dirty="0"/>
          </a:p>
          <a:p>
            <a:r>
              <a:rPr lang="en-US" dirty="0"/>
              <a:t>Fully </a:t>
            </a:r>
            <a:r>
              <a:rPr lang="en-US" b="1" dirty="0"/>
              <a:t>customized outfits</a:t>
            </a:r>
            <a:r>
              <a:rPr lang="en-US" dirty="0"/>
              <a:t> based on customer preferences</a:t>
            </a:r>
          </a:p>
          <a:p>
            <a:endParaRPr lang="en-US" dirty="0"/>
          </a:p>
          <a:p>
            <a:r>
              <a:rPr lang="en-IN" dirty="0"/>
              <a:t>Professional </a:t>
            </a:r>
            <a:r>
              <a:rPr lang="en-IN" b="1" dirty="0"/>
              <a:t>styling consultation</a:t>
            </a:r>
            <a:r>
              <a:rPr lang="en-IN" dirty="0"/>
              <a:t> packages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Integrated </a:t>
            </a:r>
            <a:r>
              <a:rPr lang="en-US" b="1" dirty="0"/>
              <a:t>online ordering platform</a:t>
            </a:r>
            <a:r>
              <a:rPr lang="en-US" dirty="0"/>
              <a:t> for convenience</a:t>
            </a:r>
          </a:p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3A0EC-28A8-C3D9-E736-7184061B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199" y="333690"/>
            <a:ext cx="2812595" cy="6145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6CACFC-C092-2333-1AF6-763638697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673" y="1689730"/>
            <a:ext cx="647790" cy="63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520194-8DD1-CB81-E894-E2F684EA9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673" y="2656972"/>
            <a:ext cx="609685" cy="600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4A2C57-1F0D-4654-B2AC-ED5E42F36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673" y="3640601"/>
            <a:ext cx="619211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C38B04-A84F-0D30-A562-1DCC586BF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673" y="4569738"/>
            <a:ext cx="600159" cy="609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C12698-CBCE-B4BD-9131-94CC7456BD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672" y="5523259"/>
            <a:ext cx="619211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552" y="396787"/>
            <a:ext cx="7680960" cy="1371600"/>
          </a:xfrm>
        </p:spPr>
        <p:txBody>
          <a:bodyPr/>
          <a:lstStyle/>
          <a:p>
            <a:r>
              <a:rPr dirty="0"/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055" y="1876978"/>
            <a:ext cx="6131397" cy="3931920"/>
          </a:xfrm>
        </p:spPr>
        <p:txBody>
          <a:bodyPr/>
          <a:lstStyle/>
          <a:p>
            <a:r>
              <a:rPr lang="en-US" cap="all" dirty="0"/>
              <a:t>Urban women </a:t>
            </a:r>
            <a:r>
              <a:rPr lang="en-US" b="1" cap="all" dirty="0"/>
              <a:t>aged 20-40</a:t>
            </a:r>
            <a:r>
              <a:rPr lang="en-US" cap="all" dirty="0"/>
              <a:t> looking for unique styles</a:t>
            </a:r>
          </a:p>
          <a:p>
            <a:endParaRPr lang="en-US" cap="all" dirty="0"/>
          </a:p>
          <a:p>
            <a:r>
              <a:rPr lang="en-US" cap="all" dirty="0"/>
              <a:t>Ambitious </a:t>
            </a:r>
            <a:r>
              <a:rPr lang="en-US" b="1" cap="all" dirty="0"/>
              <a:t>working professionals</a:t>
            </a:r>
            <a:r>
              <a:rPr lang="en-US" cap="all" dirty="0"/>
              <a:t> in metropolitan areas</a:t>
            </a:r>
          </a:p>
          <a:p>
            <a:endParaRPr lang="en-US" cap="all" dirty="0"/>
          </a:p>
          <a:p>
            <a:r>
              <a:rPr lang="en-US" cap="all" dirty="0"/>
              <a:t>Fashion-conscious buyers seeking </a:t>
            </a:r>
            <a:r>
              <a:rPr lang="en-US" b="1" cap="all" dirty="0"/>
              <a:t>personalized designs</a:t>
            </a:r>
          </a:p>
          <a:p>
            <a:endParaRPr lang="en-US" b="1" cap="all" dirty="0"/>
          </a:p>
          <a:p>
            <a:r>
              <a:rPr lang="en-US" cap="all" dirty="0"/>
              <a:t>Active </a:t>
            </a:r>
            <a:r>
              <a:rPr lang="en-US" b="1" cap="all" dirty="0"/>
              <a:t>online shoppers</a:t>
            </a:r>
            <a:r>
              <a:rPr lang="en-US" cap="all" dirty="0"/>
              <a:t> familiar with digital platforms</a:t>
            </a:r>
          </a:p>
          <a:p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9BE50-157A-189A-1B4F-9B14AD5B0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942" y="1876978"/>
            <a:ext cx="685896" cy="752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341ACA-1934-B69F-8DCA-2F6EC74D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42" y="2869743"/>
            <a:ext cx="685896" cy="685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492B06-4C1C-1B94-C841-A2DCC8E0C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863" y="3890258"/>
            <a:ext cx="562053" cy="676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C9B58C-2D20-B670-6D72-DC0EB5204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42" y="4901246"/>
            <a:ext cx="676369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3840480" cy="1371600"/>
          </a:xfrm>
        </p:spPr>
        <p:txBody>
          <a:bodyPr/>
          <a:lstStyle/>
          <a:p>
            <a:r>
              <a:rPr dirty="0"/>
              <a:t>Industry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3840480" cy="3931920"/>
          </a:xfrm>
        </p:spPr>
        <p:txBody>
          <a:bodyPr/>
          <a:lstStyle/>
          <a:p>
            <a:r>
              <a:rPr dirty="0"/>
              <a:t>Growing fashion and boutique industry with increasing demand for personalized fashion and online retail.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6A6B3-5B96-DD49-E7F7-18A4E890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701" y="466311"/>
            <a:ext cx="4134427" cy="592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398" y="337794"/>
            <a:ext cx="7680960" cy="1371600"/>
          </a:xfrm>
        </p:spPr>
        <p:txBody>
          <a:bodyPr/>
          <a:lstStyle/>
          <a:p>
            <a:r>
              <a:rPr dirty="0"/>
              <a:t>Business Performance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217" y="1709394"/>
            <a:ext cx="4509074" cy="3931920"/>
          </a:xfrm>
        </p:spPr>
        <p:txBody>
          <a:bodyPr/>
          <a:lstStyle/>
          <a:p>
            <a:r>
              <a:rPr lang="en-US" dirty="0"/>
              <a:t>Initial customer base established through local outreach</a:t>
            </a:r>
          </a:p>
          <a:p>
            <a:r>
              <a:rPr lang="en-US" dirty="0"/>
              <a:t>Rapidly growing social media traction and engagement</a:t>
            </a:r>
          </a:p>
          <a:p>
            <a:r>
              <a:rPr lang="en-US" dirty="0"/>
              <a:t>Consistent positive feedback from early adopters</a:t>
            </a:r>
          </a:p>
          <a:p>
            <a:r>
              <a:rPr lang="en-US" dirty="0"/>
              <a:t>High percentage of repeat clients and referrals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EC69D-1BF4-7B6C-7B9D-051889513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041" y="1557030"/>
            <a:ext cx="3343742" cy="2210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6B3B8-71FA-216A-3076-6CA64CD78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857" y="3895609"/>
            <a:ext cx="3296110" cy="2181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Direct product sales, customization fees, premium styling packages, and online boutique store.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8B3BA-883A-7426-802C-A7C99339058C}"/>
              </a:ext>
            </a:extLst>
          </p:cNvPr>
          <p:cNvSpPr txBox="1"/>
          <p:nvPr/>
        </p:nvSpPr>
        <p:spPr>
          <a:xfrm>
            <a:off x="2275186" y="295097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7071B"/>
                </a:solidFill>
                <a:effectLst/>
                <a:latin typeface="Lora" pitchFamily="2" charset="0"/>
              </a:rPr>
              <a:t>Open flagship store</a:t>
            </a:r>
            <a:r>
              <a:rPr lang="en-US" b="0" i="0" dirty="0">
                <a:solidFill>
                  <a:srgbClr val="07071B"/>
                </a:solidFill>
                <a:effectLst/>
                <a:latin typeface="Lora" pitchFamily="2" charset="0"/>
              </a:rPr>
              <a:t> in a key metropolitan hub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85A4B-0D5E-0E48-000D-04F5D3351AB0}"/>
              </a:ext>
            </a:extLst>
          </p:cNvPr>
          <p:cNvSpPr txBox="1"/>
          <p:nvPr/>
        </p:nvSpPr>
        <p:spPr>
          <a:xfrm>
            <a:off x="2275186" y="368753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cap="all" dirty="0">
                <a:solidFill>
                  <a:srgbClr val="000000"/>
                </a:solidFill>
                <a:effectLst/>
                <a:latin typeface="Lora" pitchFamily="2" charset="0"/>
              </a:rPr>
              <a:t>Customization fees</a:t>
            </a:r>
            <a:r>
              <a:rPr lang="en-US" b="0" i="0" cap="all" dirty="0">
                <a:solidFill>
                  <a:srgbClr val="000000"/>
                </a:solidFill>
                <a:effectLst/>
                <a:latin typeface="Lora" pitchFamily="2" charset="0"/>
              </a:rPr>
              <a:t> for personalized outfit designs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64BFF-C63E-8AE0-2DAC-6D83221EDFB7}"/>
              </a:ext>
            </a:extLst>
          </p:cNvPr>
          <p:cNvSpPr txBox="1"/>
          <p:nvPr/>
        </p:nvSpPr>
        <p:spPr>
          <a:xfrm>
            <a:off x="2275186" y="442279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cap="all" dirty="0">
                <a:solidFill>
                  <a:srgbClr val="000000"/>
                </a:solidFill>
                <a:effectLst/>
                <a:latin typeface="Lora" pitchFamily="2" charset="0"/>
              </a:rPr>
              <a:t>High-margin </a:t>
            </a:r>
            <a:r>
              <a:rPr lang="en-IN" b="1" i="0" cap="all" dirty="0">
                <a:solidFill>
                  <a:srgbClr val="000000"/>
                </a:solidFill>
                <a:effectLst/>
                <a:latin typeface="Lora" pitchFamily="2" charset="0"/>
              </a:rPr>
              <a:t>premium styling packages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4E052-7F5E-83D3-F3CF-266D56EE07EB}"/>
              </a:ext>
            </a:extLst>
          </p:cNvPr>
          <p:cNvSpPr txBox="1"/>
          <p:nvPr/>
        </p:nvSpPr>
        <p:spPr>
          <a:xfrm>
            <a:off x="2313532" y="51593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cap="all" dirty="0">
                <a:solidFill>
                  <a:srgbClr val="000000"/>
                </a:solidFill>
                <a:effectLst/>
                <a:latin typeface="Lora" pitchFamily="2" charset="0"/>
              </a:rPr>
              <a:t>Scalable </a:t>
            </a:r>
            <a:r>
              <a:rPr lang="en-IN" b="1" i="0" cap="all" dirty="0">
                <a:solidFill>
                  <a:srgbClr val="000000"/>
                </a:solidFill>
                <a:effectLst/>
                <a:latin typeface="Lora" pitchFamily="2" charset="0"/>
              </a:rPr>
              <a:t>online boutique store</a:t>
            </a:r>
            <a:r>
              <a:rPr lang="en-IN" b="0" i="0" cap="all" dirty="0">
                <a:solidFill>
                  <a:srgbClr val="000000"/>
                </a:solidFill>
                <a:effectLst/>
                <a:latin typeface="Lora" pitchFamily="2" charset="0"/>
              </a:rPr>
              <a:t> sales channel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F105B1-9E8B-ED03-D9F0-5DCDE761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57" y="2978097"/>
            <a:ext cx="657317" cy="619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043DB9-4B66-755B-D23B-708B51B38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99" y="3734434"/>
            <a:ext cx="590632" cy="5525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B8624E-55C4-CBF9-1838-51C68CA64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578" y="4439996"/>
            <a:ext cx="562053" cy="6382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75081B-BCC8-B756-FC71-B217C0E50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288" y="5231295"/>
            <a:ext cx="562053" cy="590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231" y="222080"/>
            <a:ext cx="7680960" cy="1371600"/>
          </a:xfrm>
        </p:spPr>
        <p:txBody>
          <a:bodyPr/>
          <a:lstStyle/>
          <a:p>
            <a:r>
              <a:rPr dirty="0"/>
              <a:t>5-Year 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734" y="1522032"/>
            <a:ext cx="8038854" cy="47729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Expand product lines</a:t>
            </a:r>
            <a:r>
              <a:rPr lang="en-US" dirty="0"/>
              <a:t> </a:t>
            </a:r>
          </a:p>
          <a:p>
            <a:r>
              <a:rPr lang="en-US" dirty="0"/>
              <a:t>to include more fusion varieties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Increase online presence</a:t>
            </a:r>
          </a:p>
          <a:p>
            <a:r>
              <a:rPr lang="en-US" dirty="0"/>
              <a:t> through digital marketing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Collaborate with influencers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to boost brand awareness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Open flagship store</a:t>
            </a:r>
          </a:p>
          <a:p>
            <a:r>
              <a:rPr lang="en-US" dirty="0"/>
              <a:t>in a key metropolitan hub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BBFF1-2772-90E5-6B4B-E0EC417A1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466" y="2133651"/>
            <a:ext cx="3931625" cy="2959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B62883-C7DA-19BA-D580-C2BC5D8E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748" y="1508308"/>
            <a:ext cx="848079" cy="8317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FB922B-8A4E-70D3-DC3C-2B15B1F8B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984" y="2635266"/>
            <a:ext cx="851511" cy="886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4586BA-9B21-3472-9C4E-953764428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501" y="3928818"/>
            <a:ext cx="843163" cy="886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1ADA9D-7DFA-DBB8-52A7-970F46FB6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830" y="5213770"/>
            <a:ext cx="831770" cy="831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Revenue and profit expected to grow steadily with scaling operations and brand recognition.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Funding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Seeking investment for inventory, marketing, technology platform, and expansion.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EC84B-D931-EBB6-E475-53C7E113E8E2}"/>
              </a:ext>
            </a:extLst>
          </p:cNvPr>
          <p:cNvSpPr txBox="1"/>
          <p:nvPr/>
        </p:nvSpPr>
        <p:spPr>
          <a:xfrm>
            <a:off x="731520" y="294844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Capital for </a:t>
            </a:r>
            <a:r>
              <a:rPr lang="en-US" b="1" dirty="0"/>
              <a:t>inventory acquisition</a:t>
            </a:r>
            <a:r>
              <a:rPr lang="en-US" dirty="0"/>
              <a:t> and raw materials</a:t>
            </a:r>
            <a:endParaRPr lang="en-US" b="0" i="0" dirty="0">
              <a:solidFill>
                <a:srgbClr val="F1F1F2"/>
              </a:solidFill>
              <a:effectLst/>
              <a:latin typeface="Lor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B78AB-FD89-8C5B-A61F-86B282688436}"/>
              </a:ext>
            </a:extLst>
          </p:cNvPr>
          <p:cNvSpPr txBox="1"/>
          <p:nvPr/>
        </p:nvSpPr>
        <p:spPr>
          <a:xfrm>
            <a:off x="731520" y="45433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7071B"/>
                </a:solidFill>
                <a:effectLst/>
                <a:latin typeface="Lora" pitchFamily="2" charset="0"/>
              </a:rPr>
              <a:t>Development of a robust </a:t>
            </a:r>
            <a:r>
              <a:rPr lang="en-US" b="1" i="0" dirty="0">
                <a:solidFill>
                  <a:srgbClr val="07071B"/>
                </a:solidFill>
                <a:effectLst/>
                <a:latin typeface="Lora" pitchFamily="2" charset="0"/>
              </a:rPr>
              <a:t>technology platform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E28EC-C054-AFE4-BB03-05B6630DCE31}"/>
              </a:ext>
            </a:extLst>
          </p:cNvPr>
          <p:cNvSpPr txBox="1"/>
          <p:nvPr/>
        </p:nvSpPr>
        <p:spPr>
          <a:xfrm>
            <a:off x="731520" y="374591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7071B"/>
                </a:solidFill>
                <a:effectLst/>
                <a:latin typeface="Lora" pitchFamily="2" charset="0"/>
              </a:rPr>
              <a:t>Aggressive </a:t>
            </a:r>
            <a:r>
              <a:rPr lang="en-US" b="1" i="0" dirty="0">
                <a:solidFill>
                  <a:srgbClr val="07071B"/>
                </a:solidFill>
                <a:effectLst/>
                <a:latin typeface="Lora" pitchFamily="2" charset="0"/>
              </a:rPr>
              <a:t>marketing and branding</a:t>
            </a:r>
            <a:r>
              <a:rPr lang="en-US" b="0" i="0" dirty="0">
                <a:solidFill>
                  <a:srgbClr val="07071B"/>
                </a:solidFill>
                <a:effectLst/>
                <a:latin typeface="Lora" pitchFamily="2" charset="0"/>
              </a:rPr>
              <a:t> campaigns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CD6B8-0372-90FD-504B-6D858FC2CBFF}"/>
              </a:ext>
            </a:extLst>
          </p:cNvPr>
          <p:cNvSpPr txBox="1"/>
          <p:nvPr/>
        </p:nvSpPr>
        <p:spPr>
          <a:xfrm>
            <a:off x="731520" y="534559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7071B"/>
                </a:solidFill>
                <a:effectLst/>
                <a:latin typeface="Lora" pitchFamily="2" charset="0"/>
              </a:rPr>
              <a:t>Operational funds for </a:t>
            </a:r>
            <a:r>
              <a:rPr lang="en-US" b="1" i="0" dirty="0">
                <a:solidFill>
                  <a:srgbClr val="07071B"/>
                </a:solidFill>
                <a:effectLst/>
                <a:latin typeface="Lora" pitchFamily="2" charset="0"/>
              </a:rPr>
              <a:t>business expansion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03120"/>
            <a:ext cx="4735215" cy="3931920"/>
          </a:xfrm>
        </p:spPr>
        <p:txBody>
          <a:bodyPr/>
          <a:lstStyle/>
          <a:p>
            <a:r>
              <a:rPr lang="en-US" dirty="0"/>
              <a:t>Valuation based on projected revenue growth, market size, brand potential, and scalability. Our current valuation reflects a high </a:t>
            </a:r>
            <a:r>
              <a:rPr lang="en-US" b="1" dirty="0"/>
              <a:t>growth potential</a:t>
            </a:r>
            <a:r>
              <a:rPr lang="en-US" dirty="0"/>
              <a:t> in the booming boutique fashion sector.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08307-B62D-88CC-F0C9-CC62429A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330" y="2645861"/>
            <a:ext cx="312600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212" y="681923"/>
            <a:ext cx="4430415" cy="1371600"/>
          </a:xfrm>
        </p:spPr>
        <p:txBody>
          <a:bodyPr/>
          <a:lstStyle/>
          <a:p>
            <a:r>
              <a:rPr dirty="0"/>
              <a:t>Exit Strategy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212" y="2142449"/>
            <a:ext cx="4194441" cy="3931920"/>
          </a:xfrm>
        </p:spPr>
        <p:txBody>
          <a:bodyPr/>
          <a:lstStyle/>
          <a:p>
            <a:r>
              <a:rPr lang="en-US" dirty="0"/>
              <a:t>Potential exit via acquisition or IPO. Join us in building a scalable boutique fashion brand for modern consumers. Thank you for your time. Let's redefine boutique fashion together.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0145F-B5E2-2A90-4953-2060BB1D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425" y="480252"/>
            <a:ext cx="3710105" cy="585314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158</TotalTime>
  <Words>410</Words>
  <Application>Microsoft Office PowerPoint</Application>
  <PresentationFormat>On-screen Show (4:3)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Century Gothic</vt:lpstr>
      <vt:lpstr>Garamond</vt:lpstr>
      <vt:lpstr>Lora</vt:lpstr>
      <vt:lpstr>Savon</vt:lpstr>
      <vt:lpstr>Investor Pitch: Boutique Fashion Business</vt:lpstr>
      <vt:lpstr>Business Overview</vt:lpstr>
      <vt:lpstr>Problem Statement</vt:lpstr>
      <vt:lpstr>Our Solution</vt:lpstr>
      <vt:lpstr>Products &amp; Services</vt:lpstr>
      <vt:lpstr>Target Market</vt:lpstr>
      <vt:lpstr>Industry Opportunity</vt:lpstr>
      <vt:lpstr>Business Performance So Far</vt:lpstr>
      <vt:lpstr>Revenue Model</vt:lpstr>
      <vt:lpstr>5-Year Growth Strategy</vt:lpstr>
      <vt:lpstr>Financial Projections</vt:lpstr>
      <vt:lpstr>Funding Requirement</vt:lpstr>
      <vt:lpstr>Business Valuation</vt:lpstr>
      <vt:lpstr>Exit Strategy &amp; 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Gnaneshwari Mahimaluru</cp:lastModifiedBy>
  <cp:revision>4</cp:revision>
  <dcterms:created xsi:type="dcterms:W3CDTF">2013-01-27T09:14:16Z</dcterms:created>
  <dcterms:modified xsi:type="dcterms:W3CDTF">2026-02-18T07:25:13Z</dcterms:modified>
  <cp:category/>
</cp:coreProperties>
</file>