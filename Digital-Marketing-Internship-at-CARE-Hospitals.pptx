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rimo" charset="1" panose="020B0604020202020204"/>
      <p:regular r:id="rId31"/>
    </p:embeddedFont>
    <p:embeddedFont>
      <p:font typeface="Arimo Bold" charset="1" panose="020B07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4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youtube.com/shorts/EfKeGjykakA?feature=share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0238" y="7469086"/>
            <a:ext cx="3757460" cy="430711"/>
            <a:chOff x="0" y="0"/>
            <a:chExt cx="5009947" cy="5742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0023" cy="574294"/>
            </a:xfrm>
            <a:custGeom>
              <a:avLst/>
              <a:gdLst/>
              <a:ahLst/>
              <a:cxnLst/>
              <a:rect r="r" b="b" t="t" l="l"/>
              <a:pathLst>
                <a:path h="574294" w="5010023">
                  <a:moveTo>
                    <a:pt x="0" y="287147"/>
                  </a:moveTo>
                  <a:cubicBezTo>
                    <a:pt x="0" y="128524"/>
                    <a:pt x="128524" y="0"/>
                    <a:pt x="287147" y="0"/>
                  </a:cubicBezTo>
                  <a:lnTo>
                    <a:pt x="4722876" y="0"/>
                  </a:lnTo>
                  <a:cubicBezTo>
                    <a:pt x="4881499" y="0"/>
                    <a:pt x="5010023" y="128524"/>
                    <a:pt x="5010023" y="287147"/>
                  </a:cubicBezTo>
                  <a:cubicBezTo>
                    <a:pt x="5010023" y="445770"/>
                    <a:pt x="4881499" y="574294"/>
                    <a:pt x="4722876" y="574294"/>
                  </a:cubicBezTo>
                  <a:lnTo>
                    <a:pt x="287147" y="574294"/>
                  </a:lnTo>
                  <a:cubicBezTo>
                    <a:pt x="128524" y="574294"/>
                    <a:pt x="0" y="445770"/>
                    <a:pt x="0" y="287147"/>
                  </a:cubicBezTo>
                  <a:close/>
                </a:path>
              </a:pathLst>
            </a:custGeom>
            <a:solidFill>
              <a:srgbClr val="EAEDD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20345" y="7544543"/>
            <a:ext cx="4331646" cy="270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GNANESHWARI MAHIMALURU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744620" y="7464323"/>
            <a:ext cx="3701653" cy="440236"/>
            <a:chOff x="0" y="0"/>
            <a:chExt cx="4935538" cy="5869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35601" cy="586994"/>
            </a:xfrm>
            <a:custGeom>
              <a:avLst/>
              <a:gdLst/>
              <a:ahLst/>
              <a:cxnLst/>
              <a:rect r="r" b="b" t="t" l="l"/>
              <a:pathLst>
                <a:path h="586994" w="4935601">
                  <a:moveTo>
                    <a:pt x="0" y="293497"/>
                  </a:moveTo>
                  <a:cubicBezTo>
                    <a:pt x="0" y="131445"/>
                    <a:pt x="131445" y="0"/>
                    <a:pt x="293497" y="0"/>
                  </a:cubicBezTo>
                  <a:lnTo>
                    <a:pt x="4642104" y="0"/>
                  </a:lnTo>
                  <a:cubicBezTo>
                    <a:pt x="4804156" y="0"/>
                    <a:pt x="4935601" y="131445"/>
                    <a:pt x="4935601" y="293497"/>
                  </a:cubicBezTo>
                  <a:cubicBezTo>
                    <a:pt x="4935601" y="455549"/>
                    <a:pt x="4804156" y="586994"/>
                    <a:pt x="4642104" y="586994"/>
                  </a:cubicBezTo>
                  <a:lnTo>
                    <a:pt x="293497" y="586994"/>
                  </a:lnTo>
                  <a:cubicBezTo>
                    <a:pt x="131445" y="586994"/>
                    <a:pt x="0" y="455549"/>
                    <a:pt x="0" y="29349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834" r="1" b="-113832"/>
              </a:stretch>
            </a:blipFill>
            <a:ln w="9526" cap="sq">
              <a:solidFill>
                <a:srgbClr val="626C3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-3642475" y="-2272953"/>
            <a:ext cx="11178388" cy="13110987"/>
            <a:chOff x="0" y="0"/>
            <a:chExt cx="891569" cy="10457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1569" cy="1045710"/>
            </a:xfrm>
            <a:custGeom>
              <a:avLst/>
              <a:gdLst/>
              <a:ahLst/>
              <a:cxnLst/>
              <a:rect r="r" b="b" t="t" l="l"/>
              <a:pathLst>
                <a:path h="1045710" w="891569">
                  <a:moveTo>
                    <a:pt x="445785" y="0"/>
                  </a:moveTo>
                  <a:cubicBezTo>
                    <a:pt x="199585" y="0"/>
                    <a:pt x="0" y="234090"/>
                    <a:pt x="0" y="522855"/>
                  </a:cubicBezTo>
                  <a:cubicBezTo>
                    <a:pt x="0" y="811620"/>
                    <a:pt x="199585" y="1045710"/>
                    <a:pt x="445785" y="1045710"/>
                  </a:cubicBezTo>
                  <a:cubicBezTo>
                    <a:pt x="691984" y="1045710"/>
                    <a:pt x="891569" y="811620"/>
                    <a:pt x="891569" y="522855"/>
                  </a:cubicBezTo>
                  <a:cubicBezTo>
                    <a:pt x="891569" y="234090"/>
                    <a:pt x="691984" y="0"/>
                    <a:pt x="445785" y="0"/>
                  </a:cubicBezTo>
                  <a:close/>
                </a:path>
              </a:pathLst>
            </a:custGeom>
            <a:blipFill>
              <a:blip r:embed="rId4"/>
              <a:stretch>
                <a:fillRect l="-593" t="-26769" r="0" b="-2676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850238" y="8214122"/>
            <a:ext cx="3757460" cy="430711"/>
            <a:chOff x="0" y="0"/>
            <a:chExt cx="5009947" cy="5742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10023" cy="574294"/>
            </a:xfrm>
            <a:custGeom>
              <a:avLst/>
              <a:gdLst/>
              <a:ahLst/>
              <a:cxnLst/>
              <a:rect r="r" b="b" t="t" l="l"/>
              <a:pathLst>
                <a:path h="574294" w="5010023">
                  <a:moveTo>
                    <a:pt x="0" y="287147"/>
                  </a:moveTo>
                  <a:cubicBezTo>
                    <a:pt x="0" y="128524"/>
                    <a:pt x="128524" y="0"/>
                    <a:pt x="287147" y="0"/>
                  </a:cubicBezTo>
                  <a:lnTo>
                    <a:pt x="4722876" y="0"/>
                  </a:lnTo>
                  <a:cubicBezTo>
                    <a:pt x="4881499" y="0"/>
                    <a:pt x="5010023" y="128524"/>
                    <a:pt x="5010023" y="287147"/>
                  </a:cubicBezTo>
                  <a:cubicBezTo>
                    <a:pt x="5010023" y="445770"/>
                    <a:pt x="4881499" y="574294"/>
                    <a:pt x="4722876" y="574294"/>
                  </a:cubicBezTo>
                  <a:lnTo>
                    <a:pt x="287147" y="574294"/>
                  </a:lnTo>
                  <a:cubicBezTo>
                    <a:pt x="128524" y="574294"/>
                    <a:pt x="0" y="445770"/>
                    <a:pt x="0" y="287147"/>
                  </a:cubicBezTo>
                  <a:close/>
                </a:path>
              </a:pathLst>
            </a:custGeom>
            <a:solidFill>
              <a:srgbClr val="EAEDD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850238" y="2330053"/>
            <a:ext cx="9445523" cy="271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Digital Marketing Internship at CARE Hospitals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50238" y="5365547"/>
            <a:ext cx="9445523" cy="178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Quality CARE India Limited</a:t>
            </a:r>
            <a:r>
              <a:rPr lang="en-US" sz="2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· Hyderabad, Telangana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Internship Period: May 2026 – June 2026 · Role: Digital Marketing Intern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19499" y="7544543"/>
            <a:ext cx="4266305" cy="270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626C3B"/>
                </a:solidFill>
                <a:latin typeface="Arimo"/>
                <a:ea typeface="Arimo"/>
                <a:cs typeface="Arimo"/>
                <a:sym typeface="Arimo"/>
              </a:rPr>
              <a:t>PGDM – BUSINESS ANALYTICS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20345" y="8289579"/>
            <a:ext cx="1211580" cy="2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PGBA25002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657" r="0" b="-1265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513831"/>
            <a:ext cx="9445523" cy="91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About CARE Hospitals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1741884"/>
            <a:ext cx="9445523" cy="224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CARE Hospitals is a multi-specialty healthcare organization based in Hyderabad, committed to patient-focused care across a wide range of medical services. As part of Quality CARE India Limited, the institution emphasizes quality treatment, advanced medical infrastructure, and compassionate patient support.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18345" y="3905098"/>
            <a:ext cx="5909310" cy="292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220-bed tertiary care hospital</a:t>
            </a:r>
          </a:p>
          <a:p>
            <a:pPr algn="l" marL="453390" indent="-22669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20+ medical specialties</a:t>
            </a:r>
          </a:p>
          <a:p>
            <a:pPr algn="l" marL="453390" indent="-22669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7 modern operation theatres</a:t>
            </a:r>
          </a:p>
          <a:p>
            <a:pPr algn="l" marL="453390" indent="-22669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120+ critical care beds</a:t>
            </a:r>
          </a:p>
          <a:p>
            <a:pPr algn="l" marL="453390" indent="-22669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Advanced diagnostic and surgical technology</a:t>
            </a:r>
          </a:p>
          <a:p>
            <a:pPr algn="l" marL="453390" indent="-22669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Multidisciplinary and patient-focused healthcare</a:t>
            </a:r>
          </a:p>
          <a:p>
            <a:pPr algn="l" marL="453390" indent="-22669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Experienced specialists and nursing teams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0492" y="1509698"/>
            <a:ext cx="4599232" cy="2893371"/>
            <a:chOff x="0" y="0"/>
            <a:chExt cx="6132309" cy="38578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32322" cy="3857879"/>
            </a:xfrm>
            <a:custGeom>
              <a:avLst/>
              <a:gdLst/>
              <a:ahLst/>
              <a:cxnLst/>
              <a:rect r="r" b="b" t="t" l="l"/>
              <a:pathLst>
                <a:path h="3857879" w="6132322">
                  <a:moveTo>
                    <a:pt x="0" y="551180"/>
                  </a:moveTo>
                  <a:cubicBezTo>
                    <a:pt x="0" y="246761"/>
                    <a:pt x="246761" y="0"/>
                    <a:pt x="551180" y="0"/>
                  </a:cubicBezTo>
                  <a:lnTo>
                    <a:pt x="5581142" y="0"/>
                  </a:lnTo>
                  <a:cubicBezTo>
                    <a:pt x="5885561" y="0"/>
                    <a:pt x="6132322" y="246761"/>
                    <a:pt x="6132322" y="551180"/>
                  </a:cubicBezTo>
                  <a:lnTo>
                    <a:pt x="6132322" y="3306699"/>
                  </a:lnTo>
                  <a:cubicBezTo>
                    <a:pt x="6132322" y="3611118"/>
                    <a:pt x="5885561" y="3857879"/>
                    <a:pt x="5581142" y="3857879"/>
                  </a:cubicBezTo>
                  <a:lnTo>
                    <a:pt x="551180" y="3857879"/>
                  </a:lnTo>
                  <a:cubicBezTo>
                    <a:pt x="246761" y="3857879"/>
                    <a:pt x="0" y="3611118"/>
                    <a:pt x="0" y="3306699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7B855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30492" y="4736035"/>
            <a:ext cx="4599384" cy="2893371"/>
            <a:chOff x="0" y="0"/>
            <a:chExt cx="6132512" cy="38578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32576" cy="3857879"/>
            </a:xfrm>
            <a:custGeom>
              <a:avLst/>
              <a:gdLst/>
              <a:ahLst/>
              <a:cxnLst/>
              <a:rect r="r" b="b" t="t" l="l"/>
              <a:pathLst>
                <a:path h="3857879" w="6132576">
                  <a:moveTo>
                    <a:pt x="0" y="551180"/>
                  </a:moveTo>
                  <a:cubicBezTo>
                    <a:pt x="0" y="246761"/>
                    <a:pt x="246761" y="0"/>
                    <a:pt x="551180" y="0"/>
                  </a:cubicBezTo>
                  <a:lnTo>
                    <a:pt x="5581396" y="0"/>
                  </a:lnTo>
                  <a:cubicBezTo>
                    <a:pt x="5885815" y="0"/>
                    <a:pt x="6132576" y="246761"/>
                    <a:pt x="6132576" y="551180"/>
                  </a:cubicBezTo>
                  <a:lnTo>
                    <a:pt x="6132576" y="3306699"/>
                  </a:lnTo>
                  <a:cubicBezTo>
                    <a:pt x="6132576" y="3611118"/>
                    <a:pt x="5885815" y="3857879"/>
                    <a:pt x="5581396" y="3857879"/>
                  </a:cubicBezTo>
                  <a:lnTo>
                    <a:pt x="551180" y="3857879"/>
                  </a:lnTo>
                  <a:cubicBezTo>
                    <a:pt x="246761" y="3857879"/>
                    <a:pt x="0" y="3611118"/>
                    <a:pt x="0" y="3306699"/>
                  </a:cubicBezTo>
                  <a:close/>
                </a:path>
              </a:pathLst>
            </a:custGeom>
            <a:solidFill>
              <a:srgbClr val="83792E"/>
            </a:solidFill>
            <a:ln w="9526" cap="sq">
              <a:solidFill>
                <a:srgbClr val="9C924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30492" y="7962371"/>
            <a:ext cx="8658632" cy="1599009"/>
            <a:chOff x="0" y="0"/>
            <a:chExt cx="11544842" cy="21320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44773" cy="2131949"/>
            </a:xfrm>
            <a:custGeom>
              <a:avLst/>
              <a:gdLst/>
              <a:ahLst/>
              <a:cxnLst/>
              <a:rect r="r" b="b" t="t" l="l"/>
              <a:pathLst>
                <a:path h="2131949" w="11544773">
                  <a:moveTo>
                    <a:pt x="0" y="552577"/>
                  </a:moveTo>
                  <a:cubicBezTo>
                    <a:pt x="0" y="247396"/>
                    <a:pt x="226557" y="0"/>
                    <a:pt x="506032" y="0"/>
                  </a:cubicBezTo>
                  <a:lnTo>
                    <a:pt x="11038740" y="0"/>
                  </a:lnTo>
                  <a:cubicBezTo>
                    <a:pt x="11318215" y="0"/>
                    <a:pt x="11544773" y="247396"/>
                    <a:pt x="11544773" y="552577"/>
                  </a:cubicBezTo>
                  <a:lnTo>
                    <a:pt x="11544773" y="1579372"/>
                  </a:lnTo>
                  <a:cubicBezTo>
                    <a:pt x="11544773" y="1884553"/>
                    <a:pt x="11318215" y="2131949"/>
                    <a:pt x="11038740" y="2131949"/>
                  </a:cubicBezTo>
                  <a:lnTo>
                    <a:pt x="506032" y="2131949"/>
                  </a:lnTo>
                  <a:cubicBezTo>
                    <a:pt x="226557" y="2132076"/>
                    <a:pt x="0" y="1884553"/>
                    <a:pt x="0" y="1579372"/>
                  </a:cubicBezTo>
                  <a:close/>
                </a:path>
              </a:pathLst>
            </a:custGeom>
            <a:solidFill>
              <a:srgbClr val="E8AF3B"/>
            </a:solidFill>
            <a:ln w="9526" cap="sq">
              <a:solidFill>
                <a:srgbClr val="CE9521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384754" y="1376348"/>
            <a:ext cx="8407946" cy="6297748"/>
          </a:xfrm>
          <a:custGeom>
            <a:avLst/>
            <a:gdLst/>
            <a:ahLst/>
            <a:cxnLst/>
            <a:rect r="r" b="b" t="t" l="l"/>
            <a:pathLst>
              <a:path h="6297748" w="8407946">
                <a:moveTo>
                  <a:pt x="0" y="0"/>
                </a:moveTo>
                <a:lnTo>
                  <a:pt x="8407946" y="0"/>
                </a:lnTo>
                <a:lnTo>
                  <a:pt x="8407946" y="6297749"/>
                </a:lnTo>
                <a:lnTo>
                  <a:pt x="0" y="6297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9366" y="2301464"/>
            <a:ext cx="4021484" cy="138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Comprehensive medical services across diverse specialties and departments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9366" y="4996334"/>
            <a:ext cx="4021636" cy="88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Patient-Centered Mission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9366" y="8222670"/>
            <a:ext cx="8877300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Digital Communication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9366" y="8754137"/>
            <a:ext cx="8877300" cy="51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Leveraging digital channels for awareness, engagement, and outreach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1074" y="1769997"/>
            <a:ext cx="4021484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Multi-Specialty Care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1074" y="5956873"/>
            <a:ext cx="4021636" cy="138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Delivering compassionate, quality-focused healthcare experiences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01885" y="1463560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04825" y="2881871"/>
            <a:ext cx="5430954" cy="5726168"/>
          </a:xfrm>
          <a:custGeom>
            <a:avLst/>
            <a:gdLst/>
            <a:ahLst/>
            <a:cxnLst/>
            <a:rect r="r" b="b" t="t" l="l"/>
            <a:pathLst>
              <a:path h="5726168" w="5430954">
                <a:moveTo>
                  <a:pt x="0" y="0"/>
                </a:moveTo>
                <a:lnTo>
                  <a:pt x="5430954" y="0"/>
                </a:lnTo>
                <a:lnTo>
                  <a:pt x="5430954" y="5726168"/>
                </a:lnTo>
                <a:lnTo>
                  <a:pt x="0" y="572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156" t="-59822" r="-39088" b="-1204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28155" y="1917471"/>
            <a:ext cx="9345495" cy="7359879"/>
          </a:xfrm>
          <a:custGeom>
            <a:avLst/>
            <a:gdLst/>
            <a:ahLst/>
            <a:cxnLst/>
            <a:rect r="r" b="b" t="t" l="l"/>
            <a:pathLst>
              <a:path h="7359879" w="9345495">
                <a:moveTo>
                  <a:pt x="0" y="0"/>
                </a:moveTo>
                <a:lnTo>
                  <a:pt x="9345495" y="0"/>
                </a:lnTo>
                <a:lnTo>
                  <a:pt x="9345495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754" t="0" r="-2225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3362" y="1962842"/>
            <a:ext cx="43738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Out Patient Center (Block A)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41983" y="812482"/>
            <a:ext cx="4221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 </a:t>
            </a:r>
            <a:r>
              <a:rPr lang="en-US" b="true" sz="2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Patient Center  (Block B)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132301" y="1858348"/>
            <a:ext cx="8023398" cy="6570303"/>
          </a:xfrm>
          <a:custGeom>
            <a:avLst/>
            <a:gdLst/>
            <a:ahLst/>
            <a:cxnLst/>
            <a:rect r="r" b="b" t="t" l="l"/>
            <a:pathLst>
              <a:path h="6570303" w="8023398">
                <a:moveTo>
                  <a:pt x="0" y="0"/>
                </a:moveTo>
                <a:lnTo>
                  <a:pt x="8023398" y="0"/>
                </a:lnTo>
                <a:lnTo>
                  <a:pt x="8023398" y="6570304"/>
                </a:lnTo>
                <a:lnTo>
                  <a:pt x="0" y="6570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019" r="-11300" b="-8860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81075"/>
            <a:ext cx="8503923" cy="161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4"/>
              </a:lnSpc>
              <a:spcBef>
                <a:spcPct val="0"/>
              </a:spcBef>
            </a:pPr>
            <a:r>
              <a:rPr lang="en-US" sz="5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Internship Timeline / Work Environment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1436" y="3165863"/>
            <a:ext cx="7833360" cy="665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Internship Timeline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  <a:p>
            <a:pPr algn="l" marL="539749" indent="-269875" lvl="1">
              <a:lnSpc>
                <a:spcPts val="311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Joined: May 2026</a:t>
            </a:r>
          </a:p>
          <a:p>
            <a:pPr algn="l">
              <a:lnSpc>
                <a:spcPts val="3119"/>
              </a:lnSpc>
            </a:pPr>
          </a:p>
          <a:p>
            <a:pPr algn="l" marL="539749" indent="-269875" lvl="1">
              <a:lnSpc>
                <a:spcPts val="311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Completed: June 27th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Department: Sales &amp; Marketing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Exposure to Sales &amp; Marketing Head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Temporary internship break: 7–11 June due to JCI audit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Resumed internship: 12 June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Participated in departmental / marketing interactions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0066"/>
            <a:ext cx="16303523" cy="86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Internship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039693"/>
            <a:ext cx="17217923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Structured goals to bridge academic knowledge with real-world healthcare digital marketing practice.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2779071"/>
            <a:ext cx="522684" cy="522684"/>
          </a:xfrm>
          <a:custGeom>
            <a:avLst/>
            <a:gdLst/>
            <a:ahLst/>
            <a:cxnLst/>
            <a:rect r="r" b="b" t="t" l="l"/>
            <a:pathLst>
              <a:path h="522684" w="522684">
                <a:moveTo>
                  <a:pt x="0" y="0"/>
                </a:moveTo>
                <a:lnTo>
                  <a:pt x="522685" y="0"/>
                </a:lnTo>
                <a:lnTo>
                  <a:pt x="522685" y="522685"/>
                </a:lnTo>
                <a:lnTo>
                  <a:pt x="0" y="5226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09" r="0" b="-90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3574256"/>
            <a:ext cx="8001152" cy="43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Healthcare Digital Marketing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088902"/>
            <a:ext cx="8001152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Understand digital strategies specific to the healthcare sector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294466" y="2779071"/>
            <a:ext cx="522684" cy="522684"/>
          </a:xfrm>
          <a:custGeom>
            <a:avLst/>
            <a:gdLst/>
            <a:ahLst/>
            <a:cxnLst/>
            <a:rect r="r" b="b" t="t" l="l"/>
            <a:pathLst>
              <a:path h="522684" w="522684">
                <a:moveTo>
                  <a:pt x="0" y="0"/>
                </a:moveTo>
                <a:lnTo>
                  <a:pt x="522685" y="0"/>
                </a:lnTo>
                <a:lnTo>
                  <a:pt x="522685" y="522685"/>
                </a:lnTo>
                <a:lnTo>
                  <a:pt x="0" y="5226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09" t="0" r="-90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94466" y="3574256"/>
            <a:ext cx="8001295" cy="43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Social Media Practices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4466" y="4088902"/>
            <a:ext cx="8001295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Learn platform-specific content and engagement approaches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5039173"/>
            <a:ext cx="522684" cy="522684"/>
          </a:xfrm>
          <a:custGeom>
            <a:avLst/>
            <a:gdLst/>
            <a:ahLst/>
            <a:cxnLst/>
            <a:rect r="r" b="b" t="t" l="l"/>
            <a:pathLst>
              <a:path h="522684" w="522684">
                <a:moveTo>
                  <a:pt x="0" y="0"/>
                </a:moveTo>
                <a:lnTo>
                  <a:pt x="522685" y="0"/>
                </a:lnTo>
                <a:lnTo>
                  <a:pt x="522685" y="522684"/>
                </a:lnTo>
                <a:lnTo>
                  <a:pt x="0" y="5226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909" r="0" b="-90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238" y="5834358"/>
            <a:ext cx="8001152" cy="43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Competitor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6349003"/>
            <a:ext cx="8001152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Evaluate digital strategies of competing healthcare organizations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94466" y="5039173"/>
            <a:ext cx="522684" cy="522684"/>
          </a:xfrm>
          <a:custGeom>
            <a:avLst/>
            <a:gdLst/>
            <a:ahLst/>
            <a:cxnLst/>
            <a:rect r="r" b="b" t="t" l="l"/>
            <a:pathLst>
              <a:path h="522684" w="522684">
                <a:moveTo>
                  <a:pt x="0" y="0"/>
                </a:moveTo>
                <a:lnTo>
                  <a:pt x="522685" y="0"/>
                </a:lnTo>
                <a:lnTo>
                  <a:pt x="522685" y="522684"/>
                </a:lnTo>
                <a:lnTo>
                  <a:pt x="0" y="522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182" t="0" r="-818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294466" y="5834358"/>
            <a:ext cx="8001295" cy="43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Patient Engagement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4466" y="6349003"/>
            <a:ext cx="8001295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Understand how feedback drives service improvement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238" y="7299274"/>
            <a:ext cx="522684" cy="522684"/>
          </a:xfrm>
          <a:custGeom>
            <a:avLst/>
            <a:gdLst/>
            <a:ahLst/>
            <a:cxnLst/>
            <a:rect r="r" b="b" t="t" l="l"/>
            <a:pathLst>
              <a:path h="522684" w="522684">
                <a:moveTo>
                  <a:pt x="0" y="0"/>
                </a:moveTo>
                <a:lnTo>
                  <a:pt x="522685" y="0"/>
                </a:lnTo>
                <a:lnTo>
                  <a:pt x="522685" y="522685"/>
                </a:lnTo>
                <a:lnTo>
                  <a:pt x="0" y="5226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728" r="0" b="-272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92238" y="8094469"/>
            <a:ext cx="8001152" cy="43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Awareness Campaigns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8609114"/>
            <a:ext cx="8001152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Support healthcare communication and awareness initiatives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294466" y="7299274"/>
            <a:ext cx="522684" cy="522684"/>
          </a:xfrm>
          <a:custGeom>
            <a:avLst/>
            <a:gdLst/>
            <a:ahLst/>
            <a:cxnLst/>
            <a:rect r="r" b="b" t="t" l="l"/>
            <a:pathLst>
              <a:path h="522684" w="522684">
                <a:moveTo>
                  <a:pt x="0" y="0"/>
                </a:moveTo>
                <a:lnTo>
                  <a:pt x="522685" y="0"/>
                </a:lnTo>
                <a:lnTo>
                  <a:pt x="522685" y="522685"/>
                </a:lnTo>
                <a:lnTo>
                  <a:pt x="0" y="5226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1817" t="0" r="-11817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294466" y="8094469"/>
            <a:ext cx="8001295" cy="43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Hospital Operations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94466" y="8609114"/>
            <a:ext cx="8001295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Gain practical exposure to digital communication in a hospital setting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5867"/>
            <a:ext cx="16303523" cy="80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Digital Marketing Activities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26879"/>
            <a:ext cx="16303523" cy="79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 structured workflow guided all internship activities — from initial research through content creation, digital communication, and performance analysis.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53280" y="2953788"/>
            <a:ext cx="15781287" cy="5921873"/>
            <a:chOff x="0" y="0"/>
            <a:chExt cx="21041716" cy="789583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041740" cy="7895844"/>
            </a:xfrm>
            <a:custGeom>
              <a:avLst/>
              <a:gdLst/>
              <a:ahLst/>
              <a:cxnLst/>
              <a:rect r="r" b="b" t="t" l="l"/>
              <a:pathLst>
                <a:path h="7895844" w="21041740">
                  <a:moveTo>
                    <a:pt x="0" y="0"/>
                  </a:moveTo>
                  <a:lnTo>
                    <a:pt x="21041740" y="0"/>
                  </a:lnTo>
                  <a:lnTo>
                    <a:pt x="21041740" y="7895844"/>
                  </a:lnTo>
                  <a:lnTo>
                    <a:pt x="0" y="7895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004417" y="7409497"/>
            <a:ext cx="238029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Feedback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68117" y="7180231"/>
            <a:ext cx="2712128" cy="88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Digital Communication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1079" y="7409497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Creation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7563" y="7180231"/>
            <a:ext cx="2380288" cy="94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Content Planning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8830" y="7409497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Research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9044435"/>
            <a:ext cx="17217923" cy="42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Each phase built on the previous, ensuring content was well-researched, purposeful, and aligned with CARE Hospitals' communication goals.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01885" y="1463560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01885" y="1463560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51132"/>
            <a:ext cx="1630352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Competitor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630175"/>
            <a:ext cx="7978826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 systematic evaluation of nearby hospitals' digital presence helped identify industry benchmarks and content opportunities for CARE Hospitals.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14146" y="646971"/>
            <a:ext cx="7348329" cy="7348329"/>
            <a:chOff x="0" y="0"/>
            <a:chExt cx="10638434" cy="1063843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638409" cy="10638409"/>
            </a:xfrm>
            <a:custGeom>
              <a:avLst/>
              <a:gdLst/>
              <a:ahLst/>
              <a:cxnLst/>
              <a:rect r="r" b="b" t="t" l="l"/>
              <a:pathLst>
                <a:path h="10638409" w="10638409">
                  <a:moveTo>
                    <a:pt x="0" y="0"/>
                  </a:moveTo>
                  <a:lnTo>
                    <a:pt x="10638409" y="0"/>
                  </a:lnTo>
                  <a:lnTo>
                    <a:pt x="10638409" y="10638409"/>
                  </a:lnTo>
                  <a:lnTo>
                    <a:pt x="0" y="1063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932564" y="8741715"/>
            <a:ext cx="4020157" cy="924984"/>
          </a:xfrm>
          <a:custGeom>
            <a:avLst/>
            <a:gdLst/>
            <a:ahLst/>
            <a:cxnLst/>
            <a:rect r="r" b="b" t="t" l="l"/>
            <a:pathLst>
              <a:path h="924984" w="4020157">
                <a:moveTo>
                  <a:pt x="0" y="0"/>
                </a:moveTo>
                <a:lnTo>
                  <a:pt x="4020157" y="0"/>
                </a:lnTo>
                <a:lnTo>
                  <a:pt x="4020157" y="924984"/>
                </a:lnTo>
                <a:lnTo>
                  <a:pt x="0" y="924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5" r="0" b="-34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56621" y="8404875"/>
            <a:ext cx="3625005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Social Media Strategy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6621" y="8766057"/>
            <a:ext cx="362500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Reviewed posting frequency, platform usage, and content themes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5023514" y="8741715"/>
            <a:ext cx="4020309" cy="924984"/>
          </a:xfrm>
          <a:custGeom>
            <a:avLst/>
            <a:gdLst/>
            <a:ahLst/>
            <a:cxnLst/>
            <a:rect r="r" b="b" t="t" l="l"/>
            <a:pathLst>
              <a:path h="924984" w="4020309">
                <a:moveTo>
                  <a:pt x="0" y="0"/>
                </a:moveTo>
                <a:lnTo>
                  <a:pt x="4020310" y="0"/>
                </a:lnTo>
                <a:lnTo>
                  <a:pt x="4020310" y="924984"/>
                </a:lnTo>
                <a:lnTo>
                  <a:pt x="0" y="9249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47" r="0" b="-34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50142" y="8404875"/>
            <a:ext cx="362515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Awareness Campaigns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50142" y="8766057"/>
            <a:ext cx="362515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Studied healthcare topics and messaging approaches used by peers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114627" y="8741715"/>
            <a:ext cx="4020157" cy="924984"/>
          </a:xfrm>
          <a:custGeom>
            <a:avLst/>
            <a:gdLst/>
            <a:ahLst/>
            <a:cxnLst/>
            <a:rect r="r" b="b" t="t" l="l"/>
            <a:pathLst>
              <a:path h="924984" w="4020157">
                <a:moveTo>
                  <a:pt x="0" y="0"/>
                </a:moveTo>
                <a:lnTo>
                  <a:pt x="4020157" y="0"/>
                </a:lnTo>
                <a:lnTo>
                  <a:pt x="4020157" y="924984"/>
                </a:lnTo>
                <a:lnTo>
                  <a:pt x="0" y="924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45" r="0" b="-34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43806" y="8404875"/>
            <a:ext cx="3625005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Content Types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43806" y="8766057"/>
            <a:ext cx="362500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Analyzed formats — videos, infographics, posts, and patient stories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3205577" y="8741715"/>
            <a:ext cx="4020309" cy="924984"/>
          </a:xfrm>
          <a:custGeom>
            <a:avLst/>
            <a:gdLst/>
            <a:ahLst/>
            <a:cxnLst/>
            <a:rect r="r" b="b" t="t" l="l"/>
            <a:pathLst>
              <a:path h="924984" w="4020309">
                <a:moveTo>
                  <a:pt x="0" y="0"/>
                </a:moveTo>
                <a:lnTo>
                  <a:pt x="4020309" y="0"/>
                </a:lnTo>
                <a:lnTo>
                  <a:pt x="4020309" y="924984"/>
                </a:lnTo>
                <a:lnTo>
                  <a:pt x="0" y="924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47" r="0" b="-347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437318" y="8404875"/>
            <a:ext cx="3625158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Engagement Practices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37318" y="8766057"/>
            <a:ext cx="362515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Observed how competitors interact with patients and audiences online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2858900"/>
            <a:ext cx="5280660" cy="502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Competitors reviewed: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KIMS Hospitals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Yashoda Hospitals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Apollo Hospitals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AIG Hospitals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CARE Hospitals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Parameters compared: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Social media presence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Healthcare awareness campaigns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Content themes and formats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Doctor-focused content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Patient engagement practices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Use of videos/reels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Health education and promotional communication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956643" y="0"/>
            <a:ext cx="5912123" cy="10888800"/>
            <a:chOff x="0" y="0"/>
            <a:chExt cx="8559189" cy="15764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59168" cy="15764061"/>
            </a:xfrm>
            <a:custGeom>
              <a:avLst/>
              <a:gdLst/>
              <a:ahLst/>
              <a:cxnLst/>
              <a:rect r="r" b="b" t="t" l="l"/>
              <a:pathLst>
                <a:path h="15764061" w="8559168">
                  <a:moveTo>
                    <a:pt x="0" y="0"/>
                  </a:moveTo>
                  <a:lnTo>
                    <a:pt x="8559168" y="0"/>
                  </a:lnTo>
                  <a:lnTo>
                    <a:pt x="8559168" y="15764061"/>
                  </a:lnTo>
                  <a:lnTo>
                    <a:pt x="0" y="15764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99" t="0" r="-179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798805"/>
            <a:ext cx="6454140" cy="43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Patient Awareness &amp; </a:t>
            </a: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Communication Gap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876109"/>
            <a:ext cx="7978826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Key</a:t>
            </a: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Observations During Internship</a:t>
            </a:r>
          </a:p>
          <a:p>
            <a:pPr algn="l">
              <a:lnSpc>
                <a:spcPts val="2279"/>
              </a:lnSpc>
            </a:pP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Patient feedback highlighted gaps in documentation accuracy and communication.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One patient reported a mismatch in the discharge summary, where information under the brief history and examination findings appeared inconsistent with the patient’s case.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patient also expressed concerns about doctor review of discharge documents and the quality of nursing care during treatment.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Such feedback can influence patient trust, satisfaction, and overall hospital experience.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From a marketing perspective, patient experience is closely connected to hospital reputation and communication.</a:t>
            </a:r>
          </a:p>
          <a:p>
            <a:pPr algn="l" marL="410209" indent="-20510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Opportunity: Strengthen feedback mechanisms, documentation verification, patient communication, and service-quality monitoring.</a:t>
            </a:r>
          </a:p>
          <a:p>
            <a:pPr algn="l">
              <a:lnSpc>
                <a:spcPts val="22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6376" y="8913272"/>
            <a:ext cx="11956643" cy="598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1"/>
              </a:lnSpc>
              <a:spcBef>
                <a:spcPct val="0"/>
              </a:spcBef>
            </a:pPr>
            <a:r>
              <a:rPr lang="en-US" b="true" sz="189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Accurate information + effective communication + responsive service → stronger patient trust </a:t>
            </a:r>
          </a:p>
          <a:p>
            <a:pPr algn="ctr">
              <a:lnSpc>
                <a:spcPts val="2371"/>
              </a:lnSpc>
              <a:spcBef>
                <a:spcPct val="0"/>
              </a:spcBef>
            </a:pPr>
            <a:r>
              <a:rPr lang="en-US" b="true" sz="1899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and engagement.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833401"/>
            <a:ext cx="9477970" cy="1779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  <a:spcBef>
                <a:spcPct val="0"/>
              </a:spcBef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Observed issues reported by a patient:</a:t>
            </a:r>
          </a:p>
          <a:p>
            <a:pPr algn="l">
              <a:lnSpc>
                <a:spcPts val="2371"/>
              </a:lnSpc>
              <a:spcBef>
                <a:spcPct val="0"/>
              </a:spcBef>
            </a:pPr>
          </a:p>
          <a:p>
            <a:pPr algn="l" marL="410209" indent="-205105" lvl="1">
              <a:lnSpc>
                <a:spcPts val="2371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Mismatch of information in the discharge summary</a:t>
            </a:r>
          </a:p>
          <a:p>
            <a:pPr algn="l" marL="410209" indent="-205105" lvl="1">
              <a:lnSpc>
                <a:spcPts val="2371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Patient reported that the discharge summary had not been properly checked</a:t>
            </a:r>
          </a:p>
          <a:p>
            <a:pPr algn="l" marL="410209" indent="-205105" lvl="1">
              <a:lnSpc>
                <a:spcPts val="2371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Patient expressed concerns regarding nursing care during treatment</a:t>
            </a:r>
          </a:p>
          <a:p>
            <a:pPr algn="l" marL="410209" indent="-205105" lvl="1">
              <a:lnSpc>
                <a:spcPts val="2371"/>
              </a:lnSpc>
              <a:buFont typeface="Arial"/>
              <a:buChar char="•"/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Patient showed a dark circular mark on the lower right hand following blood collection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51132"/>
            <a:ext cx="1630352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Patient Feedback &amp; Data Verification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354779"/>
            <a:ext cx="163296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Contributed to improving the accuracy of hospital records and enhancing patient engagement through structured feedback collection and data verification.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0005" y="1426329"/>
            <a:ext cx="14836083" cy="7858125"/>
            <a:chOff x="0" y="0"/>
            <a:chExt cx="19781444" cy="104775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781393" cy="10477500"/>
            </a:xfrm>
            <a:custGeom>
              <a:avLst/>
              <a:gdLst/>
              <a:ahLst/>
              <a:cxnLst/>
              <a:rect r="r" b="b" t="t" l="l"/>
              <a:pathLst>
                <a:path h="10477500" w="19781393">
                  <a:moveTo>
                    <a:pt x="0" y="0"/>
                  </a:moveTo>
                  <a:lnTo>
                    <a:pt x="19781393" y="0"/>
                  </a:lnTo>
                  <a:lnTo>
                    <a:pt x="19781393" y="10477500"/>
                  </a:lnTo>
                  <a:lnTo>
                    <a:pt x="0" y="1047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" t="0" r="-1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288161" y="6706465"/>
            <a:ext cx="3401139" cy="45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9"/>
              </a:lnSpc>
            </a:pPr>
            <a:r>
              <a:rPr lang="en-US" sz="259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Data Collection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46301" y="7328735"/>
            <a:ext cx="3642998" cy="46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6"/>
              </a:lnSpc>
            </a:pPr>
            <a:r>
              <a:rPr lang="en-US" sz="213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Gather patient feedback and departmental records.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57941" y="2266087"/>
            <a:ext cx="3401139" cy="45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39"/>
              </a:lnSpc>
            </a:pPr>
            <a:r>
              <a:rPr lang="en-US" sz="259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16082" y="2888357"/>
            <a:ext cx="3642998" cy="71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6"/>
              </a:lnSpc>
            </a:pPr>
            <a:r>
              <a:rPr lang="en-US" sz="213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Identify satisfaction patterns and inconsistencies.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78818" y="2266087"/>
            <a:ext cx="3401139" cy="45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59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Insight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78818" y="2888357"/>
            <a:ext cx="3642998" cy="71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213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Confirm verified information and improvement opportunities.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63688" y="6706703"/>
            <a:ext cx="3401139" cy="45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59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Improvement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63688" y="7328973"/>
            <a:ext cx="3642998" cy="46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213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Update records and enhance patient communications.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2713" y="8623893"/>
            <a:ext cx="5396808" cy="1321121"/>
            <a:chOff x="0" y="0"/>
            <a:chExt cx="7195744" cy="17614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95693" cy="1761428"/>
            </a:xfrm>
            <a:custGeom>
              <a:avLst/>
              <a:gdLst/>
              <a:ahLst/>
              <a:cxnLst/>
              <a:rect r="r" b="b" t="t" l="l"/>
              <a:pathLst>
                <a:path h="1761428" w="7195693">
                  <a:moveTo>
                    <a:pt x="0" y="508567"/>
                  </a:moveTo>
                  <a:cubicBezTo>
                    <a:pt x="0" y="227629"/>
                    <a:pt x="128524" y="0"/>
                    <a:pt x="287147" y="0"/>
                  </a:cubicBezTo>
                  <a:lnTo>
                    <a:pt x="6908546" y="0"/>
                  </a:lnTo>
                  <a:cubicBezTo>
                    <a:pt x="7067169" y="0"/>
                    <a:pt x="7195693" y="227629"/>
                    <a:pt x="7195693" y="508567"/>
                  </a:cubicBezTo>
                  <a:lnTo>
                    <a:pt x="7195693" y="1252861"/>
                  </a:lnTo>
                  <a:cubicBezTo>
                    <a:pt x="7195693" y="1533798"/>
                    <a:pt x="7067169" y="1761428"/>
                    <a:pt x="6908546" y="1761428"/>
                  </a:cubicBezTo>
                  <a:lnTo>
                    <a:pt x="287147" y="1761428"/>
                  </a:lnTo>
                  <a:cubicBezTo>
                    <a:pt x="128524" y="1761428"/>
                    <a:pt x="0" y="1533798"/>
                    <a:pt x="0" y="1252861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7B8554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57494" y="8847713"/>
            <a:ext cx="508486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Feedback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7494" y="9121119"/>
            <a:ext cx="77419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Collected and reviewed patient responses to identify satisfaction patterns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440834" y="8623893"/>
            <a:ext cx="5396808" cy="1321121"/>
            <a:chOff x="0" y="0"/>
            <a:chExt cx="7195744" cy="17614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5693" cy="1761428"/>
            </a:xfrm>
            <a:custGeom>
              <a:avLst/>
              <a:gdLst/>
              <a:ahLst/>
              <a:cxnLst/>
              <a:rect r="r" b="b" t="t" l="l"/>
              <a:pathLst>
                <a:path h="1761428" w="7195693">
                  <a:moveTo>
                    <a:pt x="0" y="508567"/>
                  </a:moveTo>
                  <a:cubicBezTo>
                    <a:pt x="0" y="227629"/>
                    <a:pt x="128524" y="0"/>
                    <a:pt x="287147" y="0"/>
                  </a:cubicBezTo>
                  <a:lnTo>
                    <a:pt x="6908546" y="0"/>
                  </a:lnTo>
                  <a:cubicBezTo>
                    <a:pt x="7067169" y="0"/>
                    <a:pt x="7195693" y="227629"/>
                    <a:pt x="7195693" y="508567"/>
                  </a:cubicBezTo>
                  <a:lnTo>
                    <a:pt x="7195693" y="1252861"/>
                  </a:lnTo>
                  <a:cubicBezTo>
                    <a:pt x="7195693" y="1533798"/>
                    <a:pt x="7067169" y="1761428"/>
                    <a:pt x="6908546" y="1761428"/>
                  </a:cubicBezTo>
                  <a:lnTo>
                    <a:pt x="287147" y="1761428"/>
                  </a:lnTo>
                  <a:cubicBezTo>
                    <a:pt x="128524" y="1761428"/>
                    <a:pt x="0" y="1533798"/>
                    <a:pt x="0" y="1252861"/>
                  </a:cubicBezTo>
                  <a:close/>
                </a:path>
              </a:pathLst>
            </a:custGeom>
            <a:solidFill>
              <a:srgbClr val="83792E"/>
            </a:solidFill>
            <a:ln w="9526" cap="sq">
              <a:solidFill>
                <a:srgbClr val="9C924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6515614" y="8847713"/>
            <a:ext cx="508486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Information Verification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15614" y="9121119"/>
            <a:ext cx="77266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Checked doctor profiles, departments, and room allocations for accuracy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898954" y="8623893"/>
            <a:ext cx="5396808" cy="1321121"/>
            <a:chOff x="0" y="0"/>
            <a:chExt cx="7195744" cy="17614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95693" cy="1761428"/>
            </a:xfrm>
            <a:custGeom>
              <a:avLst/>
              <a:gdLst/>
              <a:ahLst/>
              <a:cxnLst/>
              <a:rect r="r" b="b" t="t" l="l"/>
              <a:pathLst>
                <a:path h="1761428" w="7195693">
                  <a:moveTo>
                    <a:pt x="0" y="508567"/>
                  </a:moveTo>
                  <a:cubicBezTo>
                    <a:pt x="0" y="227629"/>
                    <a:pt x="128524" y="0"/>
                    <a:pt x="287147" y="0"/>
                  </a:cubicBezTo>
                  <a:lnTo>
                    <a:pt x="6908546" y="0"/>
                  </a:lnTo>
                  <a:cubicBezTo>
                    <a:pt x="7067169" y="0"/>
                    <a:pt x="7195693" y="227629"/>
                    <a:pt x="7195693" y="508567"/>
                  </a:cubicBezTo>
                  <a:lnTo>
                    <a:pt x="7195693" y="1252861"/>
                  </a:lnTo>
                  <a:cubicBezTo>
                    <a:pt x="7195693" y="1533798"/>
                    <a:pt x="7067169" y="1761428"/>
                    <a:pt x="6908546" y="1761428"/>
                  </a:cubicBezTo>
                  <a:lnTo>
                    <a:pt x="287147" y="1761428"/>
                  </a:lnTo>
                  <a:cubicBezTo>
                    <a:pt x="128524" y="1761428"/>
                    <a:pt x="0" y="1533798"/>
                    <a:pt x="0" y="1252861"/>
                  </a:cubicBezTo>
                  <a:close/>
                </a:path>
              </a:pathLst>
            </a:custGeom>
            <a:solidFill>
              <a:srgbClr val="E8AF3B"/>
            </a:solidFill>
            <a:ln w="9526" cap="sq">
              <a:solidFill>
                <a:srgbClr val="CE9521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1973735" y="8847713"/>
            <a:ext cx="508486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Service Improvement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73735" y="9121119"/>
            <a:ext cx="508486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Identified opportunities to enhance patient experience and digital records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5470448">
            <a:off x="-1985811" y="3099741"/>
            <a:ext cx="8296521" cy="4155767"/>
          </a:xfrm>
          <a:custGeom>
            <a:avLst/>
            <a:gdLst/>
            <a:ahLst/>
            <a:cxnLst/>
            <a:rect r="r" b="b" t="t" l="l"/>
            <a:pathLst>
              <a:path h="4155767" w="8296521">
                <a:moveTo>
                  <a:pt x="0" y="0"/>
                </a:moveTo>
                <a:lnTo>
                  <a:pt x="8296521" y="0"/>
                </a:lnTo>
                <a:lnTo>
                  <a:pt x="8296521" y="4155767"/>
                </a:lnTo>
                <a:lnTo>
                  <a:pt x="0" y="4155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3" r="-3179" b="-1031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2324446" y="3013189"/>
            <a:ext cx="8368835" cy="4260623"/>
          </a:xfrm>
          <a:custGeom>
            <a:avLst/>
            <a:gdLst/>
            <a:ahLst/>
            <a:cxnLst/>
            <a:rect r="r" b="b" t="t" l="l"/>
            <a:pathLst>
              <a:path h="4260623" w="8368835">
                <a:moveTo>
                  <a:pt x="0" y="0"/>
                </a:moveTo>
                <a:lnTo>
                  <a:pt x="8368835" y="0"/>
                </a:lnTo>
                <a:lnTo>
                  <a:pt x="8368835" y="4260622"/>
                </a:lnTo>
                <a:lnTo>
                  <a:pt x="0" y="4260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31" t="-8831" r="0" b="-843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519288">
            <a:off x="6732207" y="3070455"/>
            <a:ext cx="8286072" cy="4091884"/>
          </a:xfrm>
          <a:custGeom>
            <a:avLst/>
            <a:gdLst/>
            <a:ahLst/>
            <a:cxnLst/>
            <a:rect r="r" b="b" t="t" l="l"/>
            <a:pathLst>
              <a:path h="4091884" w="8286072">
                <a:moveTo>
                  <a:pt x="0" y="0"/>
                </a:moveTo>
                <a:lnTo>
                  <a:pt x="8286072" y="0"/>
                </a:lnTo>
                <a:lnTo>
                  <a:pt x="8286072" y="4091883"/>
                </a:lnTo>
                <a:lnTo>
                  <a:pt x="0" y="4091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283" r="-9028" b="-890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87735" y="959082"/>
            <a:ext cx="4547840" cy="8297722"/>
          </a:xfrm>
          <a:custGeom>
            <a:avLst/>
            <a:gdLst/>
            <a:ahLst/>
            <a:cxnLst/>
            <a:rect r="r" b="b" t="t" l="l"/>
            <a:pathLst>
              <a:path h="8297722" w="4547840">
                <a:moveTo>
                  <a:pt x="0" y="0"/>
                </a:moveTo>
                <a:lnTo>
                  <a:pt x="4547840" y="0"/>
                </a:lnTo>
                <a:lnTo>
                  <a:pt x="4547840" y="8297722"/>
                </a:lnTo>
                <a:lnTo>
                  <a:pt x="0" y="82977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8058" b="-24775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400050" y="1463560"/>
            <a:ext cx="3631110" cy="7359879"/>
          </a:xfrm>
          <a:custGeom>
            <a:avLst/>
            <a:gdLst/>
            <a:ahLst/>
            <a:cxnLst/>
            <a:rect r="r" b="b" t="t" l="l"/>
            <a:pathLst>
              <a:path h="7359879" w="3631110">
                <a:moveTo>
                  <a:pt x="0" y="0"/>
                </a:moveTo>
                <a:lnTo>
                  <a:pt x="3631110" y="0"/>
                </a:lnTo>
                <a:lnTo>
                  <a:pt x="363111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01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03968" y="1463560"/>
            <a:ext cx="4139932" cy="7359879"/>
          </a:xfrm>
          <a:custGeom>
            <a:avLst/>
            <a:gdLst/>
            <a:ahLst/>
            <a:cxnLst/>
            <a:rect r="r" b="b" t="t" l="l"/>
            <a:pathLst>
              <a:path h="7359879" w="4139932">
                <a:moveTo>
                  <a:pt x="0" y="0"/>
                </a:moveTo>
                <a:lnTo>
                  <a:pt x="4139932" y="0"/>
                </a:lnTo>
                <a:lnTo>
                  <a:pt x="4139932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2786215"/>
            <a:ext cx="4955381" cy="430711"/>
            <a:chOff x="0" y="0"/>
            <a:chExt cx="6607175" cy="5742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7175" cy="574294"/>
            </a:xfrm>
            <a:custGeom>
              <a:avLst/>
              <a:gdLst/>
              <a:ahLst/>
              <a:cxnLst/>
              <a:rect r="r" b="b" t="t" l="l"/>
              <a:pathLst>
                <a:path h="574294" w="6607175">
                  <a:moveTo>
                    <a:pt x="0" y="287147"/>
                  </a:moveTo>
                  <a:cubicBezTo>
                    <a:pt x="0" y="128524"/>
                    <a:pt x="128524" y="0"/>
                    <a:pt x="287147" y="0"/>
                  </a:cubicBezTo>
                  <a:lnTo>
                    <a:pt x="6320028" y="0"/>
                  </a:lnTo>
                  <a:cubicBezTo>
                    <a:pt x="6478651" y="0"/>
                    <a:pt x="6607175" y="128524"/>
                    <a:pt x="6607175" y="287147"/>
                  </a:cubicBezTo>
                  <a:cubicBezTo>
                    <a:pt x="6607175" y="445770"/>
                    <a:pt x="6478651" y="574294"/>
                    <a:pt x="6320028" y="574294"/>
                  </a:cubicBezTo>
                  <a:lnTo>
                    <a:pt x="287147" y="574294"/>
                  </a:lnTo>
                  <a:cubicBezTo>
                    <a:pt x="128524" y="574294"/>
                    <a:pt x="0" y="445770"/>
                    <a:pt x="0" y="287147"/>
                  </a:cubicBezTo>
                  <a:close/>
                </a:path>
              </a:pathLst>
            </a:custGeom>
            <a:solidFill>
              <a:srgbClr val="EAEDD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6074" y="4061770"/>
            <a:ext cx="2160117" cy="3297307"/>
            <a:chOff x="0" y="0"/>
            <a:chExt cx="4019944" cy="6136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19931" cy="6136080"/>
            </a:xfrm>
            <a:custGeom>
              <a:avLst/>
              <a:gdLst/>
              <a:ahLst/>
              <a:cxnLst/>
              <a:rect r="r" b="b" t="t" l="l"/>
              <a:pathLst>
                <a:path h="6136080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6136080"/>
                  </a:lnTo>
                  <a:lnTo>
                    <a:pt x="0" y="613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76" r="0" b="-887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65032" y="4201882"/>
            <a:ext cx="3014958" cy="1863328"/>
            <a:chOff x="0" y="0"/>
            <a:chExt cx="4019944" cy="24844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19931" cy="2484374"/>
            </a:xfrm>
            <a:custGeom>
              <a:avLst/>
              <a:gdLst/>
              <a:ahLst/>
              <a:cxnLst/>
              <a:rect r="r" b="b" t="t" l="l"/>
              <a:pathLst>
                <a:path h="2484374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374"/>
                  </a:lnTo>
                  <a:lnTo>
                    <a:pt x="0" y="2484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4953" r="0" b="-9495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94641" y="4061770"/>
            <a:ext cx="3014958" cy="2635891"/>
            <a:chOff x="0" y="0"/>
            <a:chExt cx="4019944" cy="35145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19931" cy="3514432"/>
            </a:xfrm>
            <a:custGeom>
              <a:avLst/>
              <a:gdLst/>
              <a:ahLst/>
              <a:cxnLst/>
              <a:rect r="r" b="b" t="t" l="l"/>
              <a:pathLst>
                <a:path h="3514432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3514432"/>
                  </a:lnTo>
                  <a:lnTo>
                    <a:pt x="0" y="3514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2468" r="0" b="-5246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2405" y="715885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Healthcare Awareness Campaign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2511" y="2301492"/>
            <a:ext cx="5529558" cy="270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ROBOTIC-ASSISTED BARIATRIC SURGERY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2405" y="2870916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Developed a patient-friendly awareness campaign on robotic-assisted bariatric surgery — from research and scripting to video creation and content delivery.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7057" y="7511477"/>
            <a:ext cx="5198269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Topic Research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7057" y="8048306"/>
            <a:ext cx="5198269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Studied the procedure, benefits, and patient considerations to build accurate, accessible 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5032" y="7511477"/>
            <a:ext cx="5198269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Content &amp; Script Development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65032" y="8029256"/>
            <a:ext cx="5198269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Developed ideas, wrote scripts, and prepared patient-friendly communication materials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7659" y="7511477"/>
            <a:ext cx="5198269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Awareness Video Creation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17659" y="8029256"/>
            <a:ext cx="5198269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Produced an engaging awareness video using AI-assisted tools for visuals and voiceover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54779"/>
            <a:ext cx="156210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AI-powered tools supported each stage of the content creation workflow — enhancing efficiency while maintaining editorial oversight and accuracy.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3280" y="2218714"/>
            <a:ext cx="15690142" cy="5887672"/>
            <a:chOff x="0" y="0"/>
            <a:chExt cx="21041716" cy="789583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041740" cy="7895844"/>
            </a:xfrm>
            <a:custGeom>
              <a:avLst/>
              <a:gdLst/>
              <a:ahLst/>
              <a:cxnLst/>
              <a:rect r="r" b="b" t="t" l="l"/>
              <a:pathLst>
                <a:path h="7895844" w="21041740">
                  <a:moveTo>
                    <a:pt x="0" y="0"/>
                  </a:moveTo>
                  <a:lnTo>
                    <a:pt x="21041740" y="0"/>
                  </a:lnTo>
                  <a:lnTo>
                    <a:pt x="21041740" y="7895844"/>
                  </a:lnTo>
                  <a:lnTo>
                    <a:pt x="0" y="7895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87476" y="7610770"/>
            <a:ext cx="5396808" cy="1241974"/>
            <a:chOff x="0" y="0"/>
            <a:chExt cx="7195744" cy="16559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5820" cy="1656080"/>
            </a:xfrm>
            <a:custGeom>
              <a:avLst/>
              <a:gdLst/>
              <a:ahLst/>
              <a:cxnLst/>
              <a:rect r="r" b="b" t="t" l="l"/>
              <a:pathLst>
                <a:path h="1656080" w="719582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6910070" y="0"/>
                  </a:lnTo>
                  <a:cubicBezTo>
                    <a:pt x="7067931" y="0"/>
                    <a:pt x="7195820" y="127889"/>
                    <a:pt x="7195820" y="285750"/>
                  </a:cubicBezTo>
                  <a:lnTo>
                    <a:pt x="7195820" y="1370330"/>
                  </a:lnTo>
                  <a:cubicBezTo>
                    <a:pt x="7195820" y="1528191"/>
                    <a:pt x="7067931" y="1656080"/>
                    <a:pt x="6910070" y="1656080"/>
                  </a:cubicBezTo>
                  <a:lnTo>
                    <a:pt x="285750" y="1656080"/>
                  </a:lnTo>
                  <a:cubicBezTo>
                    <a:pt x="127889" y="1656080"/>
                    <a:pt x="0" y="1528191"/>
                    <a:pt x="0" y="1370330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626C3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35293" y="7848217"/>
            <a:ext cx="753537" cy="753537"/>
            <a:chOff x="0" y="0"/>
            <a:chExt cx="566941" cy="5669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928" cy="566928"/>
            </a:xfrm>
            <a:custGeom>
              <a:avLst/>
              <a:gdLst/>
              <a:ahLst/>
              <a:cxnLst/>
              <a:rect r="r" b="b" t="t" l="l"/>
              <a:pathLst>
                <a:path h="566928" w="566928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cubicBezTo>
                    <a:pt x="440055" y="0"/>
                    <a:pt x="566928" y="126873"/>
                    <a:pt x="566928" y="283464"/>
                  </a:cubicBezTo>
                  <a:cubicBezTo>
                    <a:pt x="566928" y="440055"/>
                    <a:pt x="440055" y="566928"/>
                    <a:pt x="283464" y="566928"/>
                  </a:cubicBezTo>
                  <a:cubicBezTo>
                    <a:pt x="126873" y="566928"/>
                    <a:pt x="0" y="440055"/>
                    <a:pt x="0" y="283464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154159" y="7864678"/>
            <a:ext cx="508486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ChatGPT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45596" y="7610770"/>
            <a:ext cx="5396808" cy="1241974"/>
            <a:chOff x="0" y="0"/>
            <a:chExt cx="7195744" cy="16559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95820" cy="1656080"/>
            </a:xfrm>
            <a:custGeom>
              <a:avLst/>
              <a:gdLst/>
              <a:ahLst/>
              <a:cxnLst/>
              <a:rect r="r" b="b" t="t" l="l"/>
              <a:pathLst>
                <a:path h="1656080" w="719582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6910070" y="0"/>
                  </a:lnTo>
                  <a:cubicBezTo>
                    <a:pt x="7067931" y="0"/>
                    <a:pt x="7195820" y="127889"/>
                    <a:pt x="7195820" y="285750"/>
                  </a:cubicBezTo>
                  <a:lnTo>
                    <a:pt x="7195820" y="1370330"/>
                  </a:lnTo>
                  <a:cubicBezTo>
                    <a:pt x="7195820" y="1528191"/>
                    <a:pt x="7067931" y="1656080"/>
                    <a:pt x="6910070" y="1656080"/>
                  </a:cubicBezTo>
                  <a:lnTo>
                    <a:pt x="285750" y="1656080"/>
                  </a:lnTo>
                  <a:cubicBezTo>
                    <a:pt x="127889" y="1656080"/>
                    <a:pt x="0" y="1528191"/>
                    <a:pt x="0" y="1370330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83792E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7612279" y="7864678"/>
            <a:ext cx="508486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Google Flow AI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03716" y="7610770"/>
            <a:ext cx="5396808" cy="1241974"/>
            <a:chOff x="0" y="0"/>
            <a:chExt cx="7195744" cy="1655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95820" cy="1656080"/>
            </a:xfrm>
            <a:custGeom>
              <a:avLst/>
              <a:gdLst/>
              <a:ahLst/>
              <a:cxnLst/>
              <a:rect r="r" b="b" t="t" l="l"/>
              <a:pathLst>
                <a:path h="1656080" w="7195820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6910070" y="0"/>
                  </a:lnTo>
                  <a:cubicBezTo>
                    <a:pt x="7067931" y="0"/>
                    <a:pt x="7195820" y="127889"/>
                    <a:pt x="7195820" y="285750"/>
                  </a:cubicBezTo>
                  <a:lnTo>
                    <a:pt x="7195820" y="1370330"/>
                  </a:lnTo>
                  <a:cubicBezTo>
                    <a:pt x="7195820" y="1528191"/>
                    <a:pt x="7067931" y="1656080"/>
                    <a:pt x="6910070" y="1656080"/>
                  </a:cubicBezTo>
                  <a:lnTo>
                    <a:pt x="285750" y="1656080"/>
                  </a:lnTo>
                  <a:cubicBezTo>
                    <a:pt x="127889" y="1656080"/>
                    <a:pt x="0" y="1528191"/>
                    <a:pt x="0" y="1370330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E8AF3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87476" y="8914057"/>
            <a:ext cx="8125873" cy="1241974"/>
            <a:chOff x="0" y="0"/>
            <a:chExt cx="10834497" cy="16559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34497" cy="1656080"/>
            </a:xfrm>
            <a:custGeom>
              <a:avLst/>
              <a:gdLst/>
              <a:ahLst/>
              <a:cxnLst/>
              <a:rect r="r" b="b" t="t" l="l"/>
              <a:pathLst>
                <a:path h="1656080" w="10834497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0548747" y="0"/>
                  </a:lnTo>
                  <a:cubicBezTo>
                    <a:pt x="10706608" y="0"/>
                    <a:pt x="10834497" y="127889"/>
                    <a:pt x="10834497" y="285750"/>
                  </a:cubicBezTo>
                  <a:lnTo>
                    <a:pt x="10834497" y="1370330"/>
                  </a:lnTo>
                  <a:cubicBezTo>
                    <a:pt x="10834497" y="1528191"/>
                    <a:pt x="10706608" y="1656080"/>
                    <a:pt x="10548747" y="1656080"/>
                  </a:cubicBezTo>
                  <a:lnTo>
                    <a:pt x="285750" y="1656080"/>
                  </a:lnTo>
                  <a:cubicBezTo>
                    <a:pt x="127889" y="1656080"/>
                    <a:pt x="0" y="1528191"/>
                    <a:pt x="0" y="1370330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CC914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2154159" y="9167965"/>
            <a:ext cx="781391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Canva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74661" y="8914057"/>
            <a:ext cx="8125873" cy="1241974"/>
            <a:chOff x="0" y="0"/>
            <a:chExt cx="10834497" cy="16559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4497" cy="1656080"/>
            </a:xfrm>
            <a:custGeom>
              <a:avLst/>
              <a:gdLst/>
              <a:ahLst/>
              <a:cxnLst/>
              <a:rect r="r" b="b" t="t" l="l"/>
              <a:pathLst>
                <a:path h="1656080" w="10834497">
                  <a:moveTo>
                    <a:pt x="0" y="285750"/>
                  </a:moveTo>
                  <a:cubicBezTo>
                    <a:pt x="0" y="127889"/>
                    <a:pt x="127889" y="0"/>
                    <a:pt x="285750" y="0"/>
                  </a:cubicBezTo>
                  <a:lnTo>
                    <a:pt x="10548747" y="0"/>
                  </a:lnTo>
                  <a:cubicBezTo>
                    <a:pt x="10706608" y="0"/>
                    <a:pt x="10834497" y="127889"/>
                    <a:pt x="10834497" y="285750"/>
                  </a:cubicBezTo>
                  <a:lnTo>
                    <a:pt x="10834497" y="1370330"/>
                  </a:lnTo>
                  <a:cubicBezTo>
                    <a:pt x="10834497" y="1528191"/>
                    <a:pt x="10706608" y="1656080"/>
                    <a:pt x="10548747" y="1656080"/>
                  </a:cubicBezTo>
                  <a:lnTo>
                    <a:pt x="285750" y="1656080"/>
                  </a:lnTo>
                  <a:cubicBezTo>
                    <a:pt x="127889" y="1656080"/>
                    <a:pt x="0" y="1528191"/>
                    <a:pt x="0" y="1370330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626C3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330633" y="9070029"/>
            <a:ext cx="425206" cy="425206"/>
            <a:chOff x="0" y="0"/>
            <a:chExt cx="566941" cy="5669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6928" cy="566928"/>
            </a:xfrm>
            <a:custGeom>
              <a:avLst/>
              <a:gdLst/>
              <a:ahLst/>
              <a:cxnLst/>
              <a:rect r="r" b="b" t="t" l="l"/>
              <a:pathLst>
                <a:path h="566928" w="566928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cubicBezTo>
                    <a:pt x="440055" y="0"/>
                    <a:pt x="566928" y="126873"/>
                    <a:pt x="566928" y="283464"/>
                  </a:cubicBezTo>
                  <a:cubicBezTo>
                    <a:pt x="566928" y="440055"/>
                    <a:pt x="440055" y="566928"/>
                    <a:pt x="283464" y="566928"/>
                  </a:cubicBezTo>
                  <a:cubicBezTo>
                    <a:pt x="126873" y="566928"/>
                    <a:pt x="0" y="440055"/>
                    <a:pt x="0" y="283464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94322" y="7840124"/>
            <a:ext cx="761629" cy="76162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56729" y="7883728"/>
            <a:ext cx="1075954" cy="761629"/>
            <a:chOff x="0" y="0"/>
            <a:chExt cx="1148243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8243" cy="812800"/>
            </a:xfrm>
            <a:custGeom>
              <a:avLst/>
              <a:gdLst/>
              <a:ahLst/>
              <a:cxnLst/>
              <a:rect r="r" b="b" t="t" l="l"/>
              <a:pathLst>
                <a:path h="812800" w="1148243">
                  <a:moveTo>
                    <a:pt x="0" y="0"/>
                  </a:moveTo>
                  <a:lnTo>
                    <a:pt x="1148243" y="0"/>
                  </a:lnTo>
                  <a:lnTo>
                    <a:pt x="114824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3092" t="0" r="-1309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53280" y="9158276"/>
            <a:ext cx="753537" cy="753537"/>
            <a:chOff x="0" y="0"/>
            <a:chExt cx="566941" cy="5669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6928" cy="566928"/>
            </a:xfrm>
            <a:custGeom>
              <a:avLst/>
              <a:gdLst/>
              <a:ahLst/>
              <a:cxnLst/>
              <a:rect r="r" b="b" t="t" l="l"/>
              <a:pathLst>
                <a:path h="566928" w="566928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cubicBezTo>
                    <a:pt x="440055" y="0"/>
                    <a:pt x="566928" y="126873"/>
                    <a:pt x="566928" y="283464"/>
                  </a:cubicBezTo>
                  <a:cubicBezTo>
                    <a:pt x="566928" y="440055"/>
                    <a:pt x="440055" y="566928"/>
                    <a:pt x="283464" y="566928"/>
                  </a:cubicBezTo>
                  <a:cubicBezTo>
                    <a:pt x="126873" y="566928"/>
                    <a:pt x="0" y="440055"/>
                    <a:pt x="0" y="283464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58358" y="9123297"/>
            <a:ext cx="1392707" cy="761629"/>
            <a:chOff x="0" y="0"/>
            <a:chExt cx="1486278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86278" cy="812800"/>
            </a:xfrm>
            <a:custGeom>
              <a:avLst/>
              <a:gdLst/>
              <a:ahLst/>
              <a:cxnLst/>
              <a:rect r="r" b="b" t="t" l="l"/>
              <a:pathLst>
                <a:path h="812800" w="1486278">
                  <a:moveTo>
                    <a:pt x="0" y="0"/>
                  </a:moveTo>
                  <a:lnTo>
                    <a:pt x="1486278" y="0"/>
                  </a:lnTo>
                  <a:lnTo>
                    <a:pt x="14862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0" t="-1677" r="0" b="-1677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988830" y="6069749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Idea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238" y="751132"/>
            <a:ext cx="1630352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AI Tools in Content Creation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04417" y="6069749"/>
            <a:ext cx="238029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Video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04594" y="6069749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Voice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21079" y="6069749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Visuals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037563" y="6069749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Script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54159" y="8138074"/>
            <a:ext cx="40386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Scripts, ideas, and content assistance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612279" y="8138074"/>
            <a:ext cx="29413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Visual and video generation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384882" y="7927078"/>
            <a:ext cx="5084864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Gemini AI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84882" y="8200474"/>
            <a:ext cx="355854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Research and content assistance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54159" y="9441371"/>
            <a:ext cx="36499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Visual design and creative content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287606" y="9201369"/>
            <a:ext cx="7813919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ElevenLabs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287606" y="9474775"/>
            <a:ext cx="32689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 voiceovers for video content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2238" y="751132"/>
            <a:ext cx="4069080" cy="43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Campa</a:t>
            </a: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ign / Video Created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2238" y="3171012"/>
            <a:ext cx="14478000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  <a:hlinkClick r:id="rId3" tooltip="https://youtube.com/shorts/EfKeGjykakA?feature=share"/>
              </a:rPr>
              <a:t>https://youtube.com/shorts/EfKeGjykakA?feature=share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38" y="1683069"/>
            <a:ext cx="474726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Robotic Bariatric Surgery video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22122"/>
            <a:ext cx="16303523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Key Learnings &amp; Skills Gained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002784"/>
            <a:ext cx="17217923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internship built practical capabilities across four key domains relevant to healthcare digital marketing and business analytics.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2680840"/>
            <a:ext cx="8052797" cy="3271542"/>
            <a:chOff x="0" y="0"/>
            <a:chExt cx="10737063" cy="43620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6961" cy="4361942"/>
            </a:xfrm>
            <a:custGeom>
              <a:avLst/>
              <a:gdLst/>
              <a:ahLst/>
              <a:cxnLst/>
              <a:rect r="r" b="b" t="t" l="l"/>
              <a:pathLst>
                <a:path h="4361942" w="10736961">
                  <a:moveTo>
                    <a:pt x="0" y="497586"/>
                  </a:moveTo>
                  <a:cubicBezTo>
                    <a:pt x="0" y="222758"/>
                    <a:pt x="222758" y="0"/>
                    <a:pt x="497586" y="0"/>
                  </a:cubicBezTo>
                  <a:lnTo>
                    <a:pt x="10239375" y="0"/>
                  </a:lnTo>
                  <a:cubicBezTo>
                    <a:pt x="10514203" y="0"/>
                    <a:pt x="10736961" y="222758"/>
                    <a:pt x="10736961" y="497586"/>
                  </a:cubicBezTo>
                  <a:lnTo>
                    <a:pt x="10736961" y="3864356"/>
                  </a:lnTo>
                  <a:cubicBezTo>
                    <a:pt x="10736961" y="4139184"/>
                    <a:pt x="10514203" y="4361942"/>
                    <a:pt x="10239375" y="4361942"/>
                  </a:cubicBezTo>
                  <a:lnTo>
                    <a:pt x="497586" y="4361942"/>
                  </a:lnTo>
                  <a:cubicBezTo>
                    <a:pt x="222758" y="4362069"/>
                    <a:pt x="0" y="4139311"/>
                    <a:pt x="0" y="3864483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626C3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49709" y="2943073"/>
            <a:ext cx="744141" cy="744141"/>
            <a:chOff x="0" y="0"/>
            <a:chExt cx="992188" cy="9921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454344" y="3147565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167" t="0" r="-416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49709" y="3885162"/>
            <a:ext cx="752832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Digital Marketing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9709" y="4405074"/>
            <a:ext cx="7528322" cy="128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Healthcare branding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Social media strategy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Digital outreach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47737" y="2680840"/>
            <a:ext cx="8052797" cy="3271542"/>
            <a:chOff x="0" y="0"/>
            <a:chExt cx="10737063" cy="43620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6961" cy="4361942"/>
            </a:xfrm>
            <a:custGeom>
              <a:avLst/>
              <a:gdLst/>
              <a:ahLst/>
              <a:cxnLst/>
              <a:rect r="r" b="b" t="t" l="l"/>
              <a:pathLst>
                <a:path h="4361942" w="10736961">
                  <a:moveTo>
                    <a:pt x="0" y="497586"/>
                  </a:moveTo>
                  <a:cubicBezTo>
                    <a:pt x="0" y="222758"/>
                    <a:pt x="222758" y="0"/>
                    <a:pt x="497586" y="0"/>
                  </a:cubicBezTo>
                  <a:lnTo>
                    <a:pt x="10239375" y="0"/>
                  </a:lnTo>
                  <a:cubicBezTo>
                    <a:pt x="10514203" y="0"/>
                    <a:pt x="10736961" y="222758"/>
                    <a:pt x="10736961" y="497586"/>
                  </a:cubicBezTo>
                  <a:lnTo>
                    <a:pt x="10736961" y="3864356"/>
                  </a:lnTo>
                  <a:cubicBezTo>
                    <a:pt x="10736961" y="4139184"/>
                    <a:pt x="10514203" y="4361942"/>
                    <a:pt x="10239375" y="4361942"/>
                  </a:cubicBezTo>
                  <a:lnTo>
                    <a:pt x="497586" y="4361942"/>
                  </a:lnTo>
                  <a:cubicBezTo>
                    <a:pt x="222758" y="4362069"/>
                    <a:pt x="0" y="4139311"/>
                    <a:pt x="0" y="3864483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83792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970" y="2943073"/>
            <a:ext cx="744141" cy="744141"/>
            <a:chOff x="0" y="0"/>
            <a:chExt cx="992188" cy="9921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83792E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714605" y="3147565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509970" y="3885162"/>
            <a:ext cx="752832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Analytics &amp; Research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09970" y="4405074"/>
            <a:ext cx="7528322" cy="128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Competitor analysis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Patient feedback analysis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Information verification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476" y="6159846"/>
            <a:ext cx="8052797" cy="3271542"/>
            <a:chOff x="0" y="0"/>
            <a:chExt cx="10737063" cy="4362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6961" cy="4361942"/>
            </a:xfrm>
            <a:custGeom>
              <a:avLst/>
              <a:gdLst/>
              <a:ahLst/>
              <a:cxnLst/>
              <a:rect r="r" b="b" t="t" l="l"/>
              <a:pathLst>
                <a:path h="4361942" w="10736961">
                  <a:moveTo>
                    <a:pt x="0" y="497586"/>
                  </a:moveTo>
                  <a:cubicBezTo>
                    <a:pt x="0" y="222758"/>
                    <a:pt x="222758" y="0"/>
                    <a:pt x="497586" y="0"/>
                  </a:cubicBezTo>
                  <a:lnTo>
                    <a:pt x="10239375" y="0"/>
                  </a:lnTo>
                  <a:cubicBezTo>
                    <a:pt x="10514203" y="0"/>
                    <a:pt x="10736961" y="222758"/>
                    <a:pt x="10736961" y="497586"/>
                  </a:cubicBezTo>
                  <a:lnTo>
                    <a:pt x="10736961" y="3864356"/>
                  </a:lnTo>
                  <a:cubicBezTo>
                    <a:pt x="10736961" y="4139184"/>
                    <a:pt x="10514203" y="4361942"/>
                    <a:pt x="10239375" y="4361942"/>
                  </a:cubicBezTo>
                  <a:lnTo>
                    <a:pt x="497586" y="4361942"/>
                  </a:lnTo>
                  <a:cubicBezTo>
                    <a:pt x="222758" y="4362069"/>
                    <a:pt x="0" y="4139311"/>
                    <a:pt x="0" y="3864483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E8AF3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49709" y="6422079"/>
            <a:ext cx="744141" cy="744141"/>
            <a:chOff x="0" y="0"/>
            <a:chExt cx="992188" cy="9921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E8AF3B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454344" y="6626571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779" r="0" b="-2776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49709" y="7364168"/>
            <a:ext cx="752832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Content &amp; AI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9709" y="7884081"/>
            <a:ext cx="7528322" cy="128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Content creation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Video development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AI-assisted workflows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47737" y="6159846"/>
            <a:ext cx="8052797" cy="3271542"/>
            <a:chOff x="0" y="0"/>
            <a:chExt cx="10737063" cy="4362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6961" cy="4361942"/>
            </a:xfrm>
            <a:custGeom>
              <a:avLst/>
              <a:gdLst/>
              <a:ahLst/>
              <a:cxnLst/>
              <a:rect r="r" b="b" t="t" l="l"/>
              <a:pathLst>
                <a:path h="4361942" w="10736961">
                  <a:moveTo>
                    <a:pt x="0" y="497586"/>
                  </a:moveTo>
                  <a:cubicBezTo>
                    <a:pt x="0" y="222758"/>
                    <a:pt x="222758" y="0"/>
                    <a:pt x="497586" y="0"/>
                  </a:cubicBezTo>
                  <a:lnTo>
                    <a:pt x="10239375" y="0"/>
                  </a:lnTo>
                  <a:cubicBezTo>
                    <a:pt x="10514203" y="0"/>
                    <a:pt x="10736961" y="222758"/>
                    <a:pt x="10736961" y="497586"/>
                  </a:cubicBezTo>
                  <a:lnTo>
                    <a:pt x="10736961" y="3864356"/>
                  </a:lnTo>
                  <a:cubicBezTo>
                    <a:pt x="10736961" y="4139184"/>
                    <a:pt x="10514203" y="4361942"/>
                    <a:pt x="10239375" y="4361942"/>
                  </a:cubicBezTo>
                  <a:lnTo>
                    <a:pt x="497586" y="4361942"/>
                  </a:lnTo>
                  <a:cubicBezTo>
                    <a:pt x="222758" y="4362069"/>
                    <a:pt x="0" y="4139311"/>
                    <a:pt x="0" y="3864483"/>
                  </a:cubicBezTo>
                  <a:close/>
                </a:path>
              </a:pathLst>
            </a:custGeom>
            <a:solidFill>
              <a:srgbClr val="626C3B"/>
            </a:solidFill>
            <a:ln w="9526" cap="sq">
              <a:solidFill>
                <a:srgbClr val="CC914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09970" y="6422079"/>
            <a:ext cx="744141" cy="744141"/>
            <a:chOff x="0" y="0"/>
            <a:chExt cx="992188" cy="9921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2124" cy="992124"/>
            </a:xfrm>
            <a:custGeom>
              <a:avLst/>
              <a:gdLst/>
              <a:ahLst/>
              <a:cxnLst/>
              <a:rect r="r" b="b" t="t" l="l"/>
              <a:pathLst>
                <a:path h="992124" w="992124">
                  <a:moveTo>
                    <a:pt x="0" y="496062"/>
                  </a:moveTo>
                  <a:cubicBezTo>
                    <a:pt x="0" y="222123"/>
                    <a:pt x="222123" y="0"/>
                    <a:pt x="496062" y="0"/>
                  </a:cubicBezTo>
                  <a:cubicBezTo>
                    <a:pt x="770001" y="0"/>
                    <a:pt x="992124" y="222123"/>
                    <a:pt x="992124" y="496062"/>
                  </a:cubicBezTo>
                  <a:cubicBezTo>
                    <a:pt x="992124" y="770001"/>
                    <a:pt x="770128" y="992124"/>
                    <a:pt x="496062" y="992124"/>
                  </a:cubicBezTo>
                  <a:cubicBezTo>
                    <a:pt x="221996" y="992124"/>
                    <a:pt x="0" y="770128"/>
                    <a:pt x="0" y="496062"/>
                  </a:cubicBezTo>
                  <a:close/>
                </a:path>
              </a:pathLst>
            </a:custGeom>
            <a:solidFill>
              <a:srgbClr val="CC914D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714605" y="6626571"/>
            <a:ext cx="334861" cy="334861"/>
          </a:xfrm>
          <a:custGeom>
            <a:avLst/>
            <a:gdLst/>
            <a:ahLst/>
            <a:cxnLst/>
            <a:rect r="r" b="b" t="t" l="l"/>
            <a:pathLst>
              <a:path h="334861" w="334861">
                <a:moveTo>
                  <a:pt x="0" y="0"/>
                </a:moveTo>
                <a:lnTo>
                  <a:pt x="334861" y="0"/>
                </a:lnTo>
                <a:lnTo>
                  <a:pt x="334861" y="334861"/>
                </a:lnTo>
                <a:lnTo>
                  <a:pt x="0" y="3348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2223" t="0" r="-2222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509970" y="7364168"/>
            <a:ext cx="752832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Professional Skills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09970" y="7884081"/>
            <a:ext cx="7528322" cy="128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Team collaboration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Professional communication</a:t>
            </a:r>
          </a:p>
          <a:p>
            <a:pPr algn="l" marL="458470" indent="-229235" lvl="1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Hospital operations insight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17216"/>
            <a:ext cx="16303523" cy="86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Internship Takeaways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90165" y="2176539"/>
            <a:ext cx="392011" cy="392011"/>
          </a:xfrm>
          <a:custGeom>
            <a:avLst/>
            <a:gdLst/>
            <a:ahLst/>
            <a:cxnLst/>
            <a:rect r="r" b="b" t="t" l="l"/>
            <a:pathLst>
              <a:path h="392011" w="392011">
                <a:moveTo>
                  <a:pt x="0" y="0"/>
                </a:moveTo>
                <a:lnTo>
                  <a:pt x="392011" y="0"/>
                </a:lnTo>
                <a:lnTo>
                  <a:pt x="392011" y="392011"/>
                </a:lnTo>
                <a:lnTo>
                  <a:pt x="0" y="392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41602" y="2096843"/>
            <a:ext cx="15454160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Gained hands-on exposure to healthcare digital marketing in a real hospital environment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090165" y="3455565"/>
            <a:ext cx="392011" cy="392011"/>
          </a:xfrm>
          <a:custGeom>
            <a:avLst/>
            <a:gdLst/>
            <a:ahLst/>
            <a:cxnLst/>
            <a:rect r="r" b="b" t="t" l="l"/>
            <a:pathLst>
              <a:path h="392011" w="392011">
                <a:moveTo>
                  <a:pt x="0" y="0"/>
                </a:moveTo>
                <a:lnTo>
                  <a:pt x="392011" y="0"/>
                </a:lnTo>
                <a:lnTo>
                  <a:pt x="392011" y="392011"/>
                </a:lnTo>
                <a:lnTo>
                  <a:pt x="0" y="392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41602" y="3375870"/>
            <a:ext cx="15454160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Understood the critical role of accurate digital information in patient trust and engagement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90165" y="4734592"/>
            <a:ext cx="392011" cy="392011"/>
          </a:xfrm>
          <a:custGeom>
            <a:avLst/>
            <a:gdLst/>
            <a:ahLst/>
            <a:cxnLst/>
            <a:rect r="r" b="b" t="t" l="l"/>
            <a:pathLst>
              <a:path h="392011" w="392011">
                <a:moveTo>
                  <a:pt x="0" y="0"/>
                </a:moveTo>
                <a:lnTo>
                  <a:pt x="392011" y="0"/>
                </a:lnTo>
                <a:lnTo>
                  <a:pt x="392011" y="392011"/>
                </a:lnTo>
                <a:lnTo>
                  <a:pt x="0" y="3920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41602" y="4654896"/>
            <a:ext cx="15454160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Learned how patient feedback analysis supports meaningful service improvement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90165" y="6013628"/>
            <a:ext cx="392011" cy="392011"/>
          </a:xfrm>
          <a:custGeom>
            <a:avLst/>
            <a:gdLst/>
            <a:ahLst/>
            <a:cxnLst/>
            <a:rect r="r" b="b" t="t" l="l"/>
            <a:pathLst>
              <a:path h="392011" w="392011">
                <a:moveTo>
                  <a:pt x="0" y="0"/>
                </a:moveTo>
                <a:lnTo>
                  <a:pt x="392011" y="0"/>
                </a:lnTo>
                <a:lnTo>
                  <a:pt x="392011" y="392011"/>
                </a:lnTo>
                <a:lnTo>
                  <a:pt x="0" y="3920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41602" y="5933923"/>
            <a:ext cx="15454160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Developed practical experience in creating healthcare awareness content using AI tools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090165" y="7292654"/>
            <a:ext cx="392011" cy="392011"/>
          </a:xfrm>
          <a:custGeom>
            <a:avLst/>
            <a:gdLst/>
            <a:ahLst/>
            <a:cxnLst/>
            <a:rect r="r" b="b" t="t" l="l"/>
            <a:pathLst>
              <a:path h="392011" w="392011">
                <a:moveTo>
                  <a:pt x="0" y="0"/>
                </a:moveTo>
                <a:lnTo>
                  <a:pt x="392011" y="0"/>
                </a:lnTo>
                <a:lnTo>
                  <a:pt x="392011" y="392011"/>
                </a:lnTo>
                <a:lnTo>
                  <a:pt x="0" y="392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143" t="0" r="-714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41602" y="7212959"/>
            <a:ext cx="15454160" cy="46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Connected academic Business Analytics learning with real-world healthcare operations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319393" y="1463560"/>
            <a:ext cx="4139932" cy="7794740"/>
          </a:xfrm>
          <a:custGeom>
            <a:avLst/>
            <a:gdLst/>
            <a:ahLst/>
            <a:cxnLst/>
            <a:rect r="r" b="b" t="t" l="l"/>
            <a:pathLst>
              <a:path h="7794740" w="4139932">
                <a:moveTo>
                  <a:pt x="0" y="0"/>
                </a:moveTo>
                <a:lnTo>
                  <a:pt x="4139932" y="0"/>
                </a:lnTo>
                <a:lnTo>
                  <a:pt x="4139932" y="7794740"/>
                </a:lnTo>
                <a:lnTo>
                  <a:pt x="0" y="7794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54" t="0" r="-295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3906145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311531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26C3B"/>
                </a:solidFill>
                <a:latin typeface="Arimo"/>
                <a:ea typeface="Arimo"/>
                <a:cs typeface="Arimo"/>
                <a:sym typeface="Arimo"/>
              </a:rPr>
              <a:t>Gnaneshwari Mahimaluru</a:t>
            </a:r>
            <a:r>
              <a:rPr lang="en-US" sz="2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| PGDM – Business Analytics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CARE Hospitals Internship | May –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DAHSEavBHIo</dc:identifier>
  <dcterms:modified xsi:type="dcterms:W3CDTF">2011-08-01T06:04:30Z</dcterms:modified>
  <cp:revision>1</cp:revision>
  <dc:title>Digital-Marketing-Internship-at-CARE-Hospitals.pptx</dc:title>
</cp:coreProperties>
</file>