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57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22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50" dirty="0">
                <a:solidFill>
                  <a:srgbClr val="198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EDGE  •  99ACRES.COM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Inviting Applications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624328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Join the Sales Force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of the top internet companies of India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Hiring 2027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26680" y="457200"/>
            <a:ext cx="4005072" cy="5943600"/>
          </a:xfrm>
          <a:prstGeom prst="roundRect">
            <a:avLst>
              <a:gd name="adj" fmla="val 2740"/>
            </a:avLst>
          </a:prstGeom>
          <a:solidFill>
            <a:srgbClr val="E8F2FA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777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COULD BE YOUR NEXT BIG MOVE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92440" y="1737360"/>
            <a:ext cx="493776" cy="493776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10" name="Image 0" descr="/home/claude/99acres_deck2/icons99b/calend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186080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59952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759952" y="202082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India’s internet ecosystem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2615184"/>
            <a:ext cx="493776" cy="493776"/>
          </a:xfrm>
          <a:prstGeom prst="ellipse">
            <a:avLst/>
          </a:prstGeom>
          <a:solidFill>
            <a:srgbClr val="0F5C94"/>
          </a:solidFill>
          <a:ln/>
        </p:spPr>
      </p:sp>
      <p:pic>
        <p:nvPicPr>
          <p:cNvPr id="14" name="Image 1" descr="/home/claude/99acres_deck2/icons99b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273862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59952" y="25877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Brands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759952" y="28986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jobs, real estate, matrimony &amp; more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3493008"/>
            <a:ext cx="493776" cy="493776"/>
          </a:xfrm>
          <a:prstGeom prst="ellipse">
            <a:avLst/>
          </a:prstGeom>
          <a:solidFill>
            <a:srgbClr val="5CAEDD"/>
          </a:solidFill>
          <a:ln/>
        </p:spPr>
      </p:sp>
      <p:pic>
        <p:nvPicPr>
          <p:cNvPr id="18" name="Image 2" descr="/home/claude/99acres_deck2/icons99b/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36164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59952" y="346557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Startups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759952" y="37764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as strategic investor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92440" y="4370832"/>
            <a:ext cx="493776" cy="493776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22" name="Image 3" descr="/home/claude/99acres_deck2/icons99b/aw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449427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59952" y="43434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Place to Work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759952" y="465429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as a top employer in India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092440" y="5303520"/>
            <a:ext cx="3291840" cy="0"/>
          </a:xfrm>
          <a:prstGeom prst="line">
            <a:avLst/>
          </a:prstGeom>
          <a:noFill/>
          <a:ln w="12700">
            <a:solidFill>
              <a:srgbClr val="D3E6F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92440" y="5449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for the role, and what makes us tick.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5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 Edge (India) Ltd.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1995 and publicly listed on the NSE &amp; BSE, Info Edge is the parent company behind some of India’s most recognised internet brands — spanning recruitment, real estate, matrimony, and education. Headquartered in Noida, we’re one of India’s longest-standing and most trusted internet businesses.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858585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FAMILY OF BRANDS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39459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9459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5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58568" y="339459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339459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naukrigulf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14216" y="339459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339459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A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99acres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9864" y="339459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5584" y="339459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Jeevansathi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17183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7183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58568" y="417183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417183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iimjobs.com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14216" y="417183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417183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AmbitionBox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9864" y="417183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5584" y="417183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Quadrangle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94907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4907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hirist.tech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58568" y="494907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494907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5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 FastForward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14216" y="494907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494907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9864" y="494907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494907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Ninjas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" y="572631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72631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A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JobHai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58568" y="572631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04288" y="572631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A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doSelect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14216" y="572631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572631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5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 Campus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69864" y="5726317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5726317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Zwayam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818120" y="1481328"/>
            <a:ext cx="3913632" cy="4919472"/>
          </a:xfrm>
          <a:prstGeom prst="roundRect">
            <a:avLst>
              <a:gd name="adj" fmla="val 233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1755648"/>
            <a:ext cx="475488" cy="475488"/>
          </a:xfrm>
          <a:prstGeom prst="ellipse">
            <a:avLst/>
          </a:prstGeom>
          <a:solidFill>
            <a:srgbClr val="265DF5"/>
          </a:solidFill>
          <a:ln/>
        </p:spPr>
      </p:sp>
      <p:pic>
        <p:nvPicPr>
          <p:cNvPr id="41" name="Image 0" descr="/home/claude/campus_deck/icons2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1869948"/>
            <a:ext cx="256032" cy="25603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05088" y="1691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kern="0" spc="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JUST HIRE.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kern="0" spc="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INVEST.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092440" y="2487168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2007, Info Edge has backed early-stage internet startups — building one of India’s most successful investment track records.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092440" y="3493008"/>
            <a:ext cx="336499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18005" y="3813048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9340266" y="3813048"/>
            <a:ext cx="1952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backed as a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investor</a:t>
            </a:r>
            <a:endParaRPr lang="en-US" sz="1600" b="1" dirty="0"/>
          </a:p>
        </p:txBody>
      </p:sp>
      <p:sp>
        <p:nvSpPr>
          <p:cNvPr id="47" name="Shape 44"/>
          <p:cNvSpPr/>
          <p:nvPr/>
        </p:nvSpPr>
        <p:spPr>
          <a:xfrm>
            <a:off x="8092440" y="4736592"/>
            <a:ext cx="336499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57408" y="50434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8732520" y="5029673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Home-grown unicorns taken public 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Policybazaar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9145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1981C3"/>
                </a:solidFill>
                <a:ea typeface="Calibri" pitchFamily="34" charset="-122"/>
                <a:cs typeface="Calibri" pitchFamily="34" charset="-120"/>
              </a:rPr>
              <a:t>About Business Unit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ea typeface="Cambria" pitchFamily="34" charset="-122"/>
                <a:cs typeface="Cambria" pitchFamily="34" charset="-120"/>
              </a:rPr>
              <a:t>99acres.com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Launched in 2005, 99acres.com is where India’s buyers, sellers and brokers connect. We don’t sell properties; we power the marketplace, helping developers and brokers advertise for stronger visibility &amp; reach, increasingly through AI-driven listings and search.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107361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The 99acres.com Ecosystem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2551368"/>
            <a:ext cx="2126894" cy="841248"/>
          </a:xfrm>
          <a:prstGeom prst="roundRect">
            <a:avLst>
              <a:gd name="adj" fmla="val 6522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2801086"/>
            <a:ext cx="347472" cy="347472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8" name="Image 0" descr="/home/claude/99acres_deck2/icons99b/helm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6509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551368"/>
            <a:ext cx="15051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81C3"/>
                </a:solidFill>
                <a:ea typeface="Calibri" pitchFamily="34" charset="-122"/>
                <a:cs typeface="Calibri" pitchFamily="34" charset="-120"/>
              </a:rPr>
              <a:t>NEW PROJECTS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66974" y="2551368"/>
            <a:ext cx="2126894" cy="841248"/>
          </a:xfrm>
          <a:prstGeom prst="roundRect">
            <a:avLst>
              <a:gd name="adj" fmla="val 6522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4990" y="2801086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2" name="Image 1" descr="/home/claude/99acres_deck2/icons99b/hou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998" y="286509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5614" y="2551368"/>
            <a:ext cx="15051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9E5B"/>
                </a:solidFill>
                <a:ea typeface="Calibri" pitchFamily="34" charset="-122"/>
                <a:cs typeface="Calibri" pitchFamily="34" charset="-120"/>
              </a:rPr>
              <a:t>RESALE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31029" y="2551368"/>
            <a:ext cx="2126894" cy="841248"/>
          </a:xfrm>
          <a:prstGeom prst="roundRect">
            <a:avLst>
              <a:gd name="adj" fmla="val 6522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59045" y="2801086"/>
            <a:ext cx="347472" cy="347472"/>
          </a:xfrm>
          <a:prstGeom prst="ellipse">
            <a:avLst/>
          </a:prstGeom>
          <a:solidFill>
            <a:srgbClr val="E08E2B"/>
          </a:solidFill>
          <a:ln/>
        </p:spPr>
      </p:sp>
      <p:pic>
        <p:nvPicPr>
          <p:cNvPr id="16" name="Image 2" descr="/home/claude/99acres_deck2/icons99b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53" y="286509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9669" y="2551368"/>
            <a:ext cx="15051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08E2B"/>
                </a:solidFill>
                <a:ea typeface="Calibri" pitchFamily="34" charset="-122"/>
                <a:cs typeface="Calibri" pitchFamily="34" charset="-120"/>
              </a:rPr>
              <a:t>RENTAL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295083" y="2551368"/>
            <a:ext cx="2126894" cy="841248"/>
          </a:xfrm>
          <a:prstGeom prst="roundRect">
            <a:avLst>
              <a:gd name="adj" fmla="val 6522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23099" y="2801086"/>
            <a:ext cx="347472" cy="347472"/>
          </a:xfrm>
          <a:prstGeom prst="ellipse">
            <a:avLst/>
          </a:prstGeom>
          <a:solidFill>
            <a:srgbClr val="7B4FC9"/>
          </a:solidFill>
          <a:ln/>
        </p:spPr>
      </p:sp>
      <p:pic>
        <p:nvPicPr>
          <p:cNvPr id="20" name="Image 3" descr="/home/claude/99acres_deck2/icons99b/buil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107" y="286509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43723" y="2551368"/>
            <a:ext cx="15051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B4FC9"/>
                </a:solidFill>
                <a:ea typeface="Calibri" pitchFamily="34" charset="-122"/>
                <a:cs typeface="Calibri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559138" y="2551368"/>
            <a:ext cx="2126894" cy="841248"/>
          </a:xfrm>
          <a:prstGeom prst="roundRect">
            <a:avLst>
              <a:gd name="adj" fmla="val 6522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687154" y="2801086"/>
            <a:ext cx="347472" cy="347472"/>
          </a:xfrm>
          <a:prstGeom prst="ellipse">
            <a:avLst/>
          </a:prstGeom>
          <a:solidFill>
            <a:srgbClr val="2AACE2"/>
          </a:solidFill>
          <a:ln/>
        </p:spPr>
      </p:sp>
      <p:pic>
        <p:nvPicPr>
          <p:cNvPr id="24" name="Image 4" descr="/home/claude/99acres_deck2/icons99b/us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1162" y="286509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07778" y="2551368"/>
            <a:ext cx="15051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AACE2"/>
                </a:solidFill>
                <a:ea typeface="Calibri" pitchFamily="34" charset="-122"/>
                <a:cs typeface="Calibri" pitchFamily="34" charset="-120"/>
              </a:rPr>
              <a:t>OWNERS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02920" y="35752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Our Dominance</a:t>
            </a: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502920" y="3990933"/>
            <a:ext cx="3605784" cy="1005840"/>
          </a:xfrm>
          <a:prstGeom prst="roundRect">
            <a:avLst>
              <a:gd name="adj" fmla="val 6364"/>
            </a:avLst>
          </a:prstGeom>
          <a:solidFill>
            <a:srgbClr val="E8F2FA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9224" y="4109805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29" name="Image 5" descr="/home/claude/99acres_deck2/icons99b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" y="4201245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24712" y="4045797"/>
            <a:ext cx="2874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  <a:ea typeface="Cambria" pitchFamily="34" charset="-122"/>
                <a:cs typeface="Cambria" pitchFamily="34" charset="-120"/>
              </a:rPr>
              <a:t>19.97M+</a:t>
            </a: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1124712" y="4356693"/>
            <a:ext cx="2874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Monthly Website Visits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49224" y="4649301"/>
            <a:ext cx="331317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3" name="Text 25"/>
          <p:cNvSpPr/>
          <p:nvPr/>
        </p:nvSpPr>
        <p:spPr>
          <a:xfrm>
            <a:off x="685800" y="4649301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~67% higher than nearest competitor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4291584" y="3990933"/>
            <a:ext cx="3605784" cy="1005840"/>
          </a:xfrm>
          <a:prstGeom prst="roundRect">
            <a:avLst>
              <a:gd name="adj" fmla="val 6364"/>
            </a:avLst>
          </a:prstGeom>
          <a:solidFill>
            <a:srgbClr val="E8F2FA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437888" y="4109805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36" name="Image 6" descr="/home/claude/99acres_deck2/icons99b/filedoc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9328" y="4201245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13376" y="4045797"/>
            <a:ext cx="2874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  <a:ea typeface="Cambria" pitchFamily="34" charset="-122"/>
                <a:cs typeface="Cambria" pitchFamily="34" charset="-120"/>
              </a:rPr>
              <a:t>88.1M+</a:t>
            </a: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4913376" y="4356693"/>
            <a:ext cx="2874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Monthly Page Views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437888" y="4649301"/>
            <a:ext cx="331317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0" name="Text 31"/>
          <p:cNvSpPr/>
          <p:nvPr/>
        </p:nvSpPr>
        <p:spPr>
          <a:xfrm>
            <a:off x="4474464" y="4649301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Over 2x the nearest competitor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8080248" y="3990933"/>
            <a:ext cx="3605784" cy="1005840"/>
          </a:xfrm>
          <a:prstGeom prst="roundRect">
            <a:avLst>
              <a:gd name="adj" fmla="val 6364"/>
            </a:avLst>
          </a:prstGeom>
          <a:solidFill>
            <a:srgbClr val="E8F2FA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226552" y="4109805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43" name="Image 7" descr="/home/claude/99acres_deck2/icons99b/magnifie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7992" y="4201245"/>
            <a:ext cx="182880" cy="1828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702040" y="4045797"/>
            <a:ext cx="2874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  <a:ea typeface="Cambria" pitchFamily="34" charset="-122"/>
                <a:cs typeface="Cambria" pitchFamily="34" charset="-120"/>
              </a:rPr>
              <a:t>64%</a:t>
            </a: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8702040" y="4356693"/>
            <a:ext cx="2874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Brand Search Share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226552" y="4649301"/>
            <a:ext cx="331317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7" name="Text 37"/>
          <p:cNvSpPr/>
          <p:nvPr/>
        </p:nvSpPr>
        <p:spPr>
          <a:xfrm>
            <a:off x="8263128" y="4649301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More than 2x the nearest competitor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502920" y="52742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Powered By 99acres AI</a:t>
            </a:r>
            <a:endParaRPr lang="en-US" dirty="0"/>
          </a:p>
        </p:txBody>
      </p:sp>
      <p:sp>
        <p:nvSpPr>
          <p:cNvPr id="50" name="Shape 40"/>
          <p:cNvSpPr/>
          <p:nvPr/>
        </p:nvSpPr>
        <p:spPr>
          <a:xfrm>
            <a:off x="502920" y="5605744"/>
            <a:ext cx="2692908" cy="987552"/>
          </a:xfrm>
          <a:prstGeom prst="roundRect">
            <a:avLst>
              <a:gd name="adj" fmla="val 6481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630936" y="567719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981C3"/>
          </a:solidFill>
          <a:ln/>
        </p:spPr>
      </p:sp>
      <p:pic>
        <p:nvPicPr>
          <p:cNvPr id="52" name="Image 8" descr="/home/claude/99acres_deck2/icons99b/wan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" y="5750350"/>
            <a:ext cx="219456" cy="21945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106424" y="5640622"/>
            <a:ext cx="1997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AI Listings</a:t>
            </a:r>
            <a:endParaRPr lang="en-US" sz="1600" dirty="0"/>
          </a:p>
        </p:txBody>
      </p:sp>
      <p:sp>
        <p:nvSpPr>
          <p:cNvPr id="54" name="Text 43"/>
          <p:cNvSpPr/>
          <p:nvPr/>
        </p:nvSpPr>
        <p:spPr>
          <a:xfrm>
            <a:off x="630936" y="6125537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Video, voice &amp; personalised branding.</a:t>
            </a:r>
            <a:endParaRPr lang="en-US" sz="1300" dirty="0"/>
          </a:p>
        </p:txBody>
      </p:sp>
      <p:sp>
        <p:nvSpPr>
          <p:cNvPr id="55" name="Shape 44"/>
          <p:cNvSpPr/>
          <p:nvPr/>
        </p:nvSpPr>
        <p:spPr>
          <a:xfrm>
            <a:off x="3332988" y="5605744"/>
            <a:ext cx="2692908" cy="987552"/>
          </a:xfrm>
          <a:prstGeom prst="roundRect">
            <a:avLst>
              <a:gd name="adj" fmla="val 6481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3461004" y="567719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F5C94"/>
          </a:solidFill>
          <a:ln/>
        </p:spPr>
      </p:sp>
      <p:pic>
        <p:nvPicPr>
          <p:cNvPr id="57" name="Image 9" descr="/home/claude/99acres_deck2/icons99b/playcircl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4156" y="5750350"/>
            <a:ext cx="219456" cy="21945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3936492" y="5640622"/>
            <a:ext cx="1997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99shorts</a:t>
            </a:r>
            <a:endParaRPr lang="en-US" sz="1600" dirty="0"/>
          </a:p>
        </p:txBody>
      </p:sp>
      <p:sp>
        <p:nvSpPr>
          <p:cNvPr id="59" name="Text 47"/>
          <p:cNvSpPr/>
          <p:nvPr/>
        </p:nvSpPr>
        <p:spPr>
          <a:xfrm>
            <a:off x="3461004" y="6125537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Short-form videos that engage &amp; convert.</a:t>
            </a:r>
            <a:endParaRPr lang="en-US" sz="1300" dirty="0"/>
          </a:p>
        </p:txBody>
      </p:sp>
      <p:sp>
        <p:nvSpPr>
          <p:cNvPr id="60" name="Shape 48"/>
          <p:cNvSpPr/>
          <p:nvPr/>
        </p:nvSpPr>
        <p:spPr>
          <a:xfrm>
            <a:off x="6163056" y="5605744"/>
            <a:ext cx="2692908" cy="987552"/>
          </a:xfrm>
          <a:prstGeom prst="roundRect">
            <a:avLst>
              <a:gd name="adj" fmla="val 6481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6291072" y="567719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5CAEDD"/>
          </a:solidFill>
          <a:ln/>
        </p:spPr>
      </p:sp>
      <p:pic>
        <p:nvPicPr>
          <p:cNvPr id="62" name="Image 10" descr="/home/claude/99acres_deck2/icons99b/headset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4224" y="5750350"/>
            <a:ext cx="219456" cy="219456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766560" y="5640622"/>
            <a:ext cx="1997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AI Telecalling</a:t>
            </a:r>
            <a:endParaRPr lang="en-US" sz="1600" dirty="0"/>
          </a:p>
        </p:txBody>
      </p:sp>
      <p:sp>
        <p:nvSpPr>
          <p:cNvPr id="64" name="Text 51"/>
          <p:cNvSpPr/>
          <p:nvPr/>
        </p:nvSpPr>
        <p:spPr>
          <a:xfrm>
            <a:off x="6291072" y="6125537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Automates conversations, drives conversions.</a:t>
            </a:r>
            <a:endParaRPr lang="en-US" sz="1300" dirty="0"/>
          </a:p>
        </p:txBody>
      </p:sp>
      <p:sp>
        <p:nvSpPr>
          <p:cNvPr id="65" name="Shape 52"/>
          <p:cNvSpPr/>
          <p:nvPr/>
        </p:nvSpPr>
        <p:spPr>
          <a:xfrm>
            <a:off x="8993124" y="5605744"/>
            <a:ext cx="2692908" cy="987552"/>
          </a:xfrm>
          <a:prstGeom prst="roundRect">
            <a:avLst>
              <a:gd name="adj" fmla="val 6481"/>
            </a:avLst>
          </a:prstGeom>
          <a:solidFill>
            <a:srgbClr val="F5FAFE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9121140" y="567719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981C3"/>
          </a:solidFill>
          <a:ln/>
        </p:spPr>
      </p:sp>
      <p:pic>
        <p:nvPicPr>
          <p:cNvPr id="67" name="Image 11" descr="/home/claude/99acres_deck2/icons99b/maplocation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4292" y="5750350"/>
            <a:ext cx="219456" cy="219456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9596628" y="5640622"/>
            <a:ext cx="1997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Immersive Search</a:t>
            </a:r>
            <a:endParaRPr lang="en-US" sz="1600" dirty="0"/>
          </a:p>
        </p:txBody>
      </p:sp>
      <p:sp>
        <p:nvSpPr>
          <p:cNvPr id="69" name="Text 55"/>
          <p:cNvSpPr/>
          <p:nvPr/>
        </p:nvSpPr>
        <p:spPr>
          <a:xfrm>
            <a:off x="9121140" y="6125537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Builder-themed tiles, richer browsing.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1981C3"/>
                </a:solidFill>
                <a:ea typeface="Calibri" pitchFamily="34" charset="-122"/>
                <a:cs typeface="Calibri" pitchFamily="34" charset="-120"/>
              </a:rPr>
              <a:t>99ACRES.COM  •  CORPORATE SALES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44"/>
                </a:solidFill>
                <a:ea typeface="Cambria" pitchFamily="34" charset="-122"/>
                <a:cs typeface="Cambria" pitchFamily="34" charset="-120"/>
              </a:rPr>
              <a:t>Sr. Executive — Corporate Sales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04515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ROLE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51987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B2B Solutions Sales. Partner with builders, brokers &amp; developers to deliver visibility and growth solutions for 99acres.com.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WHAT YOU’LL 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19" y="3035808"/>
            <a:ext cx="377935" cy="338328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8" name="Image 0" descr="/home/claude/99acres_deck2/icons99b/magnifi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27248"/>
            <a:ext cx="188968" cy="188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" y="3035808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Identify &amp; acquire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new clients in your territory through structured prospecting and outreach.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19" y="3529584"/>
            <a:ext cx="377935" cy="338328"/>
          </a:xfrm>
          <a:prstGeom prst="ellipse">
            <a:avLst/>
          </a:prstGeom>
          <a:solidFill>
            <a:srgbClr val="0F5C94"/>
          </a:solidFill>
          <a:ln/>
        </p:spPr>
      </p:sp>
      <p:pic>
        <p:nvPicPr>
          <p:cNvPr id="11" name="Image 1" descr="/home/claude/99acres_deck2/icons99b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21024"/>
            <a:ext cx="188968" cy="188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6696" y="3529584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Understand needs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and recommend tailored 99acres advertising, branding and visibility solutions.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19" y="4023360"/>
            <a:ext cx="377935" cy="338328"/>
          </a:xfrm>
          <a:prstGeom prst="ellipse">
            <a:avLst/>
          </a:prstGeom>
          <a:solidFill>
            <a:srgbClr val="5CAEDD"/>
          </a:solidFill>
          <a:ln/>
        </p:spPr>
      </p:sp>
      <p:pic>
        <p:nvPicPr>
          <p:cNvPr id="14" name="Image 2" descr="/home/claude/99acres_deck2/icons99b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14800"/>
            <a:ext cx="188968" cy="1889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6696" y="4023360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Pitch &amp; propose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— create proposals and deliver client presentations that show clear value.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19" y="4517136"/>
            <a:ext cx="377935" cy="338328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17" name="Image 3" descr="/home/claude/99acres_deck2/icons99b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608576"/>
            <a:ext cx="188968" cy="1889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6696" y="4517136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Manage the full sales cycle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— ensure delivery and drive renewals with delivery teams.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02919" y="5010912"/>
            <a:ext cx="377935" cy="338328"/>
          </a:xfrm>
          <a:prstGeom prst="ellipse">
            <a:avLst/>
          </a:prstGeom>
          <a:solidFill>
            <a:srgbClr val="0F5C94"/>
          </a:solidFill>
          <a:ln/>
        </p:spPr>
      </p:sp>
      <p:pic>
        <p:nvPicPr>
          <p:cNvPr id="20" name="Image 4" descr="/home/claude/99acres_deck2/icons99b/bulls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102352"/>
            <a:ext cx="188968" cy="1889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696" y="5010912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Own your targets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end-to-end with professionalism and process discipline.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02920" y="5504688"/>
            <a:ext cx="365760" cy="365760"/>
          </a:xfrm>
          <a:prstGeom prst="ellipse">
            <a:avLst/>
          </a:prstGeom>
          <a:solidFill>
            <a:srgbClr val="5CAEDD"/>
          </a:solidFill>
          <a:ln/>
        </p:spPr>
      </p:sp>
      <p:pic>
        <p:nvPicPr>
          <p:cNvPr id="23" name="Image 5" descr="/home/claude/99acres_deck2/icons99b/peoplegrou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596128"/>
            <a:ext cx="188968" cy="1889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96696" y="5504688"/>
            <a:ext cx="6812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Build relationships</a:t>
            </a: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 &amp; gather market feedback to improve the product.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909560" y="1645920"/>
            <a:ext cx="3776472" cy="4343400"/>
          </a:xfrm>
          <a:prstGeom prst="roundRect">
            <a:avLst>
              <a:gd name="adj" fmla="val 2179"/>
            </a:avLst>
          </a:prstGeom>
          <a:solidFill>
            <a:srgbClr val="E8F2FA"/>
          </a:solidFill>
          <a:ln w="12700">
            <a:solidFill>
              <a:srgbClr val="D3E6F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165592" y="1901952"/>
            <a:ext cx="457200" cy="45720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27" name="Image 6" descr="/home/claude/99acres_deck2/icons99b/sta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2011680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741664" y="197967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Why Join Us</a:t>
            </a:r>
            <a:endParaRPr lang="en-US" sz="2000" dirty="0"/>
          </a:p>
        </p:txBody>
      </p:sp>
      <p:sp>
        <p:nvSpPr>
          <p:cNvPr id="29" name="Shape 20"/>
          <p:cNvSpPr/>
          <p:nvPr/>
        </p:nvSpPr>
        <p:spPr>
          <a:xfrm>
            <a:off x="8165592" y="2650437"/>
            <a:ext cx="402336" cy="402336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30" name="Image 7" descr="/home/claude/99acres_deck2/icons99b/peoplegrou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2751021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86800" y="2623005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B2B Sales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8165592" y="3089349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Work with India’s vibrant corporate &amp; startup environment.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8165592" y="3827378"/>
            <a:ext cx="402336" cy="402336"/>
          </a:xfrm>
          <a:prstGeom prst="ellipse">
            <a:avLst/>
          </a:prstGeom>
          <a:solidFill>
            <a:srgbClr val="0F5C94"/>
          </a:solidFill>
          <a:ln/>
        </p:spPr>
      </p:sp>
      <p:pic>
        <p:nvPicPr>
          <p:cNvPr id="34" name="Image 8" descr="/home/claude/99acres_deck2/icons99b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927962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686800" y="3799946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Solution Selling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8165592" y="426629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Craft consultative, high-impact proposals.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8165592" y="4891195"/>
            <a:ext cx="402336" cy="402336"/>
          </a:xfrm>
          <a:prstGeom prst="ellipse">
            <a:avLst/>
          </a:prstGeom>
          <a:solidFill>
            <a:srgbClr val="5CAEDD"/>
          </a:solidFill>
          <a:ln/>
        </p:spPr>
      </p:sp>
      <p:pic>
        <p:nvPicPr>
          <p:cNvPr id="38" name="Image 9" descr="/home/claude/99acres_deck2/icons99b/trendu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6176" y="4991779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686800" y="4882617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ea typeface="Calibri" pitchFamily="34" charset="-122"/>
                <a:cs typeface="Calibri" pitchFamily="34" charset="-120"/>
              </a:rPr>
              <a:t>High Growth</a:t>
            </a:r>
            <a:endParaRPr lang="en-US" sz="1600" dirty="0"/>
          </a:p>
        </p:txBody>
      </p:sp>
      <p:sp>
        <p:nvSpPr>
          <p:cNvPr id="40" name="Text 28"/>
          <p:cNvSpPr/>
          <p:nvPr/>
        </p:nvSpPr>
        <p:spPr>
          <a:xfrm>
            <a:off x="8165592" y="5330107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4B5565"/>
                </a:solidFill>
                <a:ea typeface="Calibri" pitchFamily="34" charset="-122"/>
                <a:cs typeface="Calibri" pitchFamily="34" charset="-120"/>
              </a:rPr>
              <a:t>Dynamic, rewarding career path with real earning potential.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502920" y="6035040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1981C3"/>
          </a:solidFill>
          <a:ln/>
        </p:spPr>
      </p:sp>
      <p:sp>
        <p:nvSpPr>
          <p:cNvPr id="42" name="Text 30"/>
          <p:cNvSpPr/>
          <p:nvPr/>
        </p:nvSpPr>
        <p:spPr>
          <a:xfrm>
            <a:off x="685800" y="60807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Fast-paced. Client-facing. High-growth.</a:t>
            </a:r>
            <a:endParaRPr lang="en-US" sz="2100" dirty="0"/>
          </a:p>
        </p:txBody>
      </p:sp>
      <p:sp>
        <p:nvSpPr>
          <p:cNvPr id="43" name="Text 31"/>
          <p:cNvSpPr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Your work will directly influence how India searches for property!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5C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99acres_deck2/icons99b/circ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00" y="829086"/>
            <a:ext cx="768096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50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CF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you waiting for…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272764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Now!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4449928" y="4110086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1981C3"/>
          </a:solidFill>
          <a:ln/>
        </p:spPr>
      </p:sp>
      <p:sp>
        <p:nvSpPr>
          <p:cNvPr id="6" name="Text 3"/>
          <p:cNvSpPr/>
          <p:nvPr/>
        </p:nvSpPr>
        <p:spPr>
          <a:xfrm>
            <a:off x="4449928" y="411008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APPLICATION TODAY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031340" y="5141849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287372" y="5301869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9" name="Image 1" descr="/home/claude/99acres_deck2/icons99b/locationd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812" y="5393309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1148" y="5141849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198468" y="5141849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728820" y="5215001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13" name="Image 2" descr="/home/claude/99acres_deck2/icons99b/moneybi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260" y="5306441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2596" y="5215001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₹6.75 LPA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89908" y="5562473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5.1 </a:t>
            </a:r>
            <a:r>
              <a:rPr lang="en-US" sz="14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1.65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731356" y="5141849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7261708" y="5301869"/>
            <a:ext cx="365760" cy="365760"/>
          </a:xfrm>
          <a:prstGeom prst="ellipse">
            <a:avLst/>
          </a:prstGeom>
          <a:solidFill>
            <a:srgbClr val="1981C3"/>
          </a:solidFill>
          <a:ln/>
        </p:spPr>
      </p:sp>
      <p:pic>
        <p:nvPicPr>
          <p:cNvPr id="18" name="Image 3" descr="/home/claude/99acres_deck2/icons99b/gradc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148" y="5393309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55484" y="5141849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(Marketing Preferred)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25845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conveyance expenses are paid on actuals.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559</Words>
  <Application>Microsoft Office PowerPoint</Application>
  <PresentationFormat>Widescreen</PresentationFormat>
  <Paragraphs>105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Divya Vats</cp:lastModifiedBy>
  <cp:revision>15</cp:revision>
  <dcterms:created xsi:type="dcterms:W3CDTF">2026-08-22T05:57:25Z</dcterms:created>
  <dcterms:modified xsi:type="dcterms:W3CDTF">2026-09-16T10:22:54Z</dcterms:modified>
</cp:coreProperties>
</file>