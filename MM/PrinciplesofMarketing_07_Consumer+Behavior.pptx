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embeddedFontLst>
    <p:embeddedFont>
      <p:font typeface="Tahoma"/>
      <p:regular r:id="rId30"/>
      <p:bold r:id="rId31"/>
    </p:embeddedFont>
    <p:embeddedFont>
      <p:font typeface="Gill Sans"/>
      <p:regular r:id="rId32"/>
      <p:bold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8" roundtripDataSignature="AMtx7mjpja09aLnfCHx7vn38BgzhL8w5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Tahoma-bold.fntdata"/><Relationship Id="rId30" Type="http://schemas.openxmlformats.org/officeDocument/2006/relationships/font" Target="fonts/Tahoma-regular.fntdata"/><Relationship Id="rId11" Type="http://schemas.openxmlformats.org/officeDocument/2006/relationships/slide" Target="slides/slide6.xml"/><Relationship Id="rId33" Type="http://schemas.openxmlformats.org/officeDocument/2006/relationships/font" Target="fonts/GillSans-bold.fntdata"/><Relationship Id="rId10" Type="http://schemas.openxmlformats.org/officeDocument/2006/relationships/slide" Target="slides/slide5.xml"/><Relationship Id="rId32" Type="http://schemas.openxmlformats.org/officeDocument/2006/relationships/font" Target="fonts/GillSans-regular.fntdata"/><Relationship Id="rId13" Type="http://schemas.openxmlformats.org/officeDocument/2006/relationships/slide" Target="slides/slide8.xml"/><Relationship Id="rId35" Type="http://schemas.openxmlformats.org/officeDocument/2006/relationships/font" Target="fonts/CenturyGothic-bold.fntdata"/><Relationship Id="rId12" Type="http://schemas.openxmlformats.org/officeDocument/2006/relationships/slide" Target="slides/slide7.xml"/><Relationship Id="rId34" Type="http://schemas.openxmlformats.org/officeDocument/2006/relationships/font" Target="fonts/CenturyGothic-regular.fntdata"/><Relationship Id="rId15" Type="http://schemas.openxmlformats.org/officeDocument/2006/relationships/slide" Target="slides/slide10.xml"/><Relationship Id="rId37" Type="http://schemas.openxmlformats.org/officeDocument/2006/relationships/font" Target="fonts/CenturyGothic-boldItalic.fntdata"/><Relationship Id="rId14" Type="http://schemas.openxmlformats.org/officeDocument/2006/relationships/slide" Target="slides/slide9.xml"/><Relationship Id="rId36" Type="http://schemas.openxmlformats.org/officeDocument/2006/relationships/font" Target="fonts/CenturyGothic-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indent="-228600" lvl="1" marL="9144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2pPr>
            <a:lvl3pPr indent="-228600" lvl="2" marL="13716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3pPr>
            <a:lvl4pPr indent="-228600" lvl="3" marL="18288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4pPr>
            <a:lvl5pPr indent="-228600" lvl="4" marL="228600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200" u="none" cap="none" strike="noStrike">
              <a:solidFill>
                <a:srgbClr val="000000"/>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urses.lumenlearning.com/wmopen-principlesofmarketing/" TargetMode="External"/><Relationship Id="rId3" Type="http://schemas.openxmlformats.org/officeDocument/2006/relationships/hyperlink" Target="https://unsplash.com/photos/_3Q3tsJ01nc" TargetMode="External"/><Relationship Id="rId4" Type="http://schemas.openxmlformats.org/officeDocument/2006/relationships/hyperlink" Target="https://creativecommons.org/about/cc0"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lickr.com/photos/colorblindpicaso/2676714959/" TargetMode="External"/><Relationship Id="rId3" Type="http://schemas.openxmlformats.org/officeDocument/2006/relationships/hyperlink" Target="https://creativecommons.org/licenses/by-nc/4.0/"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lickr.com/photos/scottlumley/10692510614/" TargetMode="External"/><Relationship Id="rId3" Type="http://schemas.openxmlformats.org/officeDocument/2006/relationships/hyperlink" Target="https://creativecommons.org/licenses/by/4.0/"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reativecommons.org/licenses/by/4.0/"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pixabay.com/photos/entrepreneur-startup-start-up-man-593358/" TargetMode="External"/><Relationship Id="rId3" Type="http://schemas.openxmlformats.org/officeDocument/2006/relationships/hyperlink" Target="https://creativecommons.org/about/cc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u="none" strike="noStrike">
                <a:solidFill>
                  <a:schemeClr val="dk1"/>
                </a:solidFill>
                <a:latin typeface="Gill Sans"/>
                <a:ea typeface="Gill Sans"/>
                <a:cs typeface="Gill Sans"/>
                <a:sym typeface="Gill Sans"/>
              </a:rPr>
              <a:t>All text in these slides is taken from  </a:t>
            </a:r>
            <a:r>
              <a:rPr lang="en-US" u="sng">
                <a:solidFill>
                  <a:schemeClr val="hlink"/>
                </a:solidFill>
                <a:hlinkClick r:id="rId2"/>
              </a:rPr>
              <a:t>https://courses.lumenlearning.com/wmopen-principlesofmarketing/</a:t>
            </a:r>
            <a:r>
              <a:rPr b="0" i="0" lang="en-US" sz="1200" u="none" strike="noStrike">
                <a:solidFill>
                  <a:schemeClr val="dk1"/>
                </a:solidFill>
                <a:latin typeface="Gill Sans"/>
                <a:ea typeface="Gill Sans"/>
                <a:cs typeface="Gill Sans"/>
                <a:sym typeface="Gill Sans"/>
              </a:rPr>
              <a:t>, where it is published under one or more open licenses.</a:t>
            </a:r>
            <a:endParaRPr b="0">
              <a:latin typeface="Gill Sans"/>
              <a:ea typeface="Gill Sans"/>
              <a:cs typeface="Gill Sans"/>
              <a:sym typeface="Gill Sans"/>
            </a:endParaRPr>
          </a:p>
          <a:p>
            <a:pPr indent="0" lvl="0" marL="0" rtl="0" algn="l">
              <a:spcBef>
                <a:spcPts val="0"/>
              </a:spcBef>
              <a:spcAft>
                <a:spcPts val="0"/>
              </a:spcAft>
              <a:buNone/>
            </a:pPr>
            <a:r>
              <a:rPr b="0" i="0" lang="en-US" sz="1200" u="none" strike="noStrike">
                <a:solidFill>
                  <a:schemeClr val="dk1"/>
                </a:solidFill>
                <a:latin typeface="Gill Sans"/>
                <a:ea typeface="Gill Sans"/>
                <a:cs typeface="Gill Sans"/>
                <a:sym typeface="Gill Sans"/>
              </a:rPr>
              <a:t>All images in these slides are attributed in the notes of the slide on which they appear and licensed as indicated.</a:t>
            </a:r>
            <a:endParaRPr/>
          </a:p>
          <a:p>
            <a:pPr indent="0" lvl="0" marL="0" rtl="0" algn="l">
              <a:spcBef>
                <a:spcPts val="0"/>
              </a:spcBef>
              <a:spcAft>
                <a:spcPts val="0"/>
              </a:spcAft>
              <a:buNone/>
            </a:pPr>
            <a:r>
              <a:t/>
            </a:r>
            <a:endParaRPr b="0" i="0" sz="1200" u="none" strike="noStrike">
              <a:solidFill>
                <a:schemeClr val="dk1"/>
              </a:solidFill>
              <a:latin typeface="Gill Sans"/>
              <a:ea typeface="Gill Sans"/>
              <a:cs typeface="Gill Sans"/>
              <a:sym typeface="Gill Sans"/>
            </a:endParaRPr>
          </a:p>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Cover Image: "Shopping freak." Provided by: freestocks.org. Located at: </a:t>
            </a:r>
            <a:r>
              <a:rPr b="0" i="0" lang="en-US" sz="1200" u="sng">
                <a:solidFill>
                  <a:schemeClr val="dk1"/>
                </a:solidFill>
                <a:latin typeface="Tahoma"/>
                <a:ea typeface="Tahoma"/>
                <a:cs typeface="Tahoma"/>
                <a:sym typeface="Tahoma"/>
                <a:hlinkClick r:id="rId3">
                  <a:extLst>
                    <a:ext uri="{A12FA001-AC4F-418D-AE19-62706E023703}">
                      <ahyp:hlinkClr val="tx"/>
                    </a:ext>
                  </a:extLst>
                </a:hlinkClick>
              </a:rPr>
              <a:t>https://unsplash.com/photos/_3Q3tsJ01nc</a:t>
            </a:r>
            <a:r>
              <a:rPr b="0" i="0" lang="en-US" sz="1200">
                <a:solidFill>
                  <a:schemeClr val="dk1"/>
                </a:solidFill>
                <a:latin typeface="Tahoma"/>
                <a:ea typeface="Tahoma"/>
                <a:cs typeface="Tahoma"/>
                <a:sym typeface="Tahoma"/>
              </a:rPr>
              <a:t>. Content Type: CC Licensed Content, Shared Previously. License: </a:t>
            </a:r>
            <a:r>
              <a:rPr b="0" i="0" lang="en-US" sz="1200" u="sng">
                <a:solidFill>
                  <a:schemeClr val="dk1"/>
                </a:solidFill>
                <a:latin typeface="Tahoma"/>
                <a:ea typeface="Tahoma"/>
                <a:cs typeface="Tahoma"/>
                <a:sym typeface="Tahoma"/>
                <a:hlinkClick r:id="rId4">
                  <a:extLst>
                    <a:ext uri="{A12FA001-AC4F-418D-AE19-62706E023703}">
                      <ahyp:hlinkClr val="tx"/>
                    </a:ext>
                  </a:extLst>
                </a:hlinkClick>
              </a:rPr>
              <a:t>CC0: No Rights Reserved</a:t>
            </a:r>
            <a:r>
              <a:rPr b="0" i="0" lang="en-US" sz="1200">
                <a:solidFill>
                  <a:schemeClr val="dk1"/>
                </a:solidFill>
                <a:latin typeface="Tahoma"/>
                <a:ea typeface="Tahoma"/>
                <a:cs typeface="Tahoma"/>
                <a:sym typeface="Tahoma"/>
              </a:rPr>
              <a:t>.</a:t>
            </a:r>
            <a:endParaRPr b="0">
              <a:latin typeface="Gill Sans"/>
              <a:ea typeface="Gill Sans"/>
              <a:cs typeface="Gill Sans"/>
              <a:sym typeface="Gill Sans"/>
            </a:endParaRPr>
          </a:p>
          <a:p>
            <a:pPr indent="0" lvl="0" marL="0" rtl="0" algn="l">
              <a:spcBef>
                <a:spcPts val="0"/>
              </a:spcBef>
              <a:spcAft>
                <a:spcPts val="0"/>
              </a:spcAft>
              <a:buNone/>
            </a:pPr>
            <a:r>
              <a:t/>
            </a:r>
            <a:endParaRPr/>
          </a:p>
        </p:txBody>
      </p:sp>
      <p:sp>
        <p:nvSpPr>
          <p:cNvPr id="56" name="Google Shape;5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p:txBody>
      </p:sp>
      <p:sp>
        <p:nvSpPr>
          <p:cNvPr id="63" name="Google Shape;6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76" name="Google Shape;7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Provided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a:p>
          <a:p>
            <a:pPr indent="0" lvl="0" marL="0" rtl="0" algn="l">
              <a:spcBef>
                <a:spcPts val="0"/>
              </a:spcBef>
              <a:spcAft>
                <a:spcPts val="0"/>
              </a:spcAft>
              <a:buNone/>
            </a:pPr>
            <a:r>
              <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Dog Food Selection.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Christopher. </a:t>
            </a:r>
            <a:r>
              <a:rPr b="1" i="0" lang="en-US" sz="1200">
                <a:solidFill>
                  <a:schemeClr val="dk1"/>
                </a:solidFill>
                <a:latin typeface="Tahoma"/>
                <a:ea typeface="Tahoma"/>
                <a:cs typeface="Tahoma"/>
                <a:sym typeface="Tahoma"/>
              </a:rPr>
              <a:t>Located at</a:t>
            </a:r>
            <a:r>
              <a:rPr b="0" i="0" lang="en-US" sz="1200">
                <a:solidFill>
                  <a:schemeClr val="dk1"/>
                </a:solidFill>
                <a:latin typeface="Tahoma"/>
                <a:ea typeface="Tahoma"/>
                <a:cs typeface="Tahoma"/>
                <a:sym typeface="Tahoma"/>
              </a:rPr>
              <a:t>: </a:t>
            </a:r>
            <a:r>
              <a:rPr b="1" i="0" lang="en-US" sz="1200" u="sng">
                <a:solidFill>
                  <a:schemeClr val="dk1"/>
                </a:solidFill>
                <a:latin typeface="Tahoma"/>
                <a:ea typeface="Tahoma"/>
                <a:cs typeface="Tahoma"/>
                <a:sym typeface="Tahoma"/>
                <a:hlinkClick r:id="rId2">
                  <a:extLst>
                    <a:ext uri="{A12FA001-AC4F-418D-AE19-62706E023703}">
                      <ahyp:hlinkClr val="tx"/>
                    </a:ext>
                  </a:extLst>
                </a:hlinkClick>
              </a:rPr>
              <a:t>https://www.flickr.com/photos/colorblindpicaso/2676714959/</a:t>
            </a:r>
            <a:r>
              <a:rPr b="0" i="0" lang="en-US" sz="1200">
                <a:solidFill>
                  <a:schemeClr val="dk1"/>
                </a:solidFill>
                <a:latin typeface="Tahoma"/>
                <a:ea typeface="Tahoma"/>
                <a:cs typeface="Tahoma"/>
                <a:sym typeface="Tahoma"/>
              </a:rPr>
              <a:t>.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3">
                  <a:extLst>
                    <a:ext uri="{A12FA001-AC4F-418D-AE19-62706E023703}">
                      <ahyp:hlinkClr val="tx"/>
                    </a:ext>
                  </a:extLst>
                </a:hlinkClick>
              </a:rPr>
              <a:t>CC BY-NC: Attribution-NonCommercial</a:t>
            </a:r>
            <a:endParaRPr b="0" i="0" sz="12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141" name="Google Shape;14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a:p>
          <a:p>
            <a:pPr indent="0" lvl="0" marL="0" rtl="0" algn="l">
              <a:spcBef>
                <a:spcPts val="0"/>
              </a:spcBef>
              <a:spcAft>
                <a:spcPts val="0"/>
              </a:spcAft>
              <a:buNone/>
            </a:pPr>
            <a:r>
              <a:t/>
            </a:r>
            <a:endParaRPr/>
          </a:p>
        </p:txBody>
      </p:sp>
      <p:sp>
        <p:nvSpPr>
          <p:cNvPr id="149" name="Google Shape;14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Provided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p:txBody>
      </p:sp>
      <p:sp>
        <p:nvSpPr>
          <p:cNvPr id="156" name="Google Shape;1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Provided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163" name="Google Shape;16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170" name="Google Shape;17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Tahoma"/>
                <a:ea typeface="Tahoma"/>
                <a:cs typeface="Tahoma"/>
                <a:sym typeface="Tahoma"/>
              </a:rPr>
              <a:t>Jeff Phillips SK8 Party.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Scott Lumley. </a:t>
            </a:r>
            <a:r>
              <a:rPr b="1" i="0" lang="en-US" sz="1200">
                <a:solidFill>
                  <a:schemeClr val="dk1"/>
                </a:solidFill>
                <a:latin typeface="Tahoma"/>
                <a:ea typeface="Tahoma"/>
                <a:cs typeface="Tahoma"/>
                <a:sym typeface="Tahoma"/>
              </a:rPr>
              <a:t>Located at</a:t>
            </a:r>
            <a:r>
              <a:rPr b="0" i="0" lang="en-US" sz="1200">
                <a:solidFill>
                  <a:schemeClr val="dk1"/>
                </a:solidFill>
                <a:latin typeface="Tahoma"/>
                <a:ea typeface="Tahoma"/>
                <a:cs typeface="Tahoma"/>
                <a:sym typeface="Tahoma"/>
              </a:rPr>
              <a:t>: </a:t>
            </a:r>
            <a:r>
              <a:rPr b="1" i="0" lang="en-US" sz="1200" u="sng">
                <a:solidFill>
                  <a:schemeClr val="dk1"/>
                </a:solidFill>
                <a:latin typeface="Tahoma"/>
                <a:ea typeface="Tahoma"/>
                <a:cs typeface="Tahoma"/>
                <a:sym typeface="Tahoma"/>
                <a:hlinkClick r:id="rId2">
                  <a:extLst>
                    <a:ext uri="{A12FA001-AC4F-418D-AE19-62706E023703}">
                      <ahyp:hlinkClr val="tx"/>
                    </a:ext>
                  </a:extLst>
                </a:hlinkClick>
              </a:rPr>
              <a:t>https://www.flickr.com/photos/scottlumley/10692510614/</a:t>
            </a:r>
            <a:r>
              <a:rPr b="0" i="0" lang="en-US" sz="1200">
                <a:solidFill>
                  <a:schemeClr val="dk1"/>
                </a:solidFill>
                <a:latin typeface="Tahoma"/>
                <a:ea typeface="Tahoma"/>
                <a:cs typeface="Tahoma"/>
                <a:sym typeface="Tahoma"/>
              </a:rPr>
              <a:t>.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3">
                  <a:extLst>
                    <a:ext uri="{A12FA001-AC4F-418D-AE19-62706E023703}">
                      <ahyp:hlinkClr val="tx"/>
                    </a:ext>
                  </a:extLst>
                </a:hlinkClick>
              </a:rPr>
              <a:t>CC BY: Attribution</a:t>
            </a:r>
            <a:endParaRPr/>
          </a:p>
        </p:txBody>
      </p:sp>
      <p:sp>
        <p:nvSpPr>
          <p:cNvPr id="177" name="Google Shape;17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Revision and Adaptation .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Lumen Learning.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2">
                  <a:extLst>
                    <a:ext uri="{A12FA001-AC4F-418D-AE19-62706E023703}">
                      <ahyp:hlinkClr val="tx"/>
                    </a:ext>
                  </a:extLst>
                </a:hlinkClick>
              </a:rPr>
              <a:t>CC BY: Attribution</a:t>
            </a:r>
            <a:endParaRPr b="0" i="0" sz="1200">
              <a:solidFill>
                <a:schemeClr val="dk1"/>
              </a:solidFill>
              <a:latin typeface="Tahoma"/>
              <a:ea typeface="Tahoma"/>
              <a:cs typeface="Tahoma"/>
              <a:sym typeface="Tahoma"/>
            </a:endParaRPr>
          </a:p>
          <a:p>
            <a:pPr indent="0" lvl="0" marL="0" rtl="0" algn="l">
              <a:spcBef>
                <a:spcPts val="0"/>
              </a:spcBef>
              <a:spcAft>
                <a:spcPts val="0"/>
              </a:spcAft>
              <a:buNone/>
            </a:pPr>
            <a:r>
              <a:t/>
            </a:r>
            <a:endParaRPr/>
          </a:p>
        </p:txBody>
      </p:sp>
      <p:sp>
        <p:nvSpPr>
          <p:cNvPr id="185" name="Google Shape;18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Tahoma"/>
              <a:buNone/>
            </a:pPr>
            <a:r>
              <a:rPr b="0" i="0" lang="en-US" sz="1200">
                <a:solidFill>
                  <a:schemeClr val="dk1"/>
                </a:solidFill>
                <a:latin typeface="Tahoma"/>
                <a:ea typeface="Tahoma"/>
                <a:cs typeface="Tahoma"/>
                <a:sym typeface="Tahoma"/>
              </a:rPr>
              <a:t>Untitled. </a:t>
            </a:r>
            <a:r>
              <a:rPr b="1" i="0" lang="en-US" sz="1200">
                <a:solidFill>
                  <a:schemeClr val="dk1"/>
                </a:solidFill>
                <a:latin typeface="Tahoma"/>
                <a:ea typeface="Tahoma"/>
                <a:cs typeface="Tahoma"/>
                <a:sym typeface="Tahoma"/>
              </a:rPr>
              <a:t>Authored by</a:t>
            </a:r>
            <a:r>
              <a:rPr b="0" i="0" lang="en-US" sz="1200">
                <a:solidFill>
                  <a:schemeClr val="dk1"/>
                </a:solidFill>
                <a:latin typeface="Tahoma"/>
                <a:ea typeface="Tahoma"/>
                <a:cs typeface="Tahoma"/>
                <a:sym typeface="Tahoma"/>
              </a:rPr>
              <a:t>: StartupStockPhotos. </a:t>
            </a:r>
            <a:r>
              <a:rPr b="1" i="0" lang="en-US" sz="1200">
                <a:solidFill>
                  <a:schemeClr val="dk1"/>
                </a:solidFill>
                <a:latin typeface="Tahoma"/>
                <a:ea typeface="Tahoma"/>
                <a:cs typeface="Tahoma"/>
                <a:sym typeface="Tahoma"/>
              </a:rPr>
              <a:t>Provided by</a:t>
            </a:r>
            <a:r>
              <a:rPr b="0" i="0" lang="en-US" sz="1200">
                <a:solidFill>
                  <a:schemeClr val="dk1"/>
                </a:solidFill>
                <a:latin typeface="Tahoma"/>
                <a:ea typeface="Tahoma"/>
                <a:cs typeface="Tahoma"/>
                <a:sym typeface="Tahoma"/>
              </a:rPr>
              <a:t>: Pixabay. </a:t>
            </a:r>
            <a:r>
              <a:rPr b="1" i="0" lang="en-US" sz="1200">
                <a:solidFill>
                  <a:schemeClr val="dk1"/>
                </a:solidFill>
                <a:latin typeface="Tahoma"/>
                <a:ea typeface="Tahoma"/>
                <a:cs typeface="Tahoma"/>
                <a:sym typeface="Tahoma"/>
              </a:rPr>
              <a:t>Located at</a:t>
            </a:r>
            <a:r>
              <a:rPr b="0" i="0" lang="en-US" sz="1200">
                <a:solidFill>
                  <a:schemeClr val="dk1"/>
                </a:solidFill>
                <a:latin typeface="Tahoma"/>
                <a:ea typeface="Tahoma"/>
                <a:cs typeface="Tahoma"/>
                <a:sym typeface="Tahoma"/>
              </a:rPr>
              <a:t>: </a:t>
            </a:r>
            <a:r>
              <a:rPr b="1" i="0" lang="en-US" sz="1200" u="sng">
                <a:solidFill>
                  <a:schemeClr val="dk1"/>
                </a:solidFill>
                <a:latin typeface="Tahoma"/>
                <a:ea typeface="Tahoma"/>
                <a:cs typeface="Tahoma"/>
                <a:sym typeface="Tahoma"/>
                <a:hlinkClick r:id="rId2">
                  <a:extLst>
                    <a:ext uri="{A12FA001-AC4F-418D-AE19-62706E023703}">
                      <ahyp:hlinkClr val="tx"/>
                    </a:ext>
                  </a:extLst>
                </a:hlinkClick>
              </a:rPr>
              <a:t>https://pixabay.com/photos/entrepreneur-startup-start-up-man-593358/</a:t>
            </a:r>
            <a:r>
              <a:rPr b="0" i="0" lang="en-US" sz="1200">
                <a:solidFill>
                  <a:schemeClr val="dk1"/>
                </a:solidFill>
                <a:latin typeface="Tahoma"/>
                <a:ea typeface="Tahoma"/>
                <a:cs typeface="Tahoma"/>
                <a:sym typeface="Tahoma"/>
              </a:rPr>
              <a:t>. </a:t>
            </a:r>
            <a:r>
              <a:rPr b="1" i="0" lang="en-US" sz="1200">
                <a:solidFill>
                  <a:schemeClr val="dk1"/>
                </a:solidFill>
                <a:latin typeface="Tahoma"/>
                <a:ea typeface="Tahoma"/>
                <a:cs typeface="Tahoma"/>
                <a:sym typeface="Tahoma"/>
              </a:rPr>
              <a:t>License</a:t>
            </a:r>
            <a:r>
              <a:rPr b="0" i="0" lang="en-US" sz="1200">
                <a:solidFill>
                  <a:schemeClr val="dk1"/>
                </a:solidFill>
                <a:latin typeface="Tahoma"/>
                <a:ea typeface="Tahoma"/>
                <a:cs typeface="Tahoma"/>
                <a:sym typeface="Tahoma"/>
              </a:rPr>
              <a:t>: </a:t>
            </a:r>
            <a:r>
              <a:rPr b="1" i="1" lang="en-US" sz="1200" u="sng">
                <a:solidFill>
                  <a:schemeClr val="dk1"/>
                </a:solidFill>
                <a:latin typeface="Tahoma"/>
                <a:ea typeface="Tahoma"/>
                <a:cs typeface="Tahoma"/>
                <a:sym typeface="Tahoma"/>
                <a:hlinkClick r:id="rId3">
                  <a:extLst>
                    <a:ext uri="{A12FA001-AC4F-418D-AE19-62706E023703}">
                      <ahyp:hlinkClr val="tx"/>
                    </a:ext>
                  </a:extLst>
                </a:hlinkClick>
              </a:rPr>
              <a:t>CC0: No Rights Reserved</a:t>
            </a:r>
            <a:r>
              <a:rPr b="0" i="0" lang="en-US" sz="1200">
                <a:solidFill>
                  <a:schemeClr val="dk1"/>
                </a:solidFill>
                <a:latin typeface="Tahoma"/>
                <a:ea typeface="Tahoma"/>
                <a:cs typeface="Tahoma"/>
                <a:sym typeface="Tahoma"/>
              </a:rPr>
              <a:t>. </a:t>
            </a:r>
            <a:r>
              <a:rPr b="1" i="0" lang="en-US" sz="1200">
                <a:solidFill>
                  <a:schemeClr val="dk1"/>
                </a:solidFill>
                <a:latin typeface="Tahoma"/>
                <a:ea typeface="Tahoma"/>
                <a:cs typeface="Tahoma"/>
                <a:sym typeface="Tahoma"/>
              </a:rPr>
              <a:t>License Terms</a:t>
            </a:r>
            <a:r>
              <a:rPr b="0" i="0" lang="en-US" sz="1200">
                <a:solidFill>
                  <a:schemeClr val="dk1"/>
                </a:solidFill>
                <a:latin typeface="Tahoma"/>
                <a:ea typeface="Tahoma"/>
                <a:cs typeface="Tahoma"/>
                <a:sym typeface="Tahoma"/>
              </a:rPr>
              <a:t>: Pixabay License</a:t>
            </a:r>
            <a:endParaRPr/>
          </a:p>
        </p:txBody>
      </p:sp>
      <p:sp>
        <p:nvSpPr>
          <p:cNvPr id="210" name="Google Shape;21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Buying a car is big and potentially risky decision. Customers will do more research and go through all the steps. A bag of rice is usually a fairly routine process. The photocopier is probably a B2B purchase and that process differs from the B2C process.</a:t>
            </a:r>
            <a:endParaRPr/>
          </a:p>
        </p:txBody>
      </p:sp>
      <p:sp>
        <p:nvSpPr>
          <p:cNvPr id="218" name="Google Shape;21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26"/>
          <p:cNvSpPr/>
          <p:nvPr/>
        </p:nvSpPr>
        <p:spPr>
          <a:xfrm>
            <a:off x="0" y="552196"/>
            <a:ext cx="12207240" cy="2688336"/>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
        <p:nvSpPr>
          <p:cNvPr id="15" name="Google Shape;15;p26"/>
          <p:cNvSpPr txBox="1"/>
          <p:nvPr>
            <p:ph type="ctrTitle"/>
          </p:nvPr>
        </p:nvSpPr>
        <p:spPr>
          <a:xfrm>
            <a:off x="1519519" y="0"/>
            <a:ext cx="9144000" cy="2387600"/>
          </a:xfrm>
          <a:prstGeom prst="rect">
            <a:avLst/>
          </a:prstGeom>
          <a:noFill/>
          <a:ln>
            <a:noFill/>
          </a:ln>
        </p:spPr>
        <p:txBody>
          <a:bodyPr anchorCtr="0" anchor="b" bIns="45700" lIns="91425" spcFirstLastPara="1" rIns="91425" wrap="square" tIns="45700">
            <a:noAutofit/>
          </a:bodyPr>
          <a:lstStyle>
            <a:lvl1pPr lvl="0" marR="0" algn="ctr">
              <a:lnSpc>
                <a:spcPct val="90000"/>
              </a:lnSpc>
              <a:spcBef>
                <a:spcPts val="0"/>
              </a:spcBef>
              <a:spcAft>
                <a:spcPts val="0"/>
              </a:spcAft>
              <a:buClr>
                <a:srgbClr val="F1F7FB"/>
              </a:buClr>
              <a:buSzPts val="5500"/>
              <a:buFont typeface="Century Gothic"/>
              <a:buNone/>
              <a:defRPr b="0" i="0" sz="4125" u="none" cap="none" strike="noStrike">
                <a:solidFill>
                  <a:srgbClr val="F1F7FB"/>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9pPr>
          </a:lstStyle>
          <a:p/>
        </p:txBody>
      </p:sp>
      <p:sp>
        <p:nvSpPr>
          <p:cNvPr id="16" name="Google Shape;16;p26"/>
          <p:cNvSpPr txBox="1"/>
          <p:nvPr>
            <p:ph idx="1" type="subTitle"/>
          </p:nvPr>
        </p:nvSpPr>
        <p:spPr>
          <a:xfrm>
            <a:off x="0" y="2661428"/>
            <a:ext cx="12192000" cy="1655762"/>
          </a:xfrm>
          <a:prstGeom prst="rect">
            <a:avLst/>
          </a:prstGeom>
          <a:noFill/>
          <a:ln>
            <a:noFill/>
          </a:ln>
        </p:spPr>
        <p:txBody>
          <a:bodyPr anchorCtr="0" anchor="t" bIns="45700" lIns="91425" spcFirstLastPara="1" rIns="91425" wrap="square" tIns="45700">
            <a:noAutofit/>
          </a:bodyPr>
          <a:lstStyle>
            <a:lvl1pPr lvl="0" marR="0" algn="ctr">
              <a:lnSpc>
                <a:spcPct val="90000"/>
              </a:lnSpc>
              <a:spcBef>
                <a:spcPts val="750"/>
              </a:spcBef>
              <a:spcAft>
                <a:spcPts val="0"/>
              </a:spcAft>
              <a:buClr>
                <a:srgbClr val="F1F7FB"/>
              </a:buClr>
              <a:buSzPts val="2400"/>
              <a:buFont typeface="Arial"/>
              <a:buNone/>
              <a:defRPr b="0" i="0" sz="1800" u="none" cap="none" strike="noStrike">
                <a:solidFill>
                  <a:srgbClr val="F1F7FB"/>
                </a:solidFill>
                <a:latin typeface="Century Gothic"/>
                <a:ea typeface="Century Gothic"/>
                <a:cs typeface="Century Gothic"/>
                <a:sym typeface="Century Gothic"/>
              </a:defRPr>
            </a:lvl1pPr>
            <a:lvl2pPr lvl="1" marR="0" algn="ctr">
              <a:lnSpc>
                <a:spcPct val="90000"/>
              </a:lnSpc>
              <a:spcBef>
                <a:spcPts val="375"/>
              </a:spcBef>
              <a:spcAft>
                <a:spcPts val="0"/>
              </a:spcAft>
              <a:buClr>
                <a:schemeClr val="dk1"/>
              </a:buClr>
              <a:buSzPts val="2000"/>
              <a:buFont typeface="Arial"/>
              <a:buNone/>
              <a:defRPr b="0" i="0" sz="1500" u="none" cap="none" strike="noStrike">
                <a:solidFill>
                  <a:schemeClr val="dk1"/>
                </a:solidFill>
                <a:latin typeface="Century Gothic"/>
                <a:ea typeface="Century Gothic"/>
                <a:cs typeface="Century Gothic"/>
                <a:sym typeface="Century Gothic"/>
              </a:defRPr>
            </a:lvl2pPr>
            <a:lvl3pPr lvl="2" marR="0" algn="ctr">
              <a:lnSpc>
                <a:spcPct val="90000"/>
              </a:lnSpc>
              <a:spcBef>
                <a:spcPts val="375"/>
              </a:spcBef>
              <a:spcAft>
                <a:spcPts val="0"/>
              </a:spcAft>
              <a:buClr>
                <a:schemeClr val="dk1"/>
              </a:buClr>
              <a:buSzPts val="1800"/>
              <a:buFont typeface="Arial"/>
              <a:buNone/>
              <a:defRPr b="0" i="0" sz="1350" u="none" cap="none" strike="noStrike">
                <a:solidFill>
                  <a:schemeClr val="dk1"/>
                </a:solidFill>
                <a:latin typeface="Century Gothic"/>
                <a:ea typeface="Century Gothic"/>
                <a:cs typeface="Century Gothic"/>
                <a:sym typeface="Century Gothic"/>
              </a:defRPr>
            </a:lvl3pPr>
            <a:lvl4pPr lvl="3"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4pPr>
            <a:lvl5pPr lvl="4"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5pPr>
            <a:lvl6pPr lvl="5"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6pPr>
            <a:lvl7pPr lvl="6"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7pPr>
            <a:lvl8pPr lvl="7"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8pPr>
            <a:lvl9pPr lvl="8" marR="0" algn="ctr">
              <a:lnSpc>
                <a:spcPct val="90000"/>
              </a:lnSpc>
              <a:spcBef>
                <a:spcPts val="375"/>
              </a:spcBef>
              <a:spcAft>
                <a:spcPts val="0"/>
              </a:spcAft>
              <a:buClr>
                <a:schemeClr val="dk1"/>
              </a:buClr>
              <a:buSzPts val="1600"/>
              <a:buFont typeface="Arial"/>
              <a:buNone/>
              <a:defRPr b="0" i="0" sz="1200" u="none" cap="none" strike="noStrike">
                <a:solidFill>
                  <a:schemeClr val="dk1"/>
                </a:solidFill>
                <a:latin typeface="Century Gothic"/>
                <a:ea typeface="Century Gothic"/>
                <a:cs typeface="Century Gothic"/>
                <a:sym typeface="Century Gothic"/>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7"/>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3300"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9pPr>
          </a:lstStyle>
          <a:p/>
        </p:txBody>
      </p:sp>
      <p:sp>
        <p:nvSpPr>
          <p:cNvPr id="19" name="Google Shape;1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9pPr>
          </a:lstStyle>
          <a:p/>
        </p:txBody>
      </p:sp>
      <p:sp>
        <p:nvSpPr>
          <p:cNvPr id="20" name="Google Shape;20;p27"/>
          <p:cNvSpPr txBox="1"/>
          <p:nvPr>
            <p:ph idx="12" type="sldNum"/>
          </p:nvPr>
        </p:nvSpPr>
        <p:spPr>
          <a:xfrm>
            <a:off x="838200" y="6356352"/>
            <a:ext cx="10515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7"/>
          <p:cNvSpPr/>
          <p:nvPr/>
        </p:nvSpPr>
        <p:spPr>
          <a:xfrm rot="5400000">
            <a:off x="-3183272" y="3127248"/>
            <a:ext cx="6912864" cy="585216"/>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28"/>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2475"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9pPr>
          </a:lstStyle>
          <a:p/>
        </p:txBody>
      </p:sp>
      <p:sp>
        <p:nvSpPr>
          <p:cNvPr id="24" name="Google Shape;24;p28"/>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563"/>
              </a:spcBef>
              <a:spcAft>
                <a:spcPts val="0"/>
              </a:spcAft>
              <a:buClr>
                <a:schemeClr val="dk1"/>
              </a:buClr>
              <a:buSzPts val="2400"/>
              <a:buFont typeface="Arial"/>
              <a:buNone/>
              <a:defRPr b="1" i="0" sz="1350" u="none" cap="none" strike="noStrike">
                <a:solidFill>
                  <a:schemeClr val="dk1"/>
                </a:solidFill>
                <a:latin typeface="Century Gothic"/>
                <a:ea typeface="Century Gothic"/>
                <a:cs typeface="Century Gothic"/>
                <a:sym typeface="Century Gothic"/>
              </a:defRPr>
            </a:lvl1pPr>
            <a:lvl2pPr indent="-228600" lvl="1" marL="914400" marR="0" algn="l">
              <a:lnSpc>
                <a:spcPct val="90000"/>
              </a:lnSpc>
              <a:spcBef>
                <a:spcPts val="281"/>
              </a:spcBef>
              <a:spcAft>
                <a:spcPts val="0"/>
              </a:spcAft>
              <a:buClr>
                <a:schemeClr val="dk1"/>
              </a:buClr>
              <a:buSzPts val="2000"/>
              <a:buFont typeface="Arial"/>
              <a:buNone/>
              <a:defRPr b="1" i="0" sz="1125" u="none" cap="none" strike="noStrike">
                <a:solidFill>
                  <a:schemeClr val="dk1"/>
                </a:solidFill>
                <a:latin typeface="Century Gothic"/>
                <a:ea typeface="Century Gothic"/>
                <a:cs typeface="Century Gothic"/>
                <a:sym typeface="Century Gothic"/>
              </a:defRPr>
            </a:lvl2pPr>
            <a:lvl3pPr indent="-228600" lvl="2" marL="1371600" marR="0" algn="l">
              <a:lnSpc>
                <a:spcPct val="90000"/>
              </a:lnSpc>
              <a:spcBef>
                <a:spcPts val="281"/>
              </a:spcBef>
              <a:spcAft>
                <a:spcPts val="0"/>
              </a:spcAft>
              <a:buClr>
                <a:schemeClr val="dk1"/>
              </a:buClr>
              <a:buSzPts val="1800"/>
              <a:buFont typeface="Arial"/>
              <a:buNone/>
              <a:defRPr b="1" i="0" sz="1013" u="none" cap="none" strike="noStrike">
                <a:solidFill>
                  <a:schemeClr val="dk1"/>
                </a:solidFill>
                <a:latin typeface="Century Gothic"/>
                <a:ea typeface="Century Gothic"/>
                <a:cs typeface="Century Gothic"/>
                <a:sym typeface="Century Gothic"/>
              </a:defRPr>
            </a:lvl3pPr>
            <a:lvl4pPr indent="-228600" lvl="3" marL="18288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4pPr>
            <a:lvl5pPr indent="-228600" lvl="4" marL="22860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5pPr>
            <a:lvl6pPr indent="-228600" lvl="5" marL="27432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6pPr>
            <a:lvl7pPr indent="-228600" lvl="6" marL="32004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7pPr>
            <a:lvl8pPr indent="-228600" lvl="7" marL="36576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8pPr>
            <a:lvl9pPr indent="-228600" lvl="8" marL="41148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9pPr>
          </a:lstStyle>
          <a:p/>
        </p:txBody>
      </p:sp>
      <p:sp>
        <p:nvSpPr>
          <p:cNvPr id="25" name="Google Shape;25;p28"/>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563"/>
              </a:spcBef>
              <a:spcAft>
                <a:spcPts val="0"/>
              </a:spcAft>
              <a:buClr>
                <a:schemeClr val="dk1"/>
              </a:buClr>
              <a:buSzPts val="2800"/>
              <a:buFont typeface="Arial"/>
              <a:buChar char="•"/>
              <a:defRPr b="0" i="0" sz="1575"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281"/>
              </a:spcBef>
              <a:spcAft>
                <a:spcPts val="0"/>
              </a:spcAft>
              <a:buClr>
                <a:schemeClr val="dk1"/>
              </a:buClr>
              <a:buSzPts val="2400"/>
              <a:buFont typeface="Arial"/>
              <a:buChar char="•"/>
              <a:defRPr b="0" i="0" sz="135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281"/>
              </a:spcBef>
              <a:spcAft>
                <a:spcPts val="0"/>
              </a:spcAft>
              <a:buClr>
                <a:schemeClr val="dk1"/>
              </a:buClr>
              <a:buSzPts val="2000"/>
              <a:buFont typeface="Arial"/>
              <a:buChar char="•"/>
              <a:defRPr b="0" i="0" sz="1125"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9pPr>
          </a:lstStyle>
          <a:p/>
        </p:txBody>
      </p:sp>
      <p:sp>
        <p:nvSpPr>
          <p:cNvPr id="26" name="Google Shape;26;p28"/>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algn="l">
              <a:lnSpc>
                <a:spcPct val="90000"/>
              </a:lnSpc>
              <a:spcBef>
                <a:spcPts val="563"/>
              </a:spcBef>
              <a:spcAft>
                <a:spcPts val="0"/>
              </a:spcAft>
              <a:buClr>
                <a:schemeClr val="dk1"/>
              </a:buClr>
              <a:buSzPts val="2400"/>
              <a:buFont typeface="Arial"/>
              <a:buNone/>
              <a:defRPr b="1" i="0" sz="1350" u="none" cap="none" strike="noStrike">
                <a:solidFill>
                  <a:schemeClr val="dk1"/>
                </a:solidFill>
                <a:latin typeface="Century Gothic"/>
                <a:ea typeface="Century Gothic"/>
                <a:cs typeface="Century Gothic"/>
                <a:sym typeface="Century Gothic"/>
              </a:defRPr>
            </a:lvl1pPr>
            <a:lvl2pPr indent="-228600" lvl="1" marL="914400" marR="0" algn="l">
              <a:lnSpc>
                <a:spcPct val="90000"/>
              </a:lnSpc>
              <a:spcBef>
                <a:spcPts val="281"/>
              </a:spcBef>
              <a:spcAft>
                <a:spcPts val="0"/>
              </a:spcAft>
              <a:buClr>
                <a:schemeClr val="dk1"/>
              </a:buClr>
              <a:buSzPts val="2000"/>
              <a:buFont typeface="Arial"/>
              <a:buNone/>
              <a:defRPr b="1" i="0" sz="1125" u="none" cap="none" strike="noStrike">
                <a:solidFill>
                  <a:schemeClr val="dk1"/>
                </a:solidFill>
                <a:latin typeface="Century Gothic"/>
                <a:ea typeface="Century Gothic"/>
                <a:cs typeface="Century Gothic"/>
                <a:sym typeface="Century Gothic"/>
              </a:defRPr>
            </a:lvl2pPr>
            <a:lvl3pPr indent="-228600" lvl="2" marL="1371600" marR="0" algn="l">
              <a:lnSpc>
                <a:spcPct val="90000"/>
              </a:lnSpc>
              <a:spcBef>
                <a:spcPts val="281"/>
              </a:spcBef>
              <a:spcAft>
                <a:spcPts val="0"/>
              </a:spcAft>
              <a:buClr>
                <a:schemeClr val="dk1"/>
              </a:buClr>
              <a:buSzPts val="1800"/>
              <a:buFont typeface="Arial"/>
              <a:buNone/>
              <a:defRPr b="1" i="0" sz="1013" u="none" cap="none" strike="noStrike">
                <a:solidFill>
                  <a:schemeClr val="dk1"/>
                </a:solidFill>
                <a:latin typeface="Century Gothic"/>
                <a:ea typeface="Century Gothic"/>
                <a:cs typeface="Century Gothic"/>
                <a:sym typeface="Century Gothic"/>
              </a:defRPr>
            </a:lvl3pPr>
            <a:lvl4pPr indent="-228600" lvl="3" marL="18288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4pPr>
            <a:lvl5pPr indent="-228600" lvl="4" marL="22860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5pPr>
            <a:lvl6pPr indent="-228600" lvl="5" marL="27432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6pPr>
            <a:lvl7pPr indent="-228600" lvl="6" marL="32004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7pPr>
            <a:lvl8pPr indent="-228600" lvl="7" marL="36576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8pPr>
            <a:lvl9pPr indent="-228600" lvl="8" marL="4114800" marR="0" algn="l">
              <a:lnSpc>
                <a:spcPct val="90000"/>
              </a:lnSpc>
              <a:spcBef>
                <a:spcPts val="281"/>
              </a:spcBef>
              <a:spcAft>
                <a:spcPts val="0"/>
              </a:spcAft>
              <a:buClr>
                <a:schemeClr val="dk1"/>
              </a:buClr>
              <a:buSzPts val="1600"/>
              <a:buFont typeface="Arial"/>
              <a:buNone/>
              <a:defRPr b="1" i="0" sz="900" u="none" cap="none" strike="noStrike">
                <a:solidFill>
                  <a:schemeClr val="dk1"/>
                </a:solidFill>
                <a:latin typeface="Century Gothic"/>
                <a:ea typeface="Century Gothic"/>
                <a:cs typeface="Century Gothic"/>
                <a:sym typeface="Century Gothic"/>
              </a:defRPr>
            </a:lvl9pPr>
          </a:lstStyle>
          <a:p/>
        </p:txBody>
      </p:sp>
      <p:sp>
        <p:nvSpPr>
          <p:cNvPr id="27" name="Google Shape;27;p28"/>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563"/>
              </a:spcBef>
              <a:spcAft>
                <a:spcPts val="0"/>
              </a:spcAft>
              <a:buClr>
                <a:schemeClr val="dk1"/>
              </a:buClr>
              <a:buSzPts val="2800"/>
              <a:buFont typeface="Arial"/>
              <a:buChar char="•"/>
              <a:defRPr b="0" i="0" sz="1575"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281"/>
              </a:spcBef>
              <a:spcAft>
                <a:spcPts val="0"/>
              </a:spcAft>
              <a:buClr>
                <a:schemeClr val="dk1"/>
              </a:buClr>
              <a:buSzPts val="2400"/>
              <a:buFont typeface="Arial"/>
              <a:buChar char="•"/>
              <a:defRPr b="0" i="0" sz="135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281"/>
              </a:spcBef>
              <a:spcAft>
                <a:spcPts val="0"/>
              </a:spcAft>
              <a:buClr>
                <a:schemeClr val="dk1"/>
              </a:buClr>
              <a:buSzPts val="2000"/>
              <a:buFont typeface="Arial"/>
              <a:buChar char="•"/>
              <a:defRPr b="0" i="0" sz="1125"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9pPr>
          </a:lstStyle>
          <a:p/>
        </p:txBody>
      </p:sp>
      <p:sp>
        <p:nvSpPr>
          <p:cNvPr id="28" name="Google Shape;28;p28"/>
          <p:cNvSpPr txBox="1"/>
          <p:nvPr>
            <p:ph idx="12" type="sldNum"/>
          </p:nvPr>
        </p:nvSpPr>
        <p:spPr>
          <a:xfrm>
            <a:off x="838200" y="6356354"/>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9" name="Shape 29"/>
        <p:cNvGrpSpPr/>
        <p:nvPr/>
      </p:nvGrpSpPr>
      <p:grpSpPr>
        <a:xfrm>
          <a:off x="0" y="0"/>
          <a:ext cx="0" cy="0"/>
          <a:chOff x="0" y="0"/>
          <a:chExt cx="0" cy="0"/>
        </a:xfrm>
      </p:grpSpPr>
      <p:sp>
        <p:nvSpPr>
          <p:cNvPr id="30" name="Google Shape;30;p29"/>
          <p:cNvSpPr/>
          <p:nvPr/>
        </p:nvSpPr>
        <p:spPr>
          <a:xfrm>
            <a:off x="0" y="537882"/>
            <a:ext cx="12192000" cy="2689412"/>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
        <p:nvSpPr>
          <p:cNvPr id="31" name="Google Shape;31;p29"/>
          <p:cNvSpPr txBox="1"/>
          <p:nvPr>
            <p:ph type="title"/>
          </p:nvPr>
        </p:nvSpPr>
        <p:spPr>
          <a:xfrm>
            <a:off x="838200" y="537883"/>
            <a:ext cx="10515600" cy="2689412"/>
          </a:xfrm>
          <a:prstGeom prst="rect">
            <a:avLst/>
          </a:prstGeom>
          <a:noFill/>
          <a:ln>
            <a:noFill/>
          </a:ln>
        </p:spPr>
        <p:txBody>
          <a:bodyPr anchorCtr="0" anchor="ctr" bIns="45700" lIns="91425" spcFirstLastPara="1" rIns="91425" wrap="square" tIns="45700">
            <a:noAutofit/>
          </a:bodyPr>
          <a:lstStyle>
            <a:lvl1pPr lvl="0" marR="0" algn="ctr">
              <a:lnSpc>
                <a:spcPct val="90000"/>
              </a:lnSpc>
              <a:spcBef>
                <a:spcPts val="0"/>
              </a:spcBef>
              <a:spcAft>
                <a:spcPts val="0"/>
              </a:spcAft>
              <a:buClr>
                <a:schemeClr val="dk1"/>
              </a:buClr>
              <a:buSzPts val="5000"/>
              <a:buFont typeface="Century Gothic"/>
              <a:buNone/>
              <a:defRPr b="0" i="0" sz="3750" u="none" cap="none" strike="noStrike">
                <a:solidFill>
                  <a:schemeClr val="lt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30"/>
          <p:cNvSpPr txBox="1"/>
          <p:nvPr>
            <p:ph idx="12" type="sldNum"/>
          </p:nvPr>
        </p:nvSpPr>
        <p:spPr>
          <a:xfrm>
            <a:off x="838200" y="6356352"/>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34" name="Google Shape;34;p30"/>
          <p:cNvSpPr/>
          <p:nvPr/>
        </p:nvSpPr>
        <p:spPr>
          <a:xfrm rot="5400000">
            <a:off x="-3137554" y="3137552"/>
            <a:ext cx="6858002" cy="582894"/>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34275" lIns="68550" spcFirstLastPara="1" rIns="68550"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5" name="Shape 35"/>
        <p:cNvGrpSpPr/>
        <p:nvPr/>
      </p:nvGrpSpPr>
      <p:grpSpPr>
        <a:xfrm>
          <a:off x="0" y="0"/>
          <a:ext cx="0" cy="0"/>
          <a:chOff x="0" y="0"/>
          <a:chExt cx="0" cy="0"/>
        </a:xfrm>
      </p:grpSpPr>
      <p:sp>
        <p:nvSpPr>
          <p:cNvPr id="36" name="Google Shape;36;p3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3300"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9pPr>
          </a:lstStyle>
          <a:p/>
        </p:txBody>
      </p:sp>
      <p:sp>
        <p:nvSpPr>
          <p:cNvPr id="37" name="Google Shape;37;p3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9pPr>
          </a:lstStyle>
          <a:p/>
        </p:txBody>
      </p:sp>
      <p:sp>
        <p:nvSpPr>
          <p:cNvPr id="38" name="Google Shape;38;p31"/>
          <p:cNvSpPr txBox="1"/>
          <p:nvPr>
            <p:ph idx="12" type="sldNum"/>
          </p:nvPr>
        </p:nvSpPr>
        <p:spPr>
          <a:xfrm>
            <a:off x="838200" y="6356352"/>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39" name="Google Shape;39;p31"/>
          <p:cNvSpPr/>
          <p:nvPr/>
        </p:nvSpPr>
        <p:spPr>
          <a:xfrm rot="5400000">
            <a:off x="-3183272" y="3127248"/>
            <a:ext cx="6912864" cy="585216"/>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0" name="Shape 40"/>
        <p:cNvGrpSpPr/>
        <p:nvPr/>
      </p:nvGrpSpPr>
      <p:grpSpPr>
        <a:xfrm>
          <a:off x="0" y="0"/>
          <a:ext cx="0" cy="0"/>
          <a:chOff x="0" y="0"/>
          <a:chExt cx="0" cy="0"/>
        </a:xfrm>
      </p:grpSpPr>
      <p:sp>
        <p:nvSpPr>
          <p:cNvPr id="41" name="Google Shape;41;p32"/>
          <p:cNvSpPr txBox="1"/>
          <p:nvPr>
            <p:ph type="title"/>
          </p:nvPr>
        </p:nvSpPr>
        <p:spPr>
          <a:xfrm rot="5400000">
            <a:off x="7133432" y="1956595"/>
            <a:ext cx="5811838" cy="2628900"/>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3300"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350" u="none" cap="none" strike="noStrike">
                <a:solidFill>
                  <a:srgbClr val="000000"/>
                </a:solidFill>
                <a:latin typeface="Arial"/>
                <a:ea typeface="Arial"/>
                <a:cs typeface="Arial"/>
                <a:sym typeface="Arial"/>
              </a:defRPr>
            </a:lvl9pPr>
          </a:lstStyle>
          <a:p/>
        </p:txBody>
      </p:sp>
      <p:sp>
        <p:nvSpPr>
          <p:cNvPr id="42" name="Google Shape;42;p32"/>
          <p:cNvSpPr txBox="1"/>
          <p:nvPr>
            <p:ph idx="1" type="body"/>
          </p:nvPr>
        </p:nvSpPr>
        <p:spPr>
          <a:xfrm rot="5400000">
            <a:off x="1799432" y="-596105"/>
            <a:ext cx="5811838" cy="7734300"/>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750"/>
              </a:spcBef>
              <a:spcAft>
                <a:spcPts val="0"/>
              </a:spcAft>
              <a:buClr>
                <a:schemeClr val="dk1"/>
              </a:buClr>
              <a:buSzPts val="2800"/>
              <a:buFont typeface="Arial"/>
              <a:buChar char="•"/>
              <a:defRPr b="0" i="0" sz="2100"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375"/>
              </a:spcBef>
              <a:spcAft>
                <a:spcPts val="0"/>
              </a:spcAft>
              <a:buClr>
                <a:schemeClr val="dk1"/>
              </a:buClr>
              <a:buSzPts val="2400"/>
              <a:buFont typeface="Arial"/>
              <a:buChar char="•"/>
              <a:defRPr b="0" i="0" sz="180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375"/>
              </a:spcBef>
              <a:spcAft>
                <a:spcPts val="0"/>
              </a:spcAft>
              <a:buClr>
                <a:schemeClr val="dk1"/>
              </a:buClr>
              <a:buSzPts val="2000"/>
              <a:buFont typeface="Arial"/>
              <a:buChar char="•"/>
              <a:defRPr b="0" i="0" sz="1500"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375"/>
              </a:spcBef>
              <a:spcAft>
                <a:spcPts val="0"/>
              </a:spcAft>
              <a:buClr>
                <a:schemeClr val="dk1"/>
              </a:buClr>
              <a:buSzPts val="1800"/>
              <a:buFont typeface="Arial"/>
              <a:buChar char="•"/>
              <a:defRPr b="0" i="0" sz="1350" u="none" cap="none" strike="noStrike">
                <a:solidFill>
                  <a:schemeClr val="dk1"/>
                </a:solidFill>
                <a:latin typeface="Century Gothic"/>
                <a:ea typeface="Century Gothic"/>
                <a:cs typeface="Century Gothic"/>
                <a:sym typeface="Century Gothic"/>
              </a:defRPr>
            </a:lvl9pPr>
          </a:lstStyle>
          <a:p/>
        </p:txBody>
      </p:sp>
      <p:sp>
        <p:nvSpPr>
          <p:cNvPr id="43" name="Google Shape;43;p32"/>
          <p:cNvSpPr txBox="1"/>
          <p:nvPr>
            <p:ph idx="12" type="sldNum"/>
          </p:nvPr>
        </p:nvSpPr>
        <p:spPr>
          <a:xfrm>
            <a:off x="838200" y="6356352"/>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
        <p:nvSpPr>
          <p:cNvPr id="44" name="Google Shape;44;p32"/>
          <p:cNvSpPr/>
          <p:nvPr/>
        </p:nvSpPr>
        <p:spPr>
          <a:xfrm rot="5400000">
            <a:off x="-3183272" y="3127248"/>
            <a:ext cx="6912864" cy="585216"/>
          </a:xfrm>
          <a:prstGeom prst="rect">
            <a:avLst/>
          </a:prstGeom>
          <a:solidFill>
            <a:srgbClr val="3A4047"/>
          </a:solidFill>
          <a:ln cap="flat" cmpd="sng" w="12700">
            <a:solidFill>
              <a:schemeClr val="dk1">
                <a:alpha val="784"/>
              </a:schemeClr>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350" u="none" cap="none" strike="noStrik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33"/>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2475"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9pPr>
          </a:lstStyle>
          <a:p/>
        </p:txBody>
      </p:sp>
      <p:sp>
        <p:nvSpPr>
          <p:cNvPr id="47" name="Google Shape;47;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563"/>
              </a:spcBef>
              <a:spcAft>
                <a:spcPts val="0"/>
              </a:spcAft>
              <a:buClr>
                <a:schemeClr val="dk1"/>
              </a:buClr>
              <a:buSzPts val="2800"/>
              <a:buFont typeface="Arial"/>
              <a:buChar char="•"/>
              <a:defRPr b="0" i="0" sz="1575"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281"/>
              </a:spcBef>
              <a:spcAft>
                <a:spcPts val="0"/>
              </a:spcAft>
              <a:buClr>
                <a:schemeClr val="dk1"/>
              </a:buClr>
              <a:buSzPts val="2400"/>
              <a:buFont typeface="Arial"/>
              <a:buChar char="•"/>
              <a:defRPr b="0" i="0" sz="135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281"/>
              </a:spcBef>
              <a:spcAft>
                <a:spcPts val="0"/>
              </a:spcAft>
              <a:buClr>
                <a:schemeClr val="dk1"/>
              </a:buClr>
              <a:buSzPts val="2000"/>
              <a:buFont typeface="Arial"/>
              <a:buChar char="•"/>
              <a:defRPr b="0" i="0" sz="1125"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9pPr>
          </a:lstStyle>
          <a:p/>
        </p:txBody>
      </p:sp>
      <p:sp>
        <p:nvSpPr>
          <p:cNvPr id="48" name="Google Shape;48;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algn="l">
              <a:lnSpc>
                <a:spcPct val="90000"/>
              </a:lnSpc>
              <a:spcBef>
                <a:spcPts val="563"/>
              </a:spcBef>
              <a:spcAft>
                <a:spcPts val="0"/>
              </a:spcAft>
              <a:buClr>
                <a:schemeClr val="dk1"/>
              </a:buClr>
              <a:buSzPts val="2800"/>
              <a:buFont typeface="Arial"/>
              <a:buChar char="•"/>
              <a:defRPr b="0" i="0" sz="1575" u="none" cap="none" strike="noStrike">
                <a:solidFill>
                  <a:schemeClr val="dk1"/>
                </a:solidFill>
                <a:latin typeface="Century Gothic"/>
                <a:ea typeface="Century Gothic"/>
                <a:cs typeface="Century Gothic"/>
                <a:sym typeface="Century Gothic"/>
              </a:defRPr>
            </a:lvl1pPr>
            <a:lvl2pPr indent="-381000" lvl="1" marL="914400" marR="0" algn="l">
              <a:lnSpc>
                <a:spcPct val="90000"/>
              </a:lnSpc>
              <a:spcBef>
                <a:spcPts val="281"/>
              </a:spcBef>
              <a:spcAft>
                <a:spcPts val="0"/>
              </a:spcAft>
              <a:buClr>
                <a:schemeClr val="dk1"/>
              </a:buClr>
              <a:buSzPts val="2400"/>
              <a:buFont typeface="Arial"/>
              <a:buChar char="•"/>
              <a:defRPr b="0" i="0" sz="1350" u="none" cap="none" strike="noStrike">
                <a:solidFill>
                  <a:schemeClr val="dk1"/>
                </a:solidFill>
                <a:latin typeface="Century Gothic"/>
                <a:ea typeface="Century Gothic"/>
                <a:cs typeface="Century Gothic"/>
                <a:sym typeface="Century Gothic"/>
              </a:defRPr>
            </a:lvl2pPr>
            <a:lvl3pPr indent="-355600" lvl="2" marL="1371600" marR="0" algn="l">
              <a:lnSpc>
                <a:spcPct val="90000"/>
              </a:lnSpc>
              <a:spcBef>
                <a:spcPts val="281"/>
              </a:spcBef>
              <a:spcAft>
                <a:spcPts val="0"/>
              </a:spcAft>
              <a:buClr>
                <a:schemeClr val="dk1"/>
              </a:buClr>
              <a:buSzPts val="2000"/>
              <a:buFont typeface="Arial"/>
              <a:buChar char="•"/>
              <a:defRPr b="0" i="0" sz="1125" u="none" cap="none" strike="noStrike">
                <a:solidFill>
                  <a:schemeClr val="dk1"/>
                </a:solidFill>
                <a:latin typeface="Century Gothic"/>
                <a:ea typeface="Century Gothic"/>
                <a:cs typeface="Century Gothic"/>
                <a:sym typeface="Century Gothic"/>
              </a:defRPr>
            </a:lvl3pPr>
            <a:lvl4pPr indent="-342900" lvl="3" marL="1828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4pPr>
            <a:lvl5pPr indent="-342900" lvl="4" marL="22860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5pPr>
            <a:lvl6pPr indent="-342900" lvl="5" marL="27432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6pPr>
            <a:lvl7pPr indent="-342900" lvl="6" marL="32004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7pPr>
            <a:lvl8pPr indent="-342900" lvl="7" marL="36576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8pPr>
            <a:lvl9pPr indent="-342900" lvl="8" marL="4114800" marR="0" algn="l">
              <a:lnSpc>
                <a:spcPct val="90000"/>
              </a:lnSpc>
              <a:spcBef>
                <a:spcPts val="281"/>
              </a:spcBef>
              <a:spcAft>
                <a:spcPts val="0"/>
              </a:spcAft>
              <a:buClr>
                <a:schemeClr val="dk1"/>
              </a:buClr>
              <a:buSzPts val="1800"/>
              <a:buFont typeface="Arial"/>
              <a:buChar char="•"/>
              <a:defRPr b="0" i="0" sz="1013" u="none" cap="none" strike="noStrike">
                <a:solidFill>
                  <a:schemeClr val="dk1"/>
                </a:solidFill>
                <a:latin typeface="Century Gothic"/>
                <a:ea typeface="Century Gothic"/>
                <a:cs typeface="Century Gothic"/>
                <a:sym typeface="Century Gothic"/>
              </a:defRPr>
            </a:lvl9pPr>
          </a:lstStyle>
          <a:p/>
        </p:txBody>
      </p:sp>
      <p:sp>
        <p:nvSpPr>
          <p:cNvPr id="49" name="Google Shape;49;p33"/>
          <p:cNvSpPr txBox="1"/>
          <p:nvPr>
            <p:ph idx="12" type="sldNum"/>
          </p:nvPr>
        </p:nvSpPr>
        <p:spPr>
          <a:xfrm>
            <a:off x="838200" y="6356354"/>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34"/>
          <p:cNvSpPr txBox="1"/>
          <p:nvPr>
            <p:ph type="title"/>
          </p:nvPr>
        </p:nvSpPr>
        <p:spPr>
          <a:xfrm>
            <a:off x="838200" y="365129"/>
            <a:ext cx="10515600" cy="1325563"/>
          </a:xfrm>
          <a:prstGeom prst="rect">
            <a:avLst/>
          </a:prstGeom>
          <a:noFill/>
          <a:ln>
            <a:noFill/>
          </a:ln>
        </p:spPr>
        <p:txBody>
          <a:bodyPr anchorCtr="0" anchor="ctr" bIns="45700" lIns="91425" spcFirstLastPara="1" rIns="91425" wrap="square" tIns="45700">
            <a:noAutofit/>
          </a:bodyPr>
          <a:lstStyle>
            <a:lvl1pPr lvl="0" marR="0" algn="l">
              <a:lnSpc>
                <a:spcPct val="90000"/>
              </a:lnSpc>
              <a:spcBef>
                <a:spcPts val="0"/>
              </a:spcBef>
              <a:spcAft>
                <a:spcPts val="0"/>
              </a:spcAft>
              <a:buClr>
                <a:schemeClr val="dk1"/>
              </a:buClr>
              <a:buSzPts val="4400"/>
              <a:buFont typeface="Century Gothic"/>
              <a:buNone/>
              <a:defRPr b="0" i="0" sz="2475" u="none" cap="none" strike="noStrike">
                <a:solidFill>
                  <a:schemeClr val="dk1"/>
                </a:solidFill>
                <a:latin typeface="Century Gothic"/>
                <a:ea typeface="Century Gothic"/>
                <a:cs typeface="Century Gothic"/>
                <a:sym typeface="Century Gothic"/>
              </a:defRPr>
            </a:lvl1pPr>
            <a:lvl2pPr lvl="1"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013" u="none" cap="none" strike="noStrike">
                <a:solidFill>
                  <a:srgbClr val="000000"/>
                </a:solidFill>
                <a:latin typeface="Arial"/>
                <a:ea typeface="Arial"/>
                <a:cs typeface="Arial"/>
                <a:sym typeface="Arial"/>
              </a:defRPr>
            </a:lvl9pPr>
          </a:lstStyle>
          <a:p/>
        </p:txBody>
      </p:sp>
      <p:sp>
        <p:nvSpPr>
          <p:cNvPr id="52" name="Google Shape;52;p34"/>
          <p:cNvSpPr txBox="1"/>
          <p:nvPr>
            <p:ph idx="12" type="sldNum"/>
          </p:nvPr>
        </p:nvSpPr>
        <p:spPr>
          <a:xfrm>
            <a:off x="838200" y="6356354"/>
            <a:ext cx="1051560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1200"/>
              <a:buFont typeface="Arial"/>
              <a:buNone/>
              <a:defRPr b="0" i="0" sz="675"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7FB">
            <a:alpha val="80000"/>
          </a:srgbClr>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entury Gothic"/>
                <a:ea typeface="Century Gothic"/>
                <a:cs typeface="Century Gothic"/>
                <a:sym typeface="Century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entury Gothic"/>
                <a:ea typeface="Century Gothic"/>
                <a:cs typeface="Century Gothic"/>
                <a:sym typeface="Century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entury Gothic"/>
                <a:ea typeface="Century Gothic"/>
                <a:cs typeface="Century Gothic"/>
                <a:sym typeface="Century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9pPr>
          </a:lstStyle>
          <a:p/>
        </p:txBody>
      </p:sp>
      <p:sp>
        <p:nvSpPr>
          <p:cNvPr id="12" name="Google Shape;12;p25"/>
          <p:cNvSpPr txBox="1"/>
          <p:nvPr>
            <p:ph idx="12" type="sldNum"/>
          </p:nvPr>
        </p:nvSpPr>
        <p:spPr>
          <a:xfrm>
            <a:off x="838200" y="6356352"/>
            <a:ext cx="1051560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1200"/>
              <a:buFont typeface="Arial"/>
              <a:buNone/>
              <a:defRPr b="0" i="0" sz="900" u="none" cap="none" strike="noStrike">
                <a:solidFill>
                  <a:srgbClr val="888888"/>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
          <p:cNvSpPr txBox="1"/>
          <p:nvPr>
            <p:ph type="ctrTitle"/>
          </p:nvPr>
        </p:nvSpPr>
        <p:spPr>
          <a:xfrm>
            <a:off x="1519519" y="0"/>
            <a:ext cx="9144000" cy="2387600"/>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F1F7FB"/>
              </a:buClr>
              <a:buSzPts val="5500"/>
              <a:buFont typeface="Century Gothic"/>
              <a:buNone/>
            </a:pPr>
            <a:r>
              <a:rPr lang="en-US"/>
              <a:t>Principles of Marketing</a:t>
            </a:r>
            <a:endParaRPr/>
          </a:p>
        </p:txBody>
      </p:sp>
      <p:sp>
        <p:nvSpPr>
          <p:cNvPr id="59" name="Google Shape;59;p1"/>
          <p:cNvSpPr txBox="1"/>
          <p:nvPr>
            <p:ph idx="1" type="subTitle"/>
          </p:nvPr>
        </p:nvSpPr>
        <p:spPr>
          <a:xfrm>
            <a:off x="0" y="2661428"/>
            <a:ext cx="12192000" cy="1655762"/>
          </a:xfrm>
          <a:prstGeom prst="rect">
            <a:avLst/>
          </a:prstGeom>
          <a:noFill/>
          <a:ln>
            <a:noFill/>
          </a:ln>
        </p:spPr>
        <p:txBody>
          <a:bodyPr anchorCtr="0" anchor="t" bIns="45700" lIns="91425" spcFirstLastPara="1" rIns="91425" wrap="square" tIns="45700">
            <a:noAutofit/>
          </a:bodyPr>
          <a:lstStyle/>
          <a:p>
            <a:pPr indent="-406400" lvl="0" marL="457200" marR="0" rtl="0" algn="ctr">
              <a:lnSpc>
                <a:spcPct val="90000"/>
              </a:lnSpc>
              <a:spcBef>
                <a:spcPts val="750"/>
              </a:spcBef>
              <a:spcAft>
                <a:spcPts val="0"/>
              </a:spcAft>
              <a:buClr>
                <a:srgbClr val="F1F7FB"/>
              </a:buClr>
              <a:buSzPts val="2400"/>
              <a:buFont typeface="Arial"/>
              <a:buNone/>
            </a:pPr>
            <a:r>
              <a:rPr lang="en-US"/>
              <a:t>Module 7: </a:t>
            </a:r>
            <a:r>
              <a:rPr lang="en-US">
                <a:solidFill>
                  <a:schemeClr val="lt1"/>
                </a:solidFill>
              </a:rPr>
              <a:t>Consumer Behavior</a:t>
            </a:r>
            <a:endParaRPr/>
          </a:p>
          <a:p>
            <a:pPr indent="-406400" lvl="0" marL="457200" marR="0" rtl="0" algn="ctr">
              <a:lnSpc>
                <a:spcPct val="90000"/>
              </a:lnSpc>
              <a:spcBef>
                <a:spcPts val="750"/>
              </a:spcBef>
              <a:spcAft>
                <a:spcPts val="0"/>
              </a:spcAft>
              <a:buClr>
                <a:srgbClr val="F1F7FB"/>
              </a:buClr>
              <a:buSzPts val="2400"/>
              <a:buFont typeface="Arial"/>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838200" y="365127"/>
            <a:ext cx="10515600" cy="91294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The Exchange Process</a:t>
            </a:r>
            <a:endParaRPr/>
          </a:p>
        </p:txBody>
      </p:sp>
      <p:pic>
        <p:nvPicPr>
          <p:cNvPr descr="The Exchange Process. Buyer Value includes money, time, credit, labor, etc. Buyer needs, wants, trade-offs. Seller value includes product, service, experience, idea, etc. Seller needs, wants, trade-offs. When buyers and sellers do business, they exchange their values to fulfill their needs, wants, and trade-offs." id="66" name="Google Shape;66;p2"/>
          <p:cNvPicPr preferRelativeResize="0"/>
          <p:nvPr/>
        </p:nvPicPr>
        <p:blipFill rotWithShape="1">
          <a:blip r:embed="rId3">
            <a:alphaModFix/>
          </a:blip>
          <a:srcRect b="0" l="0" r="0" t="0"/>
          <a:stretch/>
        </p:blipFill>
        <p:spPr>
          <a:xfrm>
            <a:off x="3240114" y="1118676"/>
            <a:ext cx="6362700" cy="5727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300"/>
              <a:t>Theories of Consumer Behavior: The Economic Man</a:t>
            </a:r>
            <a:endParaRPr/>
          </a:p>
        </p:txBody>
      </p:sp>
      <p:sp>
        <p:nvSpPr>
          <p:cNvPr id="72" name="Google Shape;7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sz="2100"/>
              <a:t>According to the “economic man” model, consumers are rational and narrowly self-interested, always trying to maximize the benefits they derive from the exchange process</a:t>
            </a:r>
            <a:endParaRPr/>
          </a:p>
          <a:p>
            <a:pPr indent="-304800" lvl="0" marL="342900" marR="0" rtl="0" algn="l">
              <a:lnSpc>
                <a:spcPct val="90000"/>
              </a:lnSpc>
              <a:spcBef>
                <a:spcPts val="750"/>
              </a:spcBef>
              <a:spcAft>
                <a:spcPts val="0"/>
              </a:spcAft>
              <a:buClr>
                <a:schemeClr val="dk1"/>
              </a:buClr>
              <a:buSzPts val="2800"/>
              <a:buFont typeface="Arial"/>
              <a:buChar char="•"/>
            </a:pPr>
            <a:r>
              <a:rPr lang="en-US" sz="2100"/>
              <a:t>Limitations: People are not always rational or they define value differently than this model would suggest</a:t>
            </a:r>
            <a:endParaRPr/>
          </a:p>
          <a:p>
            <a:pPr indent="-127000" lvl="0" marL="342900" marR="0" rtl="0" algn="l">
              <a:lnSpc>
                <a:spcPct val="90000"/>
              </a:lnSpc>
              <a:spcBef>
                <a:spcPts val="750"/>
              </a:spcBef>
              <a:spcAft>
                <a:spcPts val="0"/>
              </a:spcAft>
              <a:buClr>
                <a:schemeClr val="dk1"/>
              </a:buClr>
              <a:buSzPts val="2800"/>
              <a:buFont typeface="Arial"/>
              <a:buNone/>
            </a:pPr>
            <a:r>
              <a:t/>
            </a:r>
            <a:endParaRPr sz="2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300"/>
              <a:t>The Stimulus Response Model</a:t>
            </a:r>
            <a:endParaRPr/>
          </a:p>
        </p:txBody>
      </p:sp>
      <p:pic>
        <p:nvPicPr>
          <p:cNvPr descr="Stimuli, External Factors: Marketing Mix: Product, price, place, promotion. Environmental: Economic, technological, political, cultural, demographic, situational. Stimuli, or external factors, influence the black box of the buyer's mind. Internal factors in the black box are: Consumer Characteristics: Beliefs/Attitudes, values, knowledge, motives, perceptions, lifestyle. The other internal factors are the consumer's decision-making process, which includes problem solving, information gathering, alternative evaluation, purchase, post-purchase, and evaluation. Then responds. Possible responses: Purchase: Product, brand, source, amount, method of payment. No Purchase." id="79" name="Google Shape;79;p4"/>
          <p:cNvPicPr preferRelativeResize="0"/>
          <p:nvPr/>
        </p:nvPicPr>
        <p:blipFill rotWithShape="1">
          <a:blip r:embed="rId3">
            <a:alphaModFix/>
          </a:blip>
          <a:srcRect b="0" l="0" r="0" t="0"/>
          <a:stretch/>
        </p:blipFill>
        <p:spPr>
          <a:xfrm>
            <a:off x="1524000" y="1387930"/>
            <a:ext cx="9144000" cy="53038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838200" y="365129"/>
            <a:ext cx="10515600" cy="74579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Consumer Decision-Making Process</a:t>
            </a:r>
            <a:endParaRPr/>
          </a:p>
        </p:txBody>
      </p:sp>
      <p:pic>
        <p:nvPicPr>
          <p:cNvPr descr="The Consumer Decision-Making Process. For complex and simple decision making. Step 1, Need recognition. Step 2, Information searching and processing. Step 3, identification and evaluation of alternatives. Step 4, purchase decision. Step 5, Post-purchase behavior." id="86" name="Google Shape;86;p5"/>
          <p:cNvPicPr preferRelativeResize="0"/>
          <p:nvPr/>
        </p:nvPicPr>
        <p:blipFill rotWithShape="1">
          <a:blip r:embed="rId3">
            <a:alphaModFix/>
          </a:blip>
          <a:srcRect b="0" l="0" r="0" t="0"/>
          <a:stretch/>
        </p:blipFill>
        <p:spPr>
          <a:xfrm>
            <a:off x="3681298" y="1039235"/>
            <a:ext cx="5134204" cy="581876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6"/>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600"/>
              <a:t>Needs Recognition</a:t>
            </a:r>
            <a:endParaRPr/>
          </a:p>
        </p:txBody>
      </p:sp>
      <p:sp>
        <p:nvSpPr>
          <p:cNvPr id="92" name="Google Shape;92;p6"/>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Consumer</a:t>
            </a:r>
            <a:endParaRPr/>
          </a:p>
        </p:txBody>
      </p:sp>
      <p:sp>
        <p:nvSpPr>
          <p:cNvPr id="93" name="Google Shape;93;p6"/>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p>
            <a:pPr indent="0" lvl="0" marL="28575" rtl="0" algn="l">
              <a:lnSpc>
                <a:spcPct val="90000"/>
              </a:lnSpc>
              <a:spcBef>
                <a:spcPts val="563"/>
              </a:spcBef>
              <a:spcAft>
                <a:spcPts val="0"/>
              </a:spcAft>
              <a:buSzPts val="2800"/>
              <a:buNone/>
            </a:pPr>
            <a:r>
              <a:rPr lang="en-US" sz="2000"/>
              <a:t>Whether we act to resolve a particular problem depends upon two factors: </a:t>
            </a:r>
            <a:endParaRPr/>
          </a:p>
          <a:p>
            <a:pPr indent="-342900" lvl="1" marL="628650" rtl="0" algn="l">
              <a:lnSpc>
                <a:spcPct val="90000"/>
              </a:lnSpc>
              <a:spcBef>
                <a:spcPts val="281"/>
              </a:spcBef>
              <a:spcAft>
                <a:spcPts val="0"/>
              </a:spcAft>
              <a:buSzPts val="2400"/>
              <a:buFont typeface="Arial"/>
              <a:buAutoNum type="arabicPeriod"/>
            </a:pPr>
            <a:r>
              <a:rPr lang="en-US" sz="2000"/>
              <a:t>the magnitude of the difference between what we have and what we need, and </a:t>
            </a:r>
            <a:endParaRPr/>
          </a:p>
          <a:p>
            <a:pPr indent="-342900" lvl="1" marL="628650" rtl="0" algn="l">
              <a:lnSpc>
                <a:spcPct val="90000"/>
              </a:lnSpc>
              <a:spcBef>
                <a:spcPts val="281"/>
              </a:spcBef>
              <a:spcAft>
                <a:spcPts val="0"/>
              </a:spcAft>
              <a:buSzPts val="2400"/>
              <a:buFont typeface="Arial"/>
              <a:buAutoNum type="arabicPeriod"/>
            </a:pPr>
            <a:r>
              <a:rPr lang="en-US" sz="2000"/>
              <a:t> the importance of the problem</a:t>
            </a:r>
            <a:endParaRPr/>
          </a:p>
        </p:txBody>
      </p:sp>
      <p:sp>
        <p:nvSpPr>
          <p:cNvPr id="94" name="Google Shape;94;p6"/>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Marketer Role</a:t>
            </a:r>
            <a:endParaRPr/>
          </a:p>
        </p:txBody>
      </p:sp>
      <p:sp>
        <p:nvSpPr>
          <p:cNvPr id="95" name="Google Shape;95;p6"/>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p>
            <a:pPr indent="-228600" lvl="0" marL="257175" marR="0" rtl="0" algn="l">
              <a:lnSpc>
                <a:spcPct val="90000"/>
              </a:lnSpc>
              <a:spcBef>
                <a:spcPts val="563"/>
              </a:spcBef>
              <a:spcAft>
                <a:spcPts val="0"/>
              </a:spcAft>
              <a:buClr>
                <a:schemeClr val="dk1"/>
              </a:buClr>
              <a:buSzPts val="2800"/>
              <a:buFont typeface="Arial"/>
              <a:buChar char="•"/>
            </a:pPr>
            <a:r>
              <a:rPr lang="en-US" sz="2000"/>
              <a:t>Know what problems consumers are facing, so the marketing mix fits</a:t>
            </a:r>
            <a:endParaRPr/>
          </a:p>
          <a:p>
            <a:pPr indent="-228600" lvl="0" marL="257175" marR="0" rtl="0" algn="l">
              <a:lnSpc>
                <a:spcPct val="90000"/>
              </a:lnSpc>
              <a:spcBef>
                <a:spcPts val="563"/>
              </a:spcBef>
              <a:spcAft>
                <a:spcPts val="0"/>
              </a:spcAft>
              <a:buClr>
                <a:schemeClr val="dk1"/>
              </a:buClr>
              <a:buSzPts val="2800"/>
              <a:buFont typeface="Arial"/>
              <a:buChar char="•"/>
            </a:pPr>
            <a:r>
              <a:rPr lang="en-US" sz="2000"/>
              <a:t>Activate problem recognition to trigger the purchasing process</a:t>
            </a:r>
            <a:endParaRPr/>
          </a:p>
          <a:p>
            <a:pPr indent="-228600" lvl="0" marL="257175" marR="0" rtl="0" algn="l">
              <a:lnSpc>
                <a:spcPct val="90000"/>
              </a:lnSpc>
              <a:spcBef>
                <a:spcPts val="563"/>
              </a:spcBef>
              <a:spcAft>
                <a:spcPts val="0"/>
              </a:spcAft>
              <a:buClr>
                <a:schemeClr val="dk1"/>
              </a:buClr>
              <a:buSzPts val="2800"/>
              <a:buFont typeface="Arial"/>
              <a:buChar char="•"/>
            </a:pPr>
            <a:r>
              <a:rPr lang="en-US" sz="2000"/>
              <a:t>Shape how consumers define the need or 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600"/>
              <a:t>Information Search</a:t>
            </a:r>
            <a:endParaRPr/>
          </a:p>
        </p:txBody>
      </p:sp>
      <p:sp>
        <p:nvSpPr>
          <p:cNvPr id="101" name="Google Shape;101;p7"/>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Consumer</a:t>
            </a:r>
            <a:endParaRPr/>
          </a:p>
        </p:txBody>
      </p:sp>
      <p:sp>
        <p:nvSpPr>
          <p:cNvPr id="102" name="Google Shape;102;p7"/>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p>
            <a:pPr indent="-228600" lvl="0" marL="257175" marR="0" rtl="0" algn="l">
              <a:lnSpc>
                <a:spcPct val="90000"/>
              </a:lnSpc>
              <a:spcBef>
                <a:spcPts val="563"/>
              </a:spcBef>
              <a:spcAft>
                <a:spcPts val="0"/>
              </a:spcAft>
              <a:buClr>
                <a:schemeClr val="dk1"/>
              </a:buClr>
              <a:buSzPts val="2800"/>
              <a:buFont typeface="Arial"/>
              <a:buChar char="•"/>
            </a:pPr>
            <a:r>
              <a:rPr lang="en-US" sz="2000"/>
              <a:t>Seeks information </a:t>
            </a:r>
            <a:endParaRPr/>
          </a:p>
          <a:p>
            <a:pPr indent="-228600" lvl="0" marL="257175" marR="0" rtl="0" algn="l">
              <a:lnSpc>
                <a:spcPct val="90000"/>
              </a:lnSpc>
              <a:spcBef>
                <a:spcPts val="563"/>
              </a:spcBef>
              <a:spcAft>
                <a:spcPts val="0"/>
              </a:spcAft>
              <a:buClr>
                <a:schemeClr val="dk1"/>
              </a:buClr>
              <a:buSzPts val="2800"/>
              <a:buFont typeface="Arial"/>
              <a:buChar char="•"/>
            </a:pPr>
            <a:r>
              <a:rPr lang="en-US" sz="2000"/>
              <a:t>May come from past experience, word of mouth, or research</a:t>
            </a:r>
            <a:endParaRPr/>
          </a:p>
        </p:txBody>
      </p:sp>
      <p:sp>
        <p:nvSpPr>
          <p:cNvPr id="103" name="Google Shape;103;p7"/>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Marketer</a:t>
            </a:r>
            <a:endParaRPr/>
          </a:p>
        </p:txBody>
      </p:sp>
      <p:sp>
        <p:nvSpPr>
          <p:cNvPr id="104" name="Google Shape;104;p7"/>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p>
            <a:pPr indent="-228600" lvl="0" marL="257175" marR="0" rtl="0" algn="l">
              <a:lnSpc>
                <a:spcPct val="90000"/>
              </a:lnSpc>
              <a:spcBef>
                <a:spcPts val="563"/>
              </a:spcBef>
              <a:spcAft>
                <a:spcPts val="0"/>
              </a:spcAft>
              <a:buClr>
                <a:schemeClr val="dk1"/>
              </a:buClr>
              <a:buSzPts val="2800"/>
              <a:buFont typeface="Arial"/>
              <a:buChar char="•"/>
            </a:pPr>
            <a:r>
              <a:rPr lang="en-US" sz="2000"/>
              <a:t>Promotions should give consumers the info they seek in the places they look for 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600"/>
              <a:t>Evaluation of Alternatives</a:t>
            </a:r>
            <a:endParaRPr/>
          </a:p>
        </p:txBody>
      </p:sp>
      <p:sp>
        <p:nvSpPr>
          <p:cNvPr id="110" name="Google Shape;110;p8"/>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Consumer</a:t>
            </a:r>
            <a:endParaRPr/>
          </a:p>
        </p:txBody>
      </p:sp>
      <p:sp>
        <p:nvSpPr>
          <p:cNvPr id="111" name="Google Shape;111;p8"/>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p>
            <a:pPr indent="0" lvl="0" marL="28575" rtl="0" algn="l">
              <a:lnSpc>
                <a:spcPct val="90000"/>
              </a:lnSpc>
              <a:spcBef>
                <a:spcPts val="563"/>
              </a:spcBef>
              <a:spcAft>
                <a:spcPts val="0"/>
              </a:spcAft>
              <a:buSzPts val="2800"/>
              <a:buNone/>
            </a:pPr>
            <a:r>
              <a:rPr lang="en-US" sz="2000"/>
              <a:t>Develop a criteria to make a choice and evaluate options based on that criteria</a:t>
            </a:r>
            <a:endParaRPr/>
          </a:p>
        </p:txBody>
      </p:sp>
      <p:sp>
        <p:nvSpPr>
          <p:cNvPr id="112" name="Google Shape;112;p8"/>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Marketer</a:t>
            </a:r>
            <a:endParaRPr/>
          </a:p>
        </p:txBody>
      </p:sp>
      <p:sp>
        <p:nvSpPr>
          <p:cNvPr id="113" name="Google Shape;113;p8"/>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p>
            <a:pPr indent="0" lvl="0" marL="28575" rtl="0" algn="l">
              <a:lnSpc>
                <a:spcPct val="90000"/>
              </a:lnSpc>
              <a:spcBef>
                <a:spcPts val="563"/>
              </a:spcBef>
              <a:spcAft>
                <a:spcPts val="0"/>
              </a:spcAft>
              <a:buSzPts val="2800"/>
              <a:buNone/>
            </a:pPr>
            <a:r>
              <a:rPr lang="en-US" sz="2000"/>
              <a:t>Understand your target consumer’s evaluation criteria is critical. Your product needs to demonstrate these qualities in order to be short-listed in the selection set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600"/>
              <a:t>Purchase Decision</a:t>
            </a:r>
            <a:endParaRPr/>
          </a:p>
        </p:txBody>
      </p:sp>
      <p:sp>
        <p:nvSpPr>
          <p:cNvPr id="119" name="Google Shape;119;p9"/>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Consumer</a:t>
            </a:r>
            <a:endParaRPr/>
          </a:p>
        </p:txBody>
      </p:sp>
      <p:sp>
        <p:nvSpPr>
          <p:cNvPr id="120" name="Google Shape;120;p9"/>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p>
            <a:pPr indent="0" lvl="0" marL="28575" rtl="0" algn="l">
              <a:lnSpc>
                <a:spcPct val="90000"/>
              </a:lnSpc>
              <a:spcBef>
                <a:spcPts val="563"/>
              </a:spcBef>
              <a:spcAft>
                <a:spcPts val="0"/>
              </a:spcAft>
              <a:buSzPts val="2800"/>
              <a:buNone/>
            </a:pPr>
            <a:r>
              <a:rPr lang="en-US" sz="2000"/>
              <a:t>Decide and buy</a:t>
            </a:r>
            <a:endParaRPr/>
          </a:p>
          <a:p>
            <a:pPr indent="-50800" lvl="0" marL="257175" marR="0" rtl="0" algn="l">
              <a:lnSpc>
                <a:spcPct val="90000"/>
              </a:lnSpc>
              <a:spcBef>
                <a:spcPts val="563"/>
              </a:spcBef>
              <a:spcAft>
                <a:spcPts val="0"/>
              </a:spcAft>
              <a:buClr>
                <a:schemeClr val="dk1"/>
              </a:buClr>
              <a:buSzPts val="2800"/>
              <a:buFont typeface="Arial"/>
              <a:buNone/>
            </a:pPr>
            <a:r>
              <a:t/>
            </a:r>
            <a:endParaRPr sz="2000"/>
          </a:p>
        </p:txBody>
      </p:sp>
      <p:sp>
        <p:nvSpPr>
          <p:cNvPr id="121" name="Google Shape;121;p9"/>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Marketer</a:t>
            </a:r>
            <a:endParaRPr/>
          </a:p>
        </p:txBody>
      </p:sp>
      <p:sp>
        <p:nvSpPr>
          <p:cNvPr id="122" name="Google Shape;122;p9"/>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p>
            <a:pPr indent="-228600" lvl="0" marL="257175" marR="0" rtl="0" algn="l">
              <a:lnSpc>
                <a:spcPct val="90000"/>
              </a:lnSpc>
              <a:spcBef>
                <a:spcPts val="563"/>
              </a:spcBef>
              <a:spcAft>
                <a:spcPts val="0"/>
              </a:spcAft>
              <a:buClr>
                <a:schemeClr val="dk1"/>
              </a:buClr>
              <a:buSzPts val="2800"/>
              <a:buFont typeface="Arial"/>
              <a:buChar char="•"/>
            </a:pPr>
            <a:r>
              <a:rPr lang="en-US" sz="2000"/>
              <a:t>Try to simplify the purchase decision</a:t>
            </a:r>
            <a:endParaRPr/>
          </a:p>
          <a:p>
            <a:pPr indent="-228600" lvl="0" marL="257175" marR="0" rtl="0" algn="l">
              <a:lnSpc>
                <a:spcPct val="90000"/>
              </a:lnSpc>
              <a:spcBef>
                <a:spcPts val="563"/>
              </a:spcBef>
              <a:spcAft>
                <a:spcPts val="0"/>
              </a:spcAft>
              <a:buClr>
                <a:schemeClr val="dk1"/>
              </a:buClr>
              <a:buSzPts val="2800"/>
              <a:buFont typeface="Arial"/>
              <a:buChar char="•"/>
            </a:pPr>
            <a:r>
              <a:rPr lang="en-US" sz="2000"/>
              <a:t>Be aware of point of sale factors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0"/>
          <p:cNvSpPr txBox="1"/>
          <p:nvPr>
            <p:ph type="title"/>
          </p:nvPr>
        </p:nvSpPr>
        <p:spPr>
          <a:xfrm>
            <a:off x="839788" y="365129"/>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sz="3600"/>
              <a:t>Postpurchase Behavior</a:t>
            </a:r>
            <a:endParaRPr/>
          </a:p>
        </p:txBody>
      </p:sp>
      <p:sp>
        <p:nvSpPr>
          <p:cNvPr id="128" name="Google Shape;128;p10"/>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Consumer</a:t>
            </a:r>
            <a:endParaRPr/>
          </a:p>
        </p:txBody>
      </p:sp>
      <p:sp>
        <p:nvSpPr>
          <p:cNvPr id="129" name="Google Shape;129;p10"/>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Autofit/>
          </a:bodyPr>
          <a:lstStyle/>
          <a:p>
            <a:pPr indent="0" lvl="0" marL="28575" rtl="0" algn="l">
              <a:lnSpc>
                <a:spcPct val="90000"/>
              </a:lnSpc>
              <a:spcBef>
                <a:spcPts val="563"/>
              </a:spcBef>
              <a:spcAft>
                <a:spcPts val="0"/>
              </a:spcAft>
              <a:buSzPts val="2800"/>
              <a:buNone/>
            </a:pPr>
            <a:r>
              <a:rPr lang="en-US" sz="2000"/>
              <a:t>May experience postpurchase anxiety due to cognitive dissonance</a:t>
            </a:r>
            <a:endParaRPr/>
          </a:p>
        </p:txBody>
      </p:sp>
      <p:sp>
        <p:nvSpPr>
          <p:cNvPr id="130" name="Google Shape;130;p10"/>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Autofit/>
          </a:bodyPr>
          <a:lstStyle/>
          <a:p>
            <a:pPr indent="-128588" lvl="0" marL="257175" marR="0" rtl="0" algn="l">
              <a:lnSpc>
                <a:spcPct val="90000"/>
              </a:lnSpc>
              <a:spcBef>
                <a:spcPts val="563"/>
              </a:spcBef>
              <a:spcAft>
                <a:spcPts val="0"/>
              </a:spcAft>
              <a:buClr>
                <a:schemeClr val="dk1"/>
              </a:buClr>
              <a:buSzPts val="2400"/>
              <a:buFont typeface="Arial"/>
              <a:buNone/>
            </a:pPr>
            <a:r>
              <a:rPr lang="en-US" sz="2400"/>
              <a:t>Marketer</a:t>
            </a:r>
            <a:endParaRPr/>
          </a:p>
        </p:txBody>
      </p:sp>
      <p:sp>
        <p:nvSpPr>
          <p:cNvPr id="131" name="Google Shape;131;p10"/>
          <p:cNvSpPr txBox="1"/>
          <p:nvPr>
            <p:ph idx="4" type="body"/>
          </p:nvPr>
        </p:nvSpPr>
        <p:spPr>
          <a:xfrm>
            <a:off x="6172202" y="2505075"/>
            <a:ext cx="5183188" cy="3684588"/>
          </a:xfrm>
          <a:prstGeom prst="rect">
            <a:avLst/>
          </a:prstGeom>
          <a:noFill/>
          <a:ln>
            <a:noFill/>
          </a:ln>
        </p:spPr>
        <p:txBody>
          <a:bodyPr anchorCtr="0" anchor="t" bIns="45700" lIns="91425" spcFirstLastPara="1" rIns="91425" wrap="square" tIns="45700">
            <a:noAutofit/>
          </a:bodyPr>
          <a:lstStyle/>
          <a:p>
            <a:pPr indent="-228600" lvl="0" marL="257175" marR="0" rtl="0" algn="l">
              <a:lnSpc>
                <a:spcPct val="90000"/>
              </a:lnSpc>
              <a:spcBef>
                <a:spcPts val="563"/>
              </a:spcBef>
              <a:spcAft>
                <a:spcPts val="0"/>
              </a:spcAft>
              <a:buClr>
                <a:schemeClr val="dk1"/>
              </a:buClr>
              <a:buSzPts val="2800"/>
              <a:buFont typeface="Arial"/>
              <a:buChar char="•"/>
            </a:pPr>
            <a:r>
              <a:rPr lang="en-US" sz="2000"/>
              <a:t>New-customer communications that confirm the quality and  popularity of the product</a:t>
            </a:r>
            <a:endParaRPr/>
          </a:p>
          <a:p>
            <a:pPr indent="-228600" lvl="0" marL="257175" marR="0" rtl="0" algn="l">
              <a:lnSpc>
                <a:spcPct val="90000"/>
              </a:lnSpc>
              <a:spcBef>
                <a:spcPts val="563"/>
              </a:spcBef>
              <a:spcAft>
                <a:spcPts val="0"/>
              </a:spcAft>
              <a:buClr>
                <a:schemeClr val="dk1"/>
              </a:buClr>
              <a:buSzPts val="2800"/>
              <a:buFont typeface="Arial"/>
              <a:buChar char="•"/>
            </a:pPr>
            <a:r>
              <a:rPr lang="en-US" sz="2000"/>
              <a:t>Providing personal reinforcement has proven effective with big-ticket items such as automobiles and major appliances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High-involvement Decisions</a:t>
            </a:r>
            <a:endParaRPr/>
          </a:p>
        </p:txBody>
      </p:sp>
      <p:sp>
        <p:nvSpPr>
          <p:cNvPr id="137" name="Google Shape;13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750"/>
              </a:spcBef>
              <a:spcAft>
                <a:spcPts val="0"/>
              </a:spcAft>
              <a:buSzPts val="2800"/>
              <a:buNone/>
            </a:pPr>
            <a:r>
              <a:rPr lang="en-US"/>
              <a:t>High-involvement decisions are important to the buyer</a:t>
            </a:r>
            <a:endParaRPr/>
          </a:p>
          <a:p>
            <a:pPr indent="0" lvl="0" marL="0" rtl="0" algn="l">
              <a:lnSpc>
                <a:spcPct val="90000"/>
              </a:lnSpc>
              <a:spcBef>
                <a:spcPts val="750"/>
              </a:spcBef>
              <a:spcAft>
                <a:spcPts val="0"/>
              </a:spcAft>
              <a:buSzPts val="2800"/>
              <a:buNone/>
            </a:pPr>
            <a:r>
              <a:rPr lang="en-US"/>
              <a:t>These decisions are closely tied to the consumer’s ego and self-image</a:t>
            </a:r>
            <a:endParaRPr/>
          </a:p>
          <a:p>
            <a:pPr indent="0" lvl="0" marL="0" rtl="0" algn="l">
              <a:lnSpc>
                <a:spcPct val="90000"/>
              </a:lnSpc>
              <a:spcBef>
                <a:spcPts val="750"/>
              </a:spcBef>
              <a:spcAft>
                <a:spcPts val="0"/>
              </a:spcAft>
              <a:buSzPts val="2800"/>
              <a:buNone/>
            </a:pPr>
            <a:r>
              <a:rPr lang="en-US"/>
              <a:t>They also involve some risk to the consumer, such as:</a:t>
            </a:r>
            <a:endParaRPr/>
          </a:p>
          <a:p>
            <a:pPr indent="-304800" lvl="0" marL="342900" marR="0" rtl="0" algn="l">
              <a:lnSpc>
                <a:spcPct val="90000"/>
              </a:lnSpc>
              <a:spcBef>
                <a:spcPts val="750"/>
              </a:spcBef>
              <a:spcAft>
                <a:spcPts val="0"/>
              </a:spcAft>
              <a:buClr>
                <a:schemeClr val="dk1"/>
              </a:buClr>
              <a:buSzPts val="2800"/>
              <a:buFont typeface="Arial"/>
              <a:buChar char="•"/>
            </a:pPr>
            <a:r>
              <a:rPr lang="en-US"/>
              <a:t>Financial risk (highly priced items)</a:t>
            </a:r>
            <a:endParaRPr/>
          </a:p>
          <a:p>
            <a:pPr indent="-304800" lvl="0" marL="342900" marR="0" rtl="0" algn="l">
              <a:lnSpc>
                <a:spcPct val="90000"/>
              </a:lnSpc>
              <a:spcBef>
                <a:spcPts val="750"/>
              </a:spcBef>
              <a:spcAft>
                <a:spcPts val="0"/>
              </a:spcAft>
              <a:buClr>
                <a:schemeClr val="dk1"/>
              </a:buClr>
              <a:buSzPts val="2800"/>
              <a:buFont typeface="Arial"/>
              <a:buChar char="•"/>
            </a:pPr>
            <a:r>
              <a:rPr lang="en-US"/>
              <a:t>Social risk (products that are important to the peer group)</a:t>
            </a:r>
            <a:endParaRPr/>
          </a:p>
          <a:p>
            <a:pPr indent="-304800" lvl="0" marL="342900" marR="0" rtl="0" algn="l">
              <a:lnSpc>
                <a:spcPct val="90000"/>
              </a:lnSpc>
              <a:spcBef>
                <a:spcPts val="750"/>
              </a:spcBef>
              <a:spcAft>
                <a:spcPts val="0"/>
              </a:spcAft>
              <a:buClr>
                <a:schemeClr val="dk1"/>
              </a:buClr>
              <a:buSzPts val="2800"/>
              <a:buFont typeface="Arial"/>
              <a:buChar char="•"/>
            </a:pPr>
            <a:r>
              <a:rPr lang="en-US"/>
              <a:t>Psychological risk (the wrong decision may cause the consumer some concern and anxiety)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Low-involvement Decisions</a:t>
            </a:r>
            <a:endParaRPr/>
          </a:p>
        </p:txBody>
      </p:sp>
      <p:sp>
        <p:nvSpPr>
          <p:cNvPr id="144" name="Google Shape;144;p12"/>
          <p:cNvSpPr txBox="1"/>
          <p:nvPr>
            <p:ph idx="1" type="body"/>
          </p:nvPr>
        </p:nvSpPr>
        <p:spPr>
          <a:xfrm>
            <a:off x="838200" y="1825625"/>
            <a:ext cx="5290457"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Straightforward</a:t>
            </a:r>
            <a:endParaRPr/>
          </a:p>
          <a:p>
            <a:pPr indent="-304800" lvl="0" marL="342900" marR="0" rtl="0" algn="l">
              <a:lnSpc>
                <a:spcPct val="90000"/>
              </a:lnSpc>
              <a:spcBef>
                <a:spcPts val="750"/>
              </a:spcBef>
              <a:spcAft>
                <a:spcPts val="0"/>
              </a:spcAft>
              <a:buClr>
                <a:schemeClr val="dk1"/>
              </a:buClr>
              <a:buSzPts val="2800"/>
              <a:buFont typeface="Arial"/>
              <a:buChar char="•"/>
            </a:pPr>
            <a:r>
              <a:rPr lang="en-US"/>
              <a:t>Require little risk</a:t>
            </a:r>
            <a:endParaRPr/>
          </a:p>
          <a:p>
            <a:pPr indent="-304800" lvl="0" marL="342900" marR="0" rtl="0" algn="l">
              <a:lnSpc>
                <a:spcPct val="90000"/>
              </a:lnSpc>
              <a:spcBef>
                <a:spcPts val="750"/>
              </a:spcBef>
              <a:spcAft>
                <a:spcPts val="0"/>
              </a:spcAft>
              <a:buClr>
                <a:schemeClr val="dk1"/>
              </a:buClr>
              <a:buSzPts val="2800"/>
              <a:buFont typeface="Arial"/>
              <a:buChar char="•"/>
            </a:pPr>
            <a:r>
              <a:rPr lang="en-US"/>
              <a:t>Are repetitive and often lead to a habit</a:t>
            </a:r>
            <a:endParaRPr/>
          </a:p>
          <a:p>
            <a:pPr indent="-304800" lvl="0" marL="342900" marR="0" rtl="0" algn="l">
              <a:lnSpc>
                <a:spcPct val="90000"/>
              </a:lnSpc>
              <a:spcBef>
                <a:spcPts val="750"/>
              </a:spcBef>
              <a:spcAft>
                <a:spcPts val="0"/>
              </a:spcAft>
              <a:buClr>
                <a:schemeClr val="dk1"/>
              </a:buClr>
              <a:buSzPts val="2800"/>
              <a:buFont typeface="Arial"/>
              <a:buChar char="•"/>
            </a:pPr>
            <a:r>
              <a:rPr lang="en-US"/>
              <a:t>Not very important to the consumer</a:t>
            </a:r>
            <a:endParaRPr/>
          </a:p>
        </p:txBody>
      </p:sp>
      <p:pic>
        <p:nvPicPr>
          <p:cNvPr descr="Slide 12View of woman from behind, standing in front of grocery store shelves looking at dog food selection." id="145" name="Google Shape;145;p12"/>
          <p:cNvPicPr preferRelativeResize="0"/>
          <p:nvPr/>
        </p:nvPicPr>
        <p:blipFill rotWithShape="1">
          <a:blip r:embed="rId3">
            <a:alphaModFix/>
          </a:blip>
          <a:srcRect b="0" l="0" r="0" t="0"/>
          <a:stretch/>
        </p:blipFill>
        <p:spPr>
          <a:xfrm>
            <a:off x="6096000" y="1825625"/>
            <a:ext cx="5290457" cy="396784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Factors Influencing Consumer Decisions and the Consumer Decision-Making Process</a:t>
            </a:r>
            <a:endParaRPr/>
          </a:p>
        </p:txBody>
      </p:sp>
      <p:pic>
        <p:nvPicPr>
          <p:cNvPr descr="Factors Influencing Consumer Decisions. Situational factors: buying task, marketing offerings. Personal factors: demographics, life stage, lifestyle, personality. Psychological factors: motivation, learning, attitude and beliefs. Social factors: culture/subculture, social class, family, reference groups. The consumer decision-making process: 1, Need recognition. 2, Information searching and processing. 3, Identification and evaluation of alternatives. 4, purchase decision. 5, post-purchase behavior." id="152" name="Google Shape;152;p13"/>
          <p:cNvPicPr preferRelativeResize="0"/>
          <p:nvPr/>
        </p:nvPicPr>
        <p:blipFill rotWithShape="1">
          <a:blip r:embed="rId3">
            <a:alphaModFix/>
          </a:blip>
          <a:srcRect b="0" l="0" r="0" t="0"/>
          <a:stretch/>
        </p:blipFill>
        <p:spPr>
          <a:xfrm>
            <a:off x="2136850" y="1690690"/>
            <a:ext cx="7918300" cy="503748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Demographics</a:t>
            </a:r>
            <a:endParaRPr/>
          </a:p>
        </p:txBody>
      </p:sp>
      <p:sp>
        <p:nvSpPr>
          <p:cNvPr id="159" name="Google Shape;15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The Millennial Generation, Born: 1980 to 1997</a:t>
            </a:r>
            <a:endParaRPr/>
          </a:p>
          <a:p>
            <a:pPr indent="-304800" lvl="0" marL="342900" marR="0" rtl="0" algn="l">
              <a:lnSpc>
                <a:spcPct val="90000"/>
              </a:lnSpc>
              <a:spcBef>
                <a:spcPts val="750"/>
              </a:spcBef>
              <a:spcAft>
                <a:spcPts val="0"/>
              </a:spcAft>
              <a:buClr>
                <a:schemeClr val="dk1"/>
              </a:buClr>
              <a:buSzPts val="2800"/>
              <a:buFont typeface="Arial"/>
              <a:buChar char="•"/>
            </a:pPr>
            <a:r>
              <a:rPr lang="en-US"/>
              <a:t>Generation X, Born: 1965 to 1980</a:t>
            </a:r>
            <a:endParaRPr/>
          </a:p>
          <a:p>
            <a:pPr indent="-304800" lvl="0" marL="342900" marR="0" rtl="0" algn="l">
              <a:lnSpc>
                <a:spcPct val="90000"/>
              </a:lnSpc>
              <a:spcBef>
                <a:spcPts val="750"/>
              </a:spcBef>
              <a:spcAft>
                <a:spcPts val="0"/>
              </a:spcAft>
              <a:buClr>
                <a:schemeClr val="dk1"/>
              </a:buClr>
              <a:buSzPts val="2800"/>
              <a:buFont typeface="Arial"/>
              <a:buChar char="•"/>
            </a:pPr>
            <a:r>
              <a:rPr lang="en-US"/>
              <a:t>The Baby Boom Generation, Born: 1946 to 1964</a:t>
            </a:r>
            <a:endParaRPr/>
          </a:p>
          <a:p>
            <a:pPr indent="-304800" lvl="0" marL="342900" marR="0" rtl="0" algn="l">
              <a:lnSpc>
                <a:spcPct val="90000"/>
              </a:lnSpc>
              <a:spcBef>
                <a:spcPts val="750"/>
              </a:spcBef>
              <a:spcAft>
                <a:spcPts val="0"/>
              </a:spcAft>
              <a:buClr>
                <a:schemeClr val="dk1"/>
              </a:buClr>
              <a:buSzPts val="2800"/>
              <a:buFont typeface="Arial"/>
              <a:buChar char="•"/>
            </a:pPr>
            <a:r>
              <a:rPr lang="en-US"/>
              <a:t>The Silent Generation, Born: 1928 to 1945</a:t>
            </a:r>
            <a:endParaRPr/>
          </a:p>
          <a:p>
            <a:pPr indent="-304800" lvl="0" marL="342900" marR="0" rtl="0" algn="l">
              <a:lnSpc>
                <a:spcPct val="90000"/>
              </a:lnSpc>
              <a:spcBef>
                <a:spcPts val="750"/>
              </a:spcBef>
              <a:spcAft>
                <a:spcPts val="0"/>
              </a:spcAft>
              <a:buClr>
                <a:schemeClr val="dk1"/>
              </a:buClr>
              <a:buSzPts val="2800"/>
              <a:buFont typeface="Arial"/>
              <a:buChar char="•"/>
            </a:pPr>
            <a:r>
              <a:rPr lang="en-US"/>
              <a:t>The Greatest Generation, Born: Before 1928</a:t>
            </a:r>
            <a:endParaRPr/>
          </a:p>
          <a:p>
            <a:pPr indent="-127000" lvl="0" marL="342900" marR="0" rtl="0" algn="l">
              <a:lnSpc>
                <a:spcPct val="90000"/>
              </a:lnSpc>
              <a:spcBef>
                <a:spcPts val="750"/>
              </a:spcBef>
              <a:spcAft>
                <a:spcPts val="0"/>
              </a:spcAft>
              <a:buClr>
                <a:schemeClr val="dk1"/>
              </a:buClr>
              <a:buSzPts val="2800"/>
              <a:buFont typeface="Arial"/>
              <a:buNone/>
            </a:pPr>
            <a:r>
              <a:t/>
            </a:r>
            <a:endParaRPr/>
          </a:p>
          <a:p>
            <a:pPr indent="0" lvl="0" marL="28575" rtl="0" algn="l">
              <a:lnSpc>
                <a:spcPct val="90000"/>
              </a:lnSpc>
              <a:spcBef>
                <a:spcPts val="750"/>
              </a:spcBef>
              <a:spcAft>
                <a:spcPts val="0"/>
              </a:spcAft>
              <a:buSzPts val="2800"/>
              <a:buNone/>
            </a:pPr>
            <a:r>
              <a:rPr lang="en-US"/>
              <a:t>Note that no chronological end point has been set for the Millenials. For the purpose of following a cleanly defined group, they’re defined as those aged 19 to 35 in 2016.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5"/>
          <p:cNvSpPr txBox="1"/>
          <p:nvPr>
            <p:ph type="title"/>
          </p:nvPr>
        </p:nvSpPr>
        <p:spPr>
          <a:xfrm>
            <a:off x="2152650" y="1"/>
            <a:ext cx="78867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Psychological Factors</a:t>
            </a:r>
            <a:endParaRPr/>
          </a:p>
        </p:txBody>
      </p:sp>
      <p:pic>
        <p:nvPicPr>
          <p:cNvPr descr="Pyramid graphic depicting Maslow's Hierarchy of Needs. At the bottom is physiological needs; next is safety and security; next is love and belonging; next is esteem; at the top is self-actualization." id="166" name="Google Shape;166;p15"/>
          <p:cNvPicPr preferRelativeResize="0"/>
          <p:nvPr/>
        </p:nvPicPr>
        <p:blipFill rotWithShape="1">
          <a:blip r:embed="rId3">
            <a:alphaModFix/>
          </a:blip>
          <a:srcRect b="0" l="0" r="0" t="0"/>
          <a:stretch/>
        </p:blipFill>
        <p:spPr>
          <a:xfrm>
            <a:off x="1524000" y="889001"/>
            <a:ext cx="9144000" cy="622458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Social Factors: Class</a:t>
            </a:r>
            <a:endParaRPr/>
          </a:p>
        </p:txBody>
      </p:sp>
      <p:sp>
        <p:nvSpPr>
          <p:cNvPr id="173" name="Google Shape;17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Upper Class makes up 1% of the population. </a:t>
            </a:r>
            <a:endParaRPr/>
          </a:p>
          <a:p>
            <a:pPr indent="-304800" lvl="0" marL="342900" marR="0" rtl="0" algn="l">
              <a:lnSpc>
                <a:spcPct val="90000"/>
              </a:lnSpc>
              <a:spcBef>
                <a:spcPts val="750"/>
              </a:spcBef>
              <a:spcAft>
                <a:spcPts val="0"/>
              </a:spcAft>
              <a:buClr>
                <a:schemeClr val="dk1"/>
              </a:buClr>
              <a:buSzPts val="2800"/>
              <a:buFont typeface="Arial"/>
              <a:buChar char="•"/>
            </a:pPr>
            <a:r>
              <a:rPr lang="en-US"/>
              <a:t>Upper Middle Class makes up 15% of the population. </a:t>
            </a:r>
            <a:endParaRPr/>
          </a:p>
          <a:p>
            <a:pPr indent="-304800" lvl="0" marL="342900" marR="0" rtl="0" algn="l">
              <a:lnSpc>
                <a:spcPct val="90000"/>
              </a:lnSpc>
              <a:spcBef>
                <a:spcPts val="750"/>
              </a:spcBef>
              <a:spcAft>
                <a:spcPts val="0"/>
              </a:spcAft>
              <a:buClr>
                <a:schemeClr val="dk1"/>
              </a:buClr>
              <a:buSzPts val="2800"/>
              <a:buFont typeface="Arial"/>
              <a:buChar char="•"/>
            </a:pPr>
            <a:r>
              <a:rPr lang="en-US"/>
              <a:t>Lower Middle Class makes up 32% of the population. </a:t>
            </a:r>
            <a:endParaRPr/>
          </a:p>
          <a:p>
            <a:pPr indent="-304800" lvl="0" marL="342900" marR="0" rtl="0" algn="l">
              <a:lnSpc>
                <a:spcPct val="90000"/>
              </a:lnSpc>
              <a:spcBef>
                <a:spcPts val="750"/>
              </a:spcBef>
              <a:spcAft>
                <a:spcPts val="0"/>
              </a:spcAft>
              <a:buClr>
                <a:schemeClr val="dk1"/>
              </a:buClr>
              <a:buSzPts val="2800"/>
              <a:buFont typeface="Arial"/>
              <a:buChar char="•"/>
            </a:pPr>
            <a:r>
              <a:rPr lang="en-US"/>
              <a:t>Working class makes up 32% of the population. </a:t>
            </a:r>
            <a:endParaRPr/>
          </a:p>
          <a:p>
            <a:pPr indent="-304800" lvl="0" marL="342900" marR="0" rtl="0" algn="l">
              <a:lnSpc>
                <a:spcPct val="90000"/>
              </a:lnSpc>
              <a:spcBef>
                <a:spcPts val="750"/>
              </a:spcBef>
              <a:spcAft>
                <a:spcPts val="0"/>
              </a:spcAft>
              <a:buClr>
                <a:schemeClr val="dk1"/>
              </a:buClr>
              <a:buSzPts val="2800"/>
              <a:buFont typeface="Arial"/>
              <a:buChar char="•"/>
            </a:pPr>
            <a:r>
              <a:rPr lang="en-US"/>
              <a:t>Lower Class makes up 20% of the population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7"/>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Reference Groups</a:t>
            </a:r>
            <a:endParaRPr/>
          </a:p>
        </p:txBody>
      </p:sp>
      <p:sp>
        <p:nvSpPr>
          <p:cNvPr id="180" name="Google Shape;180;p17"/>
          <p:cNvSpPr txBox="1"/>
          <p:nvPr>
            <p:ph idx="1" type="body"/>
          </p:nvPr>
        </p:nvSpPr>
        <p:spPr>
          <a:xfrm>
            <a:off x="838200" y="1825625"/>
            <a:ext cx="53340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750"/>
              </a:spcBef>
              <a:spcAft>
                <a:spcPts val="0"/>
              </a:spcAft>
              <a:buSzPts val="2800"/>
              <a:buNone/>
            </a:pPr>
            <a:r>
              <a:rPr lang="en-US"/>
              <a:t>Reference groups are formal or informal groups with opinion leaders</a:t>
            </a:r>
            <a:endParaRPr/>
          </a:p>
          <a:p>
            <a:pPr indent="0" lvl="0" marL="0" rtl="0" algn="l">
              <a:lnSpc>
                <a:spcPct val="90000"/>
              </a:lnSpc>
              <a:spcBef>
                <a:spcPts val="750"/>
              </a:spcBef>
              <a:spcAft>
                <a:spcPts val="0"/>
              </a:spcAft>
              <a:buSzPts val="2800"/>
              <a:buNone/>
            </a:pPr>
            <a:r>
              <a:rPr lang="en-US"/>
              <a:t>Can influence an individual in several ways:</a:t>
            </a:r>
            <a:endParaRPr/>
          </a:p>
          <a:p>
            <a:pPr indent="-304800" lvl="0" marL="342900" rtl="0" algn="l">
              <a:lnSpc>
                <a:spcPct val="90000"/>
              </a:lnSpc>
              <a:spcBef>
                <a:spcPts val="750"/>
              </a:spcBef>
              <a:spcAft>
                <a:spcPts val="0"/>
              </a:spcAft>
              <a:buSzPts val="2800"/>
              <a:buChar char="•"/>
            </a:pPr>
            <a:r>
              <a:rPr lang="en-US"/>
              <a:t>Role expectations</a:t>
            </a:r>
            <a:endParaRPr/>
          </a:p>
          <a:p>
            <a:pPr indent="-304800" lvl="0" marL="342900" rtl="0" algn="l">
              <a:lnSpc>
                <a:spcPct val="90000"/>
              </a:lnSpc>
              <a:spcBef>
                <a:spcPts val="750"/>
              </a:spcBef>
              <a:spcAft>
                <a:spcPts val="0"/>
              </a:spcAft>
              <a:buSzPts val="2800"/>
              <a:buChar char="•"/>
            </a:pPr>
            <a:r>
              <a:rPr lang="en-US"/>
              <a:t>Conformity</a:t>
            </a:r>
            <a:endParaRPr/>
          </a:p>
          <a:p>
            <a:pPr indent="-304800" lvl="0" marL="342900" rtl="0" algn="l">
              <a:lnSpc>
                <a:spcPct val="90000"/>
              </a:lnSpc>
              <a:spcBef>
                <a:spcPts val="750"/>
              </a:spcBef>
              <a:spcAft>
                <a:spcPts val="0"/>
              </a:spcAft>
              <a:buSzPts val="2800"/>
              <a:buChar char="•"/>
            </a:pPr>
            <a:r>
              <a:rPr lang="en-US"/>
              <a:t>Group communications through opinion leaders</a:t>
            </a:r>
            <a:endParaRPr/>
          </a:p>
          <a:p>
            <a:pPr indent="-304800" lvl="0" marL="342900" rtl="0" algn="l">
              <a:lnSpc>
                <a:spcPct val="90000"/>
              </a:lnSpc>
              <a:spcBef>
                <a:spcPts val="750"/>
              </a:spcBef>
              <a:spcAft>
                <a:spcPts val="0"/>
              </a:spcAft>
              <a:buSzPts val="2800"/>
              <a:buChar char="•"/>
            </a:pPr>
            <a:r>
              <a:rPr lang="en-US"/>
              <a:t>Word of mouth influence</a:t>
            </a:r>
            <a:endParaRPr/>
          </a:p>
          <a:p>
            <a:pPr indent="-127000" lvl="0" marL="342900" marR="0" rtl="0" algn="l">
              <a:lnSpc>
                <a:spcPct val="90000"/>
              </a:lnSpc>
              <a:spcBef>
                <a:spcPts val="750"/>
              </a:spcBef>
              <a:spcAft>
                <a:spcPts val="0"/>
              </a:spcAft>
              <a:buClr>
                <a:schemeClr val="dk1"/>
              </a:buClr>
              <a:buSzPts val="2800"/>
              <a:buFont typeface="Arial"/>
              <a:buNone/>
            </a:pPr>
            <a:r>
              <a:t/>
            </a:r>
            <a:endParaRPr/>
          </a:p>
        </p:txBody>
      </p:sp>
      <p:pic>
        <p:nvPicPr>
          <p:cNvPr descr="A group of skateboarders watch as another skateboarder performs an aerial stunt." id="181" name="Google Shape;181;p17"/>
          <p:cNvPicPr preferRelativeResize="0"/>
          <p:nvPr/>
        </p:nvPicPr>
        <p:blipFill rotWithShape="1">
          <a:blip r:embed="rId3">
            <a:alphaModFix/>
          </a:blip>
          <a:srcRect b="0" l="0" r="0" t="0"/>
          <a:stretch/>
        </p:blipFill>
        <p:spPr>
          <a:xfrm>
            <a:off x="6172200" y="1825625"/>
            <a:ext cx="5181600" cy="2914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B2B Decision Making Stages</a:t>
            </a:r>
            <a:endParaRPr/>
          </a:p>
        </p:txBody>
      </p:sp>
      <p:pic>
        <p:nvPicPr>
          <p:cNvPr descr="Stages of Organizational Buying. 1, Problem Recognition. 2, Need description. 3, Product Specification. 4, Supplier Search. 5, Proposal Solicitation. 6, Supplier Selection. 7, Order-Routine Specification. 8, Performance review." id="188" name="Google Shape;188;p18"/>
          <p:cNvPicPr preferRelativeResize="0"/>
          <p:nvPr/>
        </p:nvPicPr>
        <p:blipFill rotWithShape="1">
          <a:blip r:embed="rId3">
            <a:alphaModFix/>
          </a:blip>
          <a:srcRect b="0" l="0" r="0" t="0"/>
          <a:stretch/>
        </p:blipFill>
        <p:spPr>
          <a:xfrm>
            <a:off x="7520135" y="0"/>
            <a:ext cx="3833665" cy="6858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Low-involvement B2B Decisions</a:t>
            </a:r>
            <a:endParaRPr/>
          </a:p>
        </p:txBody>
      </p:sp>
      <p:sp>
        <p:nvSpPr>
          <p:cNvPr id="194" name="Google Shape;19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For rebuys and routine purchases, organizations use abridged versions of the process</a:t>
            </a:r>
            <a:endParaRPr/>
          </a:p>
          <a:p>
            <a:pPr indent="-304800" lvl="0" marL="342900" marR="0" rtl="0" algn="l">
              <a:lnSpc>
                <a:spcPct val="90000"/>
              </a:lnSpc>
              <a:spcBef>
                <a:spcPts val="750"/>
              </a:spcBef>
              <a:spcAft>
                <a:spcPts val="0"/>
              </a:spcAft>
              <a:buClr>
                <a:schemeClr val="dk1"/>
              </a:buClr>
              <a:buSzPts val="2800"/>
              <a:buFont typeface="Arial"/>
              <a:buChar char="•"/>
            </a:pPr>
            <a:r>
              <a:rPr lang="en-US"/>
              <a:t>Some stages may be bypassed completely when a supplier has already been selected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0"/>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Considerations in B2B Marketing</a:t>
            </a:r>
            <a:endParaRPr/>
          </a:p>
        </p:txBody>
      </p:sp>
      <p:sp>
        <p:nvSpPr>
          <p:cNvPr id="200" name="Google Shape;200;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04800" lvl="0" marL="342900" rtl="0" algn="l">
              <a:lnSpc>
                <a:spcPct val="90000"/>
              </a:lnSpc>
              <a:spcBef>
                <a:spcPts val="750"/>
              </a:spcBef>
              <a:spcAft>
                <a:spcPts val="0"/>
              </a:spcAft>
              <a:buSzPts val="2800"/>
              <a:buChar char="•"/>
            </a:pPr>
            <a:r>
              <a:rPr lang="en-US"/>
              <a:t>Who will take part in the buying process?</a:t>
            </a:r>
            <a:endParaRPr/>
          </a:p>
          <a:p>
            <a:pPr indent="-304800" lvl="0" marL="342900" rtl="0" algn="l">
              <a:lnSpc>
                <a:spcPct val="90000"/>
              </a:lnSpc>
              <a:spcBef>
                <a:spcPts val="750"/>
              </a:spcBef>
              <a:spcAft>
                <a:spcPts val="0"/>
              </a:spcAft>
              <a:buSzPts val="2800"/>
              <a:buChar char="•"/>
            </a:pPr>
            <a:r>
              <a:rPr lang="en-US"/>
              <a:t>What criteria does each person use to evaluate prospective suppliers?</a:t>
            </a:r>
            <a:endParaRPr/>
          </a:p>
          <a:p>
            <a:pPr indent="-304800" lvl="0" marL="342900" rtl="0" algn="l">
              <a:lnSpc>
                <a:spcPct val="90000"/>
              </a:lnSpc>
              <a:spcBef>
                <a:spcPts val="750"/>
              </a:spcBef>
              <a:spcAft>
                <a:spcPts val="0"/>
              </a:spcAft>
              <a:buSzPts val="2800"/>
              <a:buChar char="•"/>
            </a:pPr>
            <a:r>
              <a:rPr lang="en-US"/>
              <a:t>What level of influence does each member of the process have?</a:t>
            </a:r>
            <a:endParaRPr/>
          </a:p>
          <a:p>
            <a:pPr indent="-304800" lvl="0" marL="342900" rtl="0" algn="l">
              <a:lnSpc>
                <a:spcPct val="90000"/>
              </a:lnSpc>
              <a:spcBef>
                <a:spcPts val="750"/>
              </a:spcBef>
              <a:spcAft>
                <a:spcPts val="0"/>
              </a:spcAft>
              <a:buSzPts val="2800"/>
              <a:buChar char="•"/>
            </a:pPr>
            <a:r>
              <a:rPr lang="en-US"/>
              <a:t>What interpersonal, psychological, or other factors about the decision team might influence this buying process?</a:t>
            </a:r>
            <a:endParaRPr/>
          </a:p>
          <a:p>
            <a:pPr indent="-304800" lvl="0" marL="342900" rtl="0" algn="l">
              <a:lnSpc>
                <a:spcPct val="90000"/>
              </a:lnSpc>
              <a:spcBef>
                <a:spcPts val="750"/>
              </a:spcBef>
              <a:spcAft>
                <a:spcPts val="0"/>
              </a:spcAft>
              <a:buSzPts val="2800"/>
              <a:buChar char="•"/>
            </a:pPr>
            <a:r>
              <a:rPr lang="en-US"/>
              <a:t>How well do the individuals work together as a group?</a:t>
            </a:r>
            <a:endParaRPr/>
          </a:p>
          <a:p>
            <a:pPr indent="-304800" lvl="0" marL="342900" rtl="0" algn="l">
              <a:lnSpc>
                <a:spcPct val="90000"/>
              </a:lnSpc>
              <a:spcBef>
                <a:spcPts val="750"/>
              </a:spcBef>
              <a:spcAft>
                <a:spcPts val="0"/>
              </a:spcAft>
              <a:buSzPts val="2800"/>
              <a:buChar char="•"/>
            </a:pPr>
            <a:r>
              <a:rPr lang="en-US"/>
              <a:t>Who makes the final decision to buy?</a:t>
            </a:r>
            <a:endParaRPr/>
          </a:p>
          <a:p>
            <a:pPr indent="-127000" lvl="0" marL="342900" marR="0" rtl="0" algn="l">
              <a:lnSpc>
                <a:spcPct val="90000"/>
              </a:lnSpc>
              <a:spcBef>
                <a:spcPts val="750"/>
              </a:spcBef>
              <a:spcAft>
                <a:spcPts val="0"/>
              </a:spcAft>
              <a:buClr>
                <a:schemeClr val="dk1"/>
              </a:buClr>
              <a:buSzPts val="2800"/>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Complexity of B2B Buying</a:t>
            </a:r>
            <a:endParaRPr/>
          </a:p>
        </p:txBody>
      </p:sp>
      <p:sp>
        <p:nvSpPr>
          <p:cNvPr id="206" name="Google Shape;206;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Timing</a:t>
            </a:r>
            <a:endParaRPr/>
          </a:p>
          <a:p>
            <a:pPr indent="-304800" lvl="0" marL="342900" marR="0" rtl="0" algn="l">
              <a:lnSpc>
                <a:spcPct val="90000"/>
              </a:lnSpc>
              <a:spcBef>
                <a:spcPts val="750"/>
              </a:spcBef>
              <a:spcAft>
                <a:spcPts val="0"/>
              </a:spcAft>
              <a:buClr>
                <a:schemeClr val="dk1"/>
              </a:buClr>
              <a:buSzPts val="2800"/>
              <a:buFont typeface="Arial"/>
              <a:buChar char="•"/>
            </a:pPr>
            <a:r>
              <a:rPr lang="en-US"/>
              <a:t>Technical specifications of the physical products, or complex technical specifications associated with services, timing, and terms of delivery and payment.</a:t>
            </a:r>
            <a:endParaRPr/>
          </a:p>
          <a:p>
            <a:pPr indent="-304800" lvl="0" marL="342900" marR="0" rtl="0" algn="l">
              <a:lnSpc>
                <a:spcPct val="90000"/>
              </a:lnSpc>
              <a:spcBef>
                <a:spcPts val="750"/>
              </a:spcBef>
              <a:spcAft>
                <a:spcPts val="0"/>
              </a:spcAft>
              <a:buClr>
                <a:schemeClr val="dk1"/>
              </a:buClr>
              <a:buSzPts val="2800"/>
              <a:buFont typeface="Arial"/>
              <a:buChar char="•"/>
            </a:pPr>
            <a:r>
              <a:rPr lang="en-US"/>
              <a:t>Organizational</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Unique Factors that Shape B2B</a:t>
            </a:r>
            <a:endParaRPr/>
          </a:p>
        </p:txBody>
      </p:sp>
      <p:sp>
        <p:nvSpPr>
          <p:cNvPr id="213" name="Google Shape;213;p22"/>
          <p:cNvSpPr txBox="1"/>
          <p:nvPr>
            <p:ph idx="1" type="body"/>
          </p:nvPr>
        </p:nvSpPr>
        <p:spPr>
          <a:xfrm>
            <a:off x="838200" y="1825625"/>
            <a:ext cx="53340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750"/>
              </a:spcBef>
              <a:spcAft>
                <a:spcPts val="0"/>
              </a:spcAft>
              <a:buSzPts val="2800"/>
              <a:buNone/>
            </a:pPr>
            <a:r>
              <a:rPr lang="en-US"/>
              <a:t>B2B purchasing decisions are influenced by a variety of factors that are unique to organizations, the people they employ, and the broader business environment</a:t>
            </a:r>
            <a:endParaRPr/>
          </a:p>
        </p:txBody>
      </p:sp>
      <p:pic>
        <p:nvPicPr>
          <p:cNvPr descr="An individual sitting on a couch, writing on a piece of paper. " id="214" name="Google Shape;214;p22"/>
          <p:cNvPicPr preferRelativeResize="0"/>
          <p:nvPr/>
        </p:nvPicPr>
        <p:blipFill rotWithShape="1">
          <a:blip r:embed="rId3">
            <a:alphaModFix/>
          </a:blip>
          <a:srcRect b="0" l="0" r="0" t="0"/>
          <a:stretch/>
        </p:blipFill>
        <p:spPr>
          <a:xfrm>
            <a:off x="6172200" y="1825625"/>
            <a:ext cx="5181600" cy="343281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Practice Questions</a:t>
            </a:r>
            <a:endParaRPr/>
          </a:p>
        </p:txBody>
      </p:sp>
      <p:sp>
        <p:nvSpPr>
          <p:cNvPr id="221" name="Google Shape;2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750"/>
              </a:spcBef>
              <a:spcAft>
                <a:spcPts val="0"/>
              </a:spcAft>
              <a:buSzPts val="2800"/>
              <a:buNone/>
            </a:pPr>
            <a:r>
              <a:rPr lang="en-US"/>
              <a:t>Compare and contrast the buying process for </a:t>
            </a:r>
            <a:endParaRPr/>
          </a:p>
          <a:p>
            <a:pPr indent="-304800" lvl="0" marL="342900" marR="0" rtl="0" algn="l">
              <a:lnSpc>
                <a:spcPct val="90000"/>
              </a:lnSpc>
              <a:spcBef>
                <a:spcPts val="750"/>
              </a:spcBef>
              <a:spcAft>
                <a:spcPts val="0"/>
              </a:spcAft>
              <a:buClr>
                <a:schemeClr val="dk1"/>
              </a:buClr>
              <a:buSzPts val="2800"/>
              <a:buFont typeface="Arial"/>
              <a:buChar char="•"/>
            </a:pPr>
            <a:r>
              <a:rPr lang="en-US"/>
              <a:t>A car</a:t>
            </a:r>
            <a:endParaRPr/>
          </a:p>
          <a:p>
            <a:pPr indent="-304800" lvl="0" marL="342900" marR="0" rtl="0" algn="l">
              <a:lnSpc>
                <a:spcPct val="90000"/>
              </a:lnSpc>
              <a:spcBef>
                <a:spcPts val="750"/>
              </a:spcBef>
              <a:spcAft>
                <a:spcPts val="0"/>
              </a:spcAft>
              <a:buClr>
                <a:schemeClr val="dk1"/>
              </a:buClr>
              <a:buSzPts val="2800"/>
              <a:buFont typeface="Arial"/>
              <a:buChar char="•"/>
            </a:pPr>
            <a:r>
              <a:rPr lang="en-US"/>
              <a:t>A bag of rice</a:t>
            </a:r>
            <a:endParaRPr/>
          </a:p>
          <a:p>
            <a:pPr indent="-304800" lvl="0" marL="342900" marR="0" rtl="0" algn="l">
              <a:lnSpc>
                <a:spcPct val="90000"/>
              </a:lnSpc>
              <a:spcBef>
                <a:spcPts val="750"/>
              </a:spcBef>
              <a:spcAft>
                <a:spcPts val="0"/>
              </a:spcAft>
              <a:buClr>
                <a:schemeClr val="dk1"/>
              </a:buClr>
              <a:buSzPts val="2800"/>
              <a:buFont typeface="Arial"/>
              <a:buChar char="•"/>
            </a:pPr>
            <a:r>
              <a:rPr lang="en-US"/>
              <a:t>A large, expensive photocopier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entury Gothic"/>
              <a:buNone/>
            </a:pPr>
            <a:r>
              <a:rPr lang="en-US"/>
              <a:t>Quick Review</a:t>
            </a:r>
            <a:endParaRPr/>
          </a:p>
        </p:txBody>
      </p:sp>
      <p:sp>
        <p:nvSpPr>
          <p:cNvPr id="228" name="Google Shape;228;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04800" lvl="0" marL="342900" marR="0" rtl="0" algn="l">
              <a:lnSpc>
                <a:spcPct val="90000"/>
              </a:lnSpc>
              <a:spcBef>
                <a:spcPts val="750"/>
              </a:spcBef>
              <a:spcAft>
                <a:spcPts val="0"/>
              </a:spcAft>
              <a:buClr>
                <a:schemeClr val="dk1"/>
              </a:buClr>
              <a:buSzPts val="2800"/>
              <a:buFont typeface="Arial"/>
              <a:buChar char="•"/>
            </a:pPr>
            <a:r>
              <a:rPr lang="en-US"/>
              <a:t>What are the stages of the consumer buying process?</a:t>
            </a:r>
            <a:endParaRPr/>
          </a:p>
          <a:p>
            <a:pPr indent="-304800" lvl="0" marL="342900" marR="0" rtl="0" algn="l">
              <a:lnSpc>
                <a:spcPct val="90000"/>
              </a:lnSpc>
              <a:spcBef>
                <a:spcPts val="750"/>
              </a:spcBef>
              <a:spcAft>
                <a:spcPts val="0"/>
              </a:spcAft>
              <a:buClr>
                <a:schemeClr val="dk1"/>
              </a:buClr>
              <a:buSzPts val="2800"/>
              <a:buFont typeface="Arial"/>
              <a:buChar char="•"/>
            </a:pPr>
            <a:r>
              <a:rPr lang="en-US"/>
              <a:t>Contrast the buying processes for low-involvement and high-involvement decisions?</a:t>
            </a:r>
            <a:endParaRPr/>
          </a:p>
          <a:p>
            <a:pPr indent="-304800" lvl="0" marL="342900" marR="0" rtl="0" algn="l">
              <a:lnSpc>
                <a:spcPct val="90000"/>
              </a:lnSpc>
              <a:spcBef>
                <a:spcPts val="750"/>
              </a:spcBef>
              <a:spcAft>
                <a:spcPts val="0"/>
              </a:spcAft>
              <a:buClr>
                <a:schemeClr val="dk1"/>
              </a:buClr>
              <a:buSzPts val="2800"/>
              <a:buFont typeface="Arial"/>
              <a:buChar char="•"/>
            </a:pPr>
            <a:r>
              <a:rPr lang="en-US"/>
              <a:t>What are the major factors that influence consumer purchasing decisions?</a:t>
            </a:r>
            <a:endParaRPr/>
          </a:p>
          <a:p>
            <a:pPr indent="-304800" lvl="0" marL="342900" marR="0" rtl="0" algn="l">
              <a:lnSpc>
                <a:spcPct val="90000"/>
              </a:lnSpc>
              <a:spcBef>
                <a:spcPts val="750"/>
              </a:spcBef>
              <a:spcAft>
                <a:spcPts val="0"/>
              </a:spcAft>
              <a:buClr>
                <a:schemeClr val="dk1"/>
              </a:buClr>
              <a:buSzPts val="2800"/>
              <a:buFont typeface="Arial"/>
              <a:buChar char="•"/>
            </a:pPr>
            <a:r>
              <a:rPr lang="en-US"/>
              <a:t>What are the B2B buying process and key factors influencing B2B purchasing decisions?</a:t>
            </a:r>
            <a:endParaRPr/>
          </a:p>
          <a:p>
            <a:pPr indent="-127000" lvl="0" marL="342900" marR="0" rtl="0" algn="l">
              <a:lnSpc>
                <a:spcPct val="90000"/>
              </a:lnSpc>
              <a:spcBef>
                <a:spcPts val="750"/>
              </a:spcBef>
              <a:spcAft>
                <a:spcPts val="0"/>
              </a:spcAft>
              <a:buClr>
                <a:schemeClr val="dk1"/>
              </a:buClr>
              <a:buSzPts val="2800"/>
              <a:buFont typeface="Arial"/>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keting">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2017-01-24T14:54:50Z</dcterms:created>
  <dc:creator>Sarah Liebman</dc:creator>
</cp:coreProperties>
</file>