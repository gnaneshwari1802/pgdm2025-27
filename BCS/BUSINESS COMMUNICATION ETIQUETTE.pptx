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tAQTwj+xEiGvLf1Z8gs/J2G1C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g25db082e654_0_6"/>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g25db082e654_0_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g25db082e654_0_6"/>
          <p:cNvSpPr txBox="1"/>
          <p:nvPr>
            <p:ph idx="11" type="ftr"/>
          </p:nvPr>
        </p:nvSpPr>
        <p:spPr>
          <a:xfrm>
            <a:off x="851848"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g25db082e654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 name="Shape 16"/>
        <p:cNvGrpSpPr/>
        <p:nvPr/>
      </p:nvGrpSpPr>
      <p:grpSpPr>
        <a:xfrm>
          <a:off x="0" y="0"/>
          <a:ext cx="0" cy="0"/>
          <a:chOff x="0" y="0"/>
          <a:chExt cx="0" cy="0"/>
        </a:xfrm>
      </p:grpSpPr>
      <p:sp>
        <p:nvSpPr>
          <p:cNvPr id="17" name="Google Shape;17;g25db082e654_0_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25db082e654_0_1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g25db082e654_0_11"/>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g25db082e654_0_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g25db082e654_0_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25db082e654_0_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g25db082e654_0_16"/>
          <p:cNvSpPr txBox="1"/>
          <p:nvPr>
            <p:ph idx="11" type="ftr"/>
          </p:nvPr>
        </p:nvSpPr>
        <p:spPr>
          <a:xfrm>
            <a:off x="838200" y="6335689"/>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g25db082e654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g25db082e654_0_2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g25db082e654_0_2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9" name="Google Shape;29;g25db082e654_0_2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g25db082e654_0_21"/>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g25db082e654_0_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g25db082e654_0_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g25db082e654_0_27"/>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g25db082e654_0_27"/>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g25db082e654_0_27"/>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g25db082e654_0_27"/>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g25db082e654_0_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g25db082e654_0_3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g25db082e654_0_3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g25db082e654_0_3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g25db082e654_0_3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g25db082e654_0_3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g25db082e654_0_34"/>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g25db082e654_0_34"/>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g25db082e654_0_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25db082e654_0_43"/>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g25db082e654_0_43"/>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g25db082e654_0_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g25db082e654_0_4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g25db082e654_0_47"/>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g25db082e654_0_47"/>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g25db082e654_0_47"/>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g25db082e654_0_47"/>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g25db082e654_0_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g25db082e654_0_5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g25db082e654_0_54"/>
          <p:cNvSpPr/>
          <p:nvPr>
            <p:ph idx="2" type="pic"/>
          </p:nvPr>
        </p:nvSpPr>
        <p:spPr>
          <a:xfrm>
            <a:off x="5183188" y="987425"/>
            <a:ext cx="6172200" cy="4873500"/>
          </a:xfrm>
          <a:prstGeom prst="rect">
            <a:avLst/>
          </a:prstGeom>
          <a:noFill/>
          <a:ln>
            <a:noFill/>
          </a:ln>
        </p:spPr>
      </p:sp>
      <p:sp>
        <p:nvSpPr>
          <p:cNvPr id="62" name="Google Shape;62;g25db082e654_0_54"/>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g25db082e654_0_54"/>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g25db082e654_0_54"/>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g25db082e654_0_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g25db082e654_0_6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g25db082e654_0_61"/>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g25db082e654_0_6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g25db082e654_0_61"/>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g25db082e654_0_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g25db082e654_0_67"/>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g25db082e654_0_67"/>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g25db082e654_0_67"/>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g25db082e654_0_67"/>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g25db082e654_0_6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25db082e654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g25db082e654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g25db082e654_0_0"/>
          <p:cNvSpPr txBox="1"/>
          <p:nvPr>
            <p:ph idx="11" type="ftr"/>
          </p:nvPr>
        </p:nvSpPr>
        <p:spPr>
          <a:xfrm>
            <a:off x="838200" y="6356350"/>
            <a:ext cx="41148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g25db082e654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nudip Foundation - Dunlop - Posts | Facebook" id="10" name="Google Shape;10;g25db082e654_0_0"/>
          <p:cNvPicPr preferRelativeResize="0"/>
          <p:nvPr/>
        </p:nvPicPr>
        <p:blipFill rotWithShape="1">
          <a:blip r:embed="rId1">
            <a:alphaModFix/>
          </a:blip>
          <a:srcRect b="0" l="0" r="0" t="0"/>
          <a:stretch/>
        </p:blipFill>
        <p:spPr>
          <a:xfrm>
            <a:off x="11098306" y="9110"/>
            <a:ext cx="1093694" cy="10936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b="1" lang="en-US" sz="6000"/>
              <a:t>BUSINESS COMMUNICATION ETIQUETTE</a:t>
            </a:r>
            <a:br>
              <a:rPr b="1" lang="en-US" sz="6000"/>
            </a:br>
            <a:endParaRPr b="1"/>
          </a:p>
        </p:txBody>
      </p:sp>
      <p:pic>
        <p:nvPicPr>
          <p:cNvPr descr="Communication Etiquette In The Workplace: Establishing The Rules" id="83" name="Google Shape;83;p1"/>
          <p:cNvPicPr preferRelativeResize="0"/>
          <p:nvPr/>
        </p:nvPicPr>
        <p:blipFill rotWithShape="1">
          <a:blip r:embed="rId3">
            <a:alphaModFix/>
          </a:blip>
          <a:srcRect b="0" l="0" r="0" t="0"/>
          <a:stretch/>
        </p:blipFill>
        <p:spPr>
          <a:xfrm>
            <a:off x="3355697" y="3039035"/>
            <a:ext cx="5868987" cy="34294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 this lesson you will learn</a:t>
            </a:r>
            <a:endParaRPr/>
          </a:p>
        </p:txBody>
      </p:sp>
      <p:sp>
        <p:nvSpPr>
          <p:cNvPr id="89" name="Google Shape;89;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Business Communication Etiquette</a:t>
            </a:r>
            <a:endParaRPr/>
          </a:p>
          <a:p>
            <a:pPr indent="-228600" lvl="0" marL="228600" rtl="0" algn="l">
              <a:lnSpc>
                <a:spcPct val="90000"/>
              </a:lnSpc>
              <a:spcBef>
                <a:spcPts val="1000"/>
              </a:spcBef>
              <a:spcAft>
                <a:spcPts val="0"/>
              </a:spcAft>
              <a:buClr>
                <a:schemeClr val="dk1"/>
              </a:buClr>
              <a:buSzPts val="2800"/>
              <a:buChar char="•"/>
            </a:pPr>
            <a:r>
              <a:rPr lang="en-US"/>
              <a:t>Why is BCE important</a:t>
            </a:r>
            <a:endParaRPr/>
          </a:p>
          <a:p>
            <a:pPr indent="-228600" lvl="0" marL="228600" rtl="0" algn="l">
              <a:lnSpc>
                <a:spcPct val="90000"/>
              </a:lnSpc>
              <a:spcBef>
                <a:spcPts val="1000"/>
              </a:spcBef>
              <a:spcAft>
                <a:spcPts val="0"/>
              </a:spcAft>
              <a:buClr>
                <a:schemeClr val="dk1"/>
              </a:buClr>
              <a:buSzPts val="2800"/>
              <a:buChar char="•"/>
            </a:pPr>
            <a:r>
              <a:rPr lang="en-US"/>
              <a:t>Basic Elements of BCE</a:t>
            </a:r>
            <a:endParaRPr/>
          </a:p>
          <a:p>
            <a:pPr indent="-228600" lvl="0" marL="228600" rtl="0" algn="l">
              <a:lnSpc>
                <a:spcPct val="90000"/>
              </a:lnSpc>
              <a:spcBef>
                <a:spcPts val="1000"/>
              </a:spcBef>
              <a:spcAft>
                <a:spcPts val="0"/>
              </a:spcAft>
              <a:buClr>
                <a:schemeClr val="dk1"/>
              </a:buClr>
              <a:buSzPts val="2800"/>
              <a:buChar char="•"/>
            </a:pPr>
            <a:r>
              <a:rPr lang="en-US"/>
              <a:t>Dos &amp; Don’ts</a:t>
            </a:r>
            <a:endParaRPr/>
          </a:p>
          <a:p>
            <a:pPr indent="-228600" lvl="0" marL="228600" rtl="0" algn="l">
              <a:lnSpc>
                <a:spcPct val="90000"/>
              </a:lnSpc>
              <a:spcBef>
                <a:spcPts val="1000"/>
              </a:spcBef>
              <a:spcAft>
                <a:spcPts val="0"/>
              </a:spcAft>
              <a:buClr>
                <a:schemeClr val="dk1"/>
              </a:buClr>
              <a:buSzPts val="2800"/>
              <a:buChar char="•"/>
            </a:pPr>
            <a:r>
              <a:rPr lang="en-US"/>
              <a:t>Remote Communication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Let’s Take a Short Quiz</a:t>
            </a:r>
            <a:endParaRPr/>
          </a:p>
        </p:txBody>
      </p:sp>
      <p:sp>
        <p:nvSpPr>
          <p:cNvPr id="95" name="Google Shape;95;p3"/>
          <p:cNvSpPr txBox="1"/>
          <p:nvPr>
            <p:ph idx="1" type="body"/>
          </p:nvPr>
        </p:nvSpPr>
        <p:spPr>
          <a:xfrm>
            <a:off x="757518" y="1633258"/>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b="1" lang="en-US" sz="2000">
                <a:latin typeface="Arial"/>
                <a:ea typeface="Arial"/>
                <a:cs typeface="Arial"/>
                <a:sym typeface="Arial"/>
              </a:rPr>
              <a:t>1. Rahul is explaining the job responsibilities to Rita. Rita responds non verbally. What could be the ways in which Rita is communicating back to Rahul?</a:t>
            </a:r>
            <a:endParaRPr/>
          </a:p>
          <a:p>
            <a:pPr indent="-101600" lvl="0" marL="228600" rtl="0" algn="l">
              <a:lnSpc>
                <a:spcPct val="90000"/>
              </a:lnSpc>
              <a:spcBef>
                <a:spcPts val="1000"/>
              </a:spcBef>
              <a:spcAft>
                <a:spcPts val="0"/>
              </a:spcAft>
              <a:buClr>
                <a:schemeClr val="dk1"/>
              </a:buClr>
              <a:buSzPts val="2000"/>
              <a:buNone/>
            </a:pPr>
            <a:r>
              <a:t/>
            </a:r>
            <a:endParaRPr b="1" sz="2000">
              <a:latin typeface="Arial"/>
              <a:ea typeface="Arial"/>
              <a:cs typeface="Arial"/>
              <a:sym typeface="Arial"/>
            </a:endParaRPr>
          </a:p>
          <a:p>
            <a:pPr indent="0" lvl="0" marL="0" rtl="0" algn="l">
              <a:lnSpc>
                <a:spcPct val="90000"/>
              </a:lnSpc>
              <a:spcBef>
                <a:spcPts val="1000"/>
              </a:spcBef>
              <a:spcAft>
                <a:spcPts val="0"/>
              </a:spcAft>
              <a:buClr>
                <a:schemeClr val="dk1"/>
              </a:buClr>
              <a:buSzPts val="2000"/>
              <a:buNone/>
            </a:pPr>
            <a:r>
              <a:rPr lang="en-US" sz="2000">
                <a:latin typeface="Arial"/>
                <a:ea typeface="Arial"/>
                <a:cs typeface="Arial"/>
                <a:sym typeface="Arial"/>
              </a:rPr>
              <a:t>Possible Answers:</a:t>
            </a:r>
            <a:endParaRPr/>
          </a:p>
          <a:p>
            <a:pPr indent="-342900" lvl="0" marL="342900" rtl="0" algn="l">
              <a:lnSpc>
                <a:spcPct val="90000"/>
              </a:lnSpc>
              <a:spcBef>
                <a:spcPts val="1000"/>
              </a:spcBef>
              <a:spcAft>
                <a:spcPts val="0"/>
              </a:spcAft>
              <a:buClr>
                <a:schemeClr val="dk1"/>
              </a:buClr>
              <a:buSzPts val="2000"/>
              <a:buFont typeface="Arial"/>
              <a:buChar char="•"/>
            </a:pPr>
            <a:r>
              <a:rPr lang="en-US" sz="2000">
                <a:latin typeface="Arial"/>
                <a:ea typeface="Arial"/>
                <a:cs typeface="Arial"/>
                <a:sym typeface="Arial"/>
              </a:rPr>
              <a:t>Nod head in agreement</a:t>
            </a:r>
            <a:endParaRPr/>
          </a:p>
          <a:p>
            <a:pPr indent="-342900" lvl="0" marL="342900" rtl="0" algn="l">
              <a:lnSpc>
                <a:spcPct val="90000"/>
              </a:lnSpc>
              <a:spcBef>
                <a:spcPts val="1000"/>
              </a:spcBef>
              <a:spcAft>
                <a:spcPts val="0"/>
              </a:spcAft>
              <a:buClr>
                <a:schemeClr val="dk1"/>
              </a:buClr>
              <a:buSzPts val="2000"/>
              <a:buFont typeface="Arial"/>
              <a:buChar char="•"/>
            </a:pPr>
            <a:r>
              <a:rPr lang="en-US" sz="2000">
                <a:latin typeface="Arial"/>
                <a:ea typeface="Arial"/>
                <a:cs typeface="Arial"/>
                <a:sym typeface="Arial"/>
              </a:rPr>
              <a:t>Make eye contact</a:t>
            </a:r>
            <a:endParaRPr/>
          </a:p>
          <a:p>
            <a:pPr indent="-342900" lvl="0" marL="342900" rtl="0" algn="l">
              <a:lnSpc>
                <a:spcPct val="90000"/>
              </a:lnSpc>
              <a:spcBef>
                <a:spcPts val="1000"/>
              </a:spcBef>
              <a:spcAft>
                <a:spcPts val="0"/>
              </a:spcAft>
              <a:buClr>
                <a:schemeClr val="dk1"/>
              </a:buClr>
              <a:buSzPts val="2000"/>
              <a:buFont typeface="Arial"/>
              <a:buChar char="•"/>
            </a:pPr>
            <a:r>
              <a:rPr lang="en-US" sz="2000">
                <a:latin typeface="Arial"/>
                <a:ea typeface="Arial"/>
                <a:cs typeface="Arial"/>
                <a:sym typeface="Arial"/>
              </a:rPr>
              <a:t>Take notes while listening</a:t>
            </a:r>
            <a:endParaRPr/>
          </a:p>
          <a:p>
            <a:pPr indent="-342900" lvl="0" marL="342900" rtl="0" algn="l">
              <a:lnSpc>
                <a:spcPct val="90000"/>
              </a:lnSpc>
              <a:spcBef>
                <a:spcPts val="1000"/>
              </a:spcBef>
              <a:spcAft>
                <a:spcPts val="0"/>
              </a:spcAft>
              <a:buClr>
                <a:schemeClr val="dk1"/>
              </a:buClr>
              <a:buSzPts val="2000"/>
              <a:buFont typeface="Arial"/>
              <a:buChar char="•"/>
            </a:pPr>
            <a:r>
              <a:rPr lang="en-US" sz="2000">
                <a:latin typeface="Arial"/>
                <a:ea typeface="Arial"/>
                <a:cs typeface="Arial"/>
                <a:sym typeface="Arial"/>
              </a:rPr>
              <a:t>Attentive body language</a:t>
            </a:r>
            <a:endParaRPr sz="2000">
              <a:latin typeface="Arial"/>
              <a:ea typeface="Arial"/>
              <a:cs typeface="Arial"/>
              <a:sym typeface="Arial"/>
            </a:endParaRPr>
          </a:p>
        </p:txBody>
      </p:sp>
      <p:pic>
        <p:nvPicPr>
          <p:cNvPr descr="Get Ready! Quiz Time – Apps on Google Play" id="96" name="Google Shape;96;p3"/>
          <p:cNvPicPr preferRelativeResize="0"/>
          <p:nvPr/>
        </p:nvPicPr>
        <p:blipFill rotWithShape="1">
          <a:blip r:embed="rId3">
            <a:alphaModFix/>
          </a:blip>
          <a:srcRect b="0" l="0" r="0" t="0"/>
          <a:stretch/>
        </p:blipFill>
        <p:spPr>
          <a:xfrm>
            <a:off x="7946933" y="2527767"/>
            <a:ext cx="2143125" cy="214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5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anim calcmode="lin" valueType="num">
                                      <p:cBhvr additive="base">
                                        <p:cTn dur="500"/>
                                        <p:tgtEl>
                                          <p:spTgt spid="9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anim calcmode="lin" valueType="num">
                                      <p:cBhvr additive="base">
                                        <p:cTn dur="500"/>
                                        <p:tgtEl>
                                          <p:spTgt spid="9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anim calcmode="lin" valueType="num">
                                      <p:cBhvr additive="base">
                                        <p:cTn dur="500"/>
                                        <p:tgtEl>
                                          <p:spTgt spid="9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anim calcmode="lin" valueType="num">
                                      <p:cBhvr additive="base">
                                        <p:cTn dur="500"/>
                                        <p:tgtEl>
                                          <p:spTgt spid="9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anim calcmode="lin" valueType="num">
                                      <p:cBhvr additive="base">
                                        <p:cTn dur="500"/>
                                        <p:tgtEl>
                                          <p:spTgt spid="9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anim calcmode="lin" valueType="num">
                                      <p:cBhvr additive="base">
                                        <p:cTn dur="500"/>
                                        <p:tgtEl>
                                          <p:spTgt spid="9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anim calcmode="lin" valueType="num">
                                      <p:cBhvr additive="base">
                                        <p:cTn dur="500"/>
                                        <p:tgtEl>
                                          <p:spTgt spid="9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idx="1" type="body"/>
          </p:nvPr>
        </p:nvSpPr>
        <p:spPr>
          <a:xfrm>
            <a:off x="757517" y="618565"/>
            <a:ext cx="10515600" cy="5163671"/>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1500"/>
              <a:buNone/>
            </a:pPr>
            <a:r>
              <a:rPr b="1" lang="en-US" sz="1500">
                <a:latin typeface="Arial"/>
                <a:ea typeface="Arial"/>
                <a:cs typeface="Arial"/>
                <a:sym typeface="Arial"/>
              </a:rPr>
              <a:t>2. Mention any two qualities that you need to have for effective communication at the workplace.</a:t>
            </a:r>
            <a:endParaRPr/>
          </a:p>
          <a:p>
            <a:pPr indent="0" lvl="0" marL="0" rtl="0" algn="l">
              <a:lnSpc>
                <a:spcPct val="90000"/>
              </a:lnSpc>
              <a:spcBef>
                <a:spcPts val="10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1000"/>
              </a:spcBef>
              <a:spcAft>
                <a:spcPts val="0"/>
              </a:spcAft>
              <a:buClr>
                <a:schemeClr val="dk1"/>
              </a:buClr>
              <a:buSzPts val="1500"/>
              <a:buNone/>
            </a:pPr>
            <a:r>
              <a:rPr lang="en-US" sz="1500">
                <a:latin typeface="Arial"/>
                <a:ea typeface="Arial"/>
                <a:cs typeface="Arial"/>
                <a:sym typeface="Arial"/>
              </a:rPr>
              <a:t>Possible Answers :</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Responding on time</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Respect for others</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Active listening </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Not being carried away by emotions</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Conveying a negative message in a positive way</a:t>
            </a:r>
            <a:endParaRPr/>
          </a:p>
          <a:p>
            <a:pPr indent="-133350" lvl="0" marL="228600" rtl="0" algn="l">
              <a:lnSpc>
                <a:spcPct val="90000"/>
              </a:lnSpc>
              <a:spcBef>
                <a:spcPts val="10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1000"/>
              </a:spcBef>
              <a:spcAft>
                <a:spcPts val="0"/>
              </a:spcAft>
              <a:buClr>
                <a:schemeClr val="dk1"/>
              </a:buClr>
              <a:buSzPts val="1500"/>
              <a:buNone/>
            </a:pPr>
            <a:r>
              <a:rPr b="1" lang="en-US" sz="1500">
                <a:latin typeface="Arial"/>
                <a:ea typeface="Arial"/>
                <a:cs typeface="Arial"/>
                <a:sym typeface="Arial"/>
              </a:rPr>
              <a:t>3. Mention two techniques you can follow to practice active listening.</a:t>
            </a:r>
            <a:endParaRPr/>
          </a:p>
          <a:p>
            <a:pPr indent="0" lvl="0" marL="0" rtl="0" algn="l">
              <a:lnSpc>
                <a:spcPct val="90000"/>
              </a:lnSpc>
              <a:spcBef>
                <a:spcPts val="10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1000"/>
              </a:spcBef>
              <a:spcAft>
                <a:spcPts val="0"/>
              </a:spcAft>
              <a:buClr>
                <a:schemeClr val="dk1"/>
              </a:buClr>
              <a:buSzPts val="1500"/>
              <a:buNone/>
            </a:pPr>
            <a:r>
              <a:rPr lang="en-US" sz="1500">
                <a:latin typeface="Arial"/>
                <a:ea typeface="Arial"/>
                <a:cs typeface="Arial"/>
                <a:sym typeface="Arial"/>
              </a:rPr>
              <a:t>Possible Answers :</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Pay full attention</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Make eye contact</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Observe and understand non-verbal cues </a:t>
            </a:r>
            <a:endParaRPr/>
          </a:p>
          <a:p>
            <a:pPr indent="-342900" lvl="0" marL="342900" rtl="0" algn="l">
              <a:lnSpc>
                <a:spcPct val="90000"/>
              </a:lnSpc>
              <a:spcBef>
                <a:spcPts val="1000"/>
              </a:spcBef>
              <a:spcAft>
                <a:spcPts val="0"/>
              </a:spcAft>
              <a:buClr>
                <a:schemeClr val="dk1"/>
              </a:buClr>
              <a:buSzPts val="1500"/>
              <a:buFont typeface="Arial"/>
              <a:buChar char="•"/>
            </a:pPr>
            <a:r>
              <a:rPr lang="en-US" sz="1500">
                <a:latin typeface="Arial"/>
                <a:ea typeface="Arial"/>
                <a:cs typeface="Arial"/>
                <a:sym typeface="Arial"/>
              </a:rPr>
              <a:t>Ask questions</a:t>
            </a:r>
            <a:endParaRPr/>
          </a:p>
          <a:p>
            <a:pPr indent="-133350" lvl="0" marL="228600" rtl="0" algn="l">
              <a:lnSpc>
                <a:spcPct val="90000"/>
              </a:lnSpc>
              <a:spcBef>
                <a:spcPts val="1000"/>
              </a:spcBef>
              <a:spcAft>
                <a:spcPts val="0"/>
              </a:spcAft>
              <a:buClr>
                <a:schemeClr val="dk1"/>
              </a:buClr>
              <a:buSzPts val="1500"/>
              <a:buNone/>
            </a:pPr>
            <a:r>
              <a:t/>
            </a:r>
            <a:endParaRPr sz="1500">
              <a:latin typeface="Arial"/>
              <a:ea typeface="Arial"/>
              <a:cs typeface="Arial"/>
              <a:sym typeface="Arial"/>
            </a:endParaRPr>
          </a:p>
          <a:p>
            <a:pPr indent="-133350" lvl="0" marL="228600" rtl="0" algn="l">
              <a:lnSpc>
                <a:spcPct val="90000"/>
              </a:lnSpc>
              <a:spcBef>
                <a:spcPts val="1000"/>
              </a:spcBef>
              <a:spcAft>
                <a:spcPts val="0"/>
              </a:spcAft>
              <a:buClr>
                <a:schemeClr val="dk1"/>
              </a:buClr>
              <a:buSzPts val="1500"/>
              <a:buNone/>
            </a:pPr>
            <a:r>
              <a:t/>
            </a:r>
            <a:endParaRPr sz="1500">
              <a:latin typeface="Arial"/>
              <a:ea typeface="Arial"/>
              <a:cs typeface="Arial"/>
              <a:sym typeface="Arial"/>
            </a:endParaRPr>
          </a:p>
        </p:txBody>
      </p:sp>
      <p:pic>
        <p:nvPicPr>
          <p:cNvPr descr="Get Ready! Quiz Time – Apps on Google Play" id="102" name="Google Shape;102;p4"/>
          <p:cNvPicPr preferRelativeResize="0"/>
          <p:nvPr/>
        </p:nvPicPr>
        <p:blipFill rotWithShape="1">
          <a:blip r:embed="rId3">
            <a:alphaModFix/>
          </a:blip>
          <a:srcRect b="0" l="0" r="0" t="0"/>
          <a:stretch/>
        </p:blipFill>
        <p:spPr>
          <a:xfrm>
            <a:off x="8099333" y="2007814"/>
            <a:ext cx="2143125" cy="214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500"/>
                                        <p:tgtEl>
                                          <p:spTgt spid="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 calcmode="lin" valueType="num">
                                      <p:cBhvr additive="base">
                                        <p:cTn dur="500"/>
                                        <p:tgtEl>
                                          <p:spTgt spid="1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 calcmode="lin" valueType="num">
                                      <p:cBhvr additive="base">
                                        <p:cTn dur="500"/>
                                        <p:tgtEl>
                                          <p:spTgt spid="1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 calcmode="lin" valueType="num">
                                      <p:cBhvr additive="base">
                                        <p:cTn dur="500"/>
                                        <p:tgtEl>
                                          <p:spTgt spid="1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 calcmode="lin" valueType="num">
                                      <p:cBhvr additive="base">
                                        <p:cTn dur="500"/>
                                        <p:tgtEl>
                                          <p:spTgt spid="10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anim calcmode="lin" valueType="num">
                                      <p:cBhvr additive="base">
                                        <p:cTn dur="500"/>
                                        <p:tgtEl>
                                          <p:spTgt spid="10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anim calcmode="lin" valueType="num">
                                      <p:cBhvr additive="base">
                                        <p:cTn dur="500"/>
                                        <p:tgtEl>
                                          <p:spTgt spid="10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anim calcmode="lin" valueType="num">
                                      <p:cBhvr additive="base">
                                        <p:cTn dur="500"/>
                                        <p:tgtEl>
                                          <p:spTgt spid="10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anim calcmode="lin" valueType="num">
                                      <p:cBhvr additive="base">
                                        <p:cTn dur="500"/>
                                        <p:tgtEl>
                                          <p:spTgt spid="10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anim calcmode="lin" valueType="num">
                                      <p:cBhvr additive="base">
                                        <p:cTn dur="500"/>
                                        <p:tgtEl>
                                          <p:spTgt spid="10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9" st="9"/>
                                            </p:txEl>
                                          </p:spTgt>
                                        </p:tgtEl>
                                        <p:attrNameLst>
                                          <p:attrName>style.visibility</p:attrName>
                                        </p:attrNameLst>
                                      </p:cBhvr>
                                      <p:to>
                                        <p:strVal val="visible"/>
                                      </p:to>
                                    </p:set>
                                    <p:anim calcmode="lin" valueType="num">
                                      <p:cBhvr additive="base">
                                        <p:cTn dur="500"/>
                                        <p:tgtEl>
                                          <p:spTgt spid="101">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0" st="10"/>
                                            </p:txEl>
                                          </p:spTgt>
                                        </p:tgtEl>
                                        <p:attrNameLst>
                                          <p:attrName>style.visibility</p:attrName>
                                        </p:attrNameLst>
                                      </p:cBhvr>
                                      <p:to>
                                        <p:strVal val="visible"/>
                                      </p:to>
                                    </p:set>
                                    <p:anim calcmode="lin" valueType="num">
                                      <p:cBhvr additive="base">
                                        <p:cTn dur="500"/>
                                        <p:tgtEl>
                                          <p:spTgt spid="101">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1" st="11"/>
                                            </p:txEl>
                                          </p:spTgt>
                                        </p:tgtEl>
                                        <p:attrNameLst>
                                          <p:attrName>style.visibility</p:attrName>
                                        </p:attrNameLst>
                                      </p:cBhvr>
                                      <p:to>
                                        <p:strVal val="visible"/>
                                      </p:to>
                                    </p:set>
                                    <p:anim calcmode="lin" valueType="num">
                                      <p:cBhvr additive="base">
                                        <p:cTn dur="500"/>
                                        <p:tgtEl>
                                          <p:spTgt spid="101">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2" st="12"/>
                                            </p:txEl>
                                          </p:spTgt>
                                        </p:tgtEl>
                                        <p:attrNameLst>
                                          <p:attrName>style.visibility</p:attrName>
                                        </p:attrNameLst>
                                      </p:cBhvr>
                                      <p:to>
                                        <p:strVal val="visible"/>
                                      </p:to>
                                    </p:set>
                                    <p:anim calcmode="lin" valueType="num">
                                      <p:cBhvr additive="base">
                                        <p:cTn dur="500"/>
                                        <p:tgtEl>
                                          <p:spTgt spid="101">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3" st="13"/>
                                            </p:txEl>
                                          </p:spTgt>
                                        </p:tgtEl>
                                        <p:attrNameLst>
                                          <p:attrName>style.visibility</p:attrName>
                                        </p:attrNameLst>
                                      </p:cBhvr>
                                      <p:to>
                                        <p:strVal val="visible"/>
                                      </p:to>
                                    </p:set>
                                    <p:anim calcmode="lin" valueType="num">
                                      <p:cBhvr additive="base">
                                        <p:cTn dur="500"/>
                                        <p:tgtEl>
                                          <p:spTgt spid="101">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4" st="14"/>
                                            </p:txEl>
                                          </p:spTgt>
                                        </p:tgtEl>
                                        <p:attrNameLst>
                                          <p:attrName>style.visibility</p:attrName>
                                        </p:attrNameLst>
                                      </p:cBhvr>
                                      <p:to>
                                        <p:strVal val="visible"/>
                                      </p:to>
                                    </p:set>
                                    <p:anim calcmode="lin" valueType="num">
                                      <p:cBhvr additive="base">
                                        <p:cTn dur="500"/>
                                        <p:tgtEl>
                                          <p:spTgt spid="101">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5" st="15"/>
                                            </p:txEl>
                                          </p:spTgt>
                                        </p:tgtEl>
                                        <p:attrNameLst>
                                          <p:attrName>style.visibility</p:attrName>
                                        </p:attrNameLst>
                                      </p:cBhvr>
                                      <p:to>
                                        <p:strVal val="visible"/>
                                      </p:to>
                                    </p:set>
                                    <p:anim calcmode="lin" valueType="num">
                                      <p:cBhvr additive="base">
                                        <p:cTn dur="500"/>
                                        <p:tgtEl>
                                          <p:spTgt spid="101">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6" st="16"/>
                                            </p:txEl>
                                          </p:spTgt>
                                        </p:tgtEl>
                                        <p:attrNameLst>
                                          <p:attrName>style.visibility</p:attrName>
                                        </p:attrNameLst>
                                      </p:cBhvr>
                                      <p:to>
                                        <p:strVal val="visible"/>
                                      </p:to>
                                    </p:set>
                                    <p:anim calcmode="lin" valueType="num">
                                      <p:cBhvr additive="base">
                                        <p:cTn dur="500"/>
                                        <p:tgtEl>
                                          <p:spTgt spid="101">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7" st="17"/>
                                            </p:txEl>
                                          </p:spTgt>
                                        </p:tgtEl>
                                        <p:attrNameLst>
                                          <p:attrName>style.visibility</p:attrName>
                                        </p:attrNameLst>
                                      </p:cBhvr>
                                      <p:to>
                                        <p:strVal val="visible"/>
                                      </p:to>
                                    </p:set>
                                    <p:anim calcmode="lin" valueType="num">
                                      <p:cBhvr additive="base">
                                        <p:cTn dur="500"/>
                                        <p:tgtEl>
                                          <p:spTgt spid="101">
                                            <p:txEl>
                                              <p:pRg end="17" st="1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idx="1" type="body"/>
          </p:nvPr>
        </p:nvSpPr>
        <p:spPr>
          <a:xfrm>
            <a:off x="838200" y="912672"/>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Arial"/>
                <a:ea typeface="Arial"/>
                <a:cs typeface="Arial"/>
                <a:sym typeface="Arial"/>
              </a:rPr>
              <a:t>4. What should you check before sharing a document /email?</a:t>
            </a:r>
            <a:endParaRPr/>
          </a:p>
          <a:p>
            <a:pPr indent="0" lvl="0" marL="0" rtl="0" algn="l">
              <a:lnSpc>
                <a:spcPct val="90000"/>
              </a:lnSpc>
              <a:spcBef>
                <a:spcPts val="1000"/>
              </a:spcBef>
              <a:spcAft>
                <a:spcPts val="0"/>
              </a:spcAft>
              <a:buClr>
                <a:schemeClr val="dk1"/>
              </a:buClr>
              <a:buSzPts val="1400"/>
              <a:buNone/>
            </a:pPr>
            <a:r>
              <a:rPr lang="en-US" sz="1400">
                <a:latin typeface="Arial"/>
                <a:ea typeface="Arial"/>
                <a:cs typeface="Arial"/>
                <a:sym typeface="Arial"/>
              </a:rPr>
              <a:t>Possible Answers :</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Grammar</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Punctuation</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Spelling</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Omitted words</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Repeated words</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Spacing and format</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Typos</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rPr b="1" lang="en-US" sz="1400">
                <a:latin typeface="Arial"/>
                <a:ea typeface="Arial"/>
                <a:cs typeface="Arial"/>
                <a:sym typeface="Arial"/>
              </a:rPr>
              <a:t>5. What etiquettes should be followed during remote communication?</a:t>
            </a:r>
            <a:endParaRPr/>
          </a:p>
          <a:p>
            <a:pPr indent="0" lvl="0" marL="0" rtl="0" algn="l">
              <a:lnSpc>
                <a:spcPct val="90000"/>
              </a:lnSpc>
              <a:spcBef>
                <a:spcPts val="1000"/>
              </a:spcBef>
              <a:spcAft>
                <a:spcPts val="0"/>
              </a:spcAft>
              <a:buClr>
                <a:schemeClr val="dk1"/>
              </a:buClr>
              <a:buSzPts val="1400"/>
              <a:buNone/>
            </a:pPr>
            <a:r>
              <a:rPr lang="en-US" sz="1400">
                <a:latin typeface="Arial"/>
                <a:ea typeface="Arial"/>
                <a:cs typeface="Arial"/>
                <a:sym typeface="Arial"/>
              </a:rPr>
              <a:t>Possible Answers :</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Formal, distraction free environment</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Be available during work hours</a:t>
            </a:r>
            <a:endParaRPr/>
          </a:p>
          <a:p>
            <a:pPr indent="-342900" lvl="0" marL="342900" rtl="0" algn="l">
              <a:lnSpc>
                <a:spcPct val="90000"/>
              </a:lnSpc>
              <a:spcBef>
                <a:spcPts val="1000"/>
              </a:spcBef>
              <a:spcAft>
                <a:spcPts val="0"/>
              </a:spcAft>
              <a:buClr>
                <a:schemeClr val="dk1"/>
              </a:buClr>
              <a:buSzPts val="1400"/>
              <a:buFont typeface="Arial"/>
              <a:buChar char="•"/>
            </a:pPr>
            <a:r>
              <a:rPr lang="en-US" sz="1400">
                <a:latin typeface="Arial"/>
                <a:ea typeface="Arial"/>
                <a:cs typeface="Arial"/>
                <a:sym typeface="Arial"/>
              </a:rPr>
              <a:t>Seek feedback to check that the message has been clearly understood</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p:txBody>
      </p:sp>
      <p:pic>
        <p:nvPicPr>
          <p:cNvPr descr="Get Ready! Quiz Time – Apps on Google Play" id="108" name="Google Shape;108;p5"/>
          <p:cNvPicPr preferRelativeResize="0"/>
          <p:nvPr/>
        </p:nvPicPr>
        <p:blipFill rotWithShape="1">
          <a:blip r:embed="rId3">
            <a:alphaModFix/>
          </a:blip>
          <a:srcRect b="0" l="0" r="0" t="0"/>
          <a:stretch/>
        </p:blipFill>
        <p:spPr>
          <a:xfrm>
            <a:off x="7812467" y="2222967"/>
            <a:ext cx="2143125" cy="214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anim calcmode="lin" valueType="num">
                                      <p:cBhvr additive="base">
                                        <p:cTn dur="500"/>
                                        <p:tgtEl>
                                          <p:spTgt spid="1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anim calcmode="lin" valueType="num">
                                      <p:cBhvr additive="base">
                                        <p:cTn dur="500"/>
                                        <p:tgtEl>
                                          <p:spTgt spid="1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anim calcmode="lin" valueType="num">
                                      <p:cBhvr additive="base">
                                        <p:cTn dur="500"/>
                                        <p:tgtEl>
                                          <p:spTgt spid="1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anim calcmode="lin" valueType="num">
                                      <p:cBhvr additive="base">
                                        <p:cTn dur="500"/>
                                        <p:tgtEl>
                                          <p:spTgt spid="1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anim calcmode="lin" valueType="num">
                                      <p:cBhvr additive="base">
                                        <p:cTn dur="500"/>
                                        <p:tgtEl>
                                          <p:spTgt spid="1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anim calcmode="lin" valueType="num">
                                      <p:cBhvr additive="base">
                                        <p:cTn dur="500"/>
                                        <p:tgtEl>
                                          <p:spTgt spid="10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anim calcmode="lin" valueType="num">
                                      <p:cBhvr additive="base">
                                        <p:cTn dur="500"/>
                                        <p:tgtEl>
                                          <p:spTgt spid="10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anim calcmode="lin" valueType="num">
                                      <p:cBhvr additive="base">
                                        <p:cTn dur="500"/>
                                        <p:tgtEl>
                                          <p:spTgt spid="10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8" st="8"/>
                                            </p:txEl>
                                          </p:spTgt>
                                        </p:tgtEl>
                                        <p:attrNameLst>
                                          <p:attrName>style.visibility</p:attrName>
                                        </p:attrNameLst>
                                      </p:cBhvr>
                                      <p:to>
                                        <p:strVal val="visible"/>
                                      </p:to>
                                    </p:set>
                                    <p:anim calcmode="lin" valueType="num">
                                      <p:cBhvr additive="base">
                                        <p:cTn dur="500"/>
                                        <p:tgtEl>
                                          <p:spTgt spid="10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9" st="9"/>
                                            </p:txEl>
                                          </p:spTgt>
                                        </p:tgtEl>
                                        <p:attrNameLst>
                                          <p:attrName>style.visibility</p:attrName>
                                        </p:attrNameLst>
                                      </p:cBhvr>
                                      <p:to>
                                        <p:strVal val="visible"/>
                                      </p:to>
                                    </p:set>
                                    <p:anim calcmode="lin" valueType="num">
                                      <p:cBhvr additive="base">
                                        <p:cTn dur="500"/>
                                        <p:tgtEl>
                                          <p:spTgt spid="10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10" st="10"/>
                                            </p:txEl>
                                          </p:spTgt>
                                        </p:tgtEl>
                                        <p:attrNameLst>
                                          <p:attrName>style.visibility</p:attrName>
                                        </p:attrNameLst>
                                      </p:cBhvr>
                                      <p:to>
                                        <p:strVal val="visible"/>
                                      </p:to>
                                    </p:set>
                                    <p:anim calcmode="lin" valueType="num">
                                      <p:cBhvr additive="base">
                                        <p:cTn dur="500"/>
                                        <p:tgtEl>
                                          <p:spTgt spid="107">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11" st="11"/>
                                            </p:txEl>
                                          </p:spTgt>
                                        </p:tgtEl>
                                        <p:attrNameLst>
                                          <p:attrName>style.visibility</p:attrName>
                                        </p:attrNameLst>
                                      </p:cBhvr>
                                      <p:to>
                                        <p:strVal val="visible"/>
                                      </p:to>
                                    </p:set>
                                    <p:anim calcmode="lin" valueType="num">
                                      <p:cBhvr additive="base">
                                        <p:cTn dur="500"/>
                                        <p:tgtEl>
                                          <p:spTgt spid="107">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12" st="12"/>
                                            </p:txEl>
                                          </p:spTgt>
                                        </p:tgtEl>
                                        <p:attrNameLst>
                                          <p:attrName>style.visibility</p:attrName>
                                        </p:attrNameLst>
                                      </p:cBhvr>
                                      <p:to>
                                        <p:strVal val="visible"/>
                                      </p:to>
                                    </p:set>
                                    <p:anim calcmode="lin" valueType="num">
                                      <p:cBhvr additive="base">
                                        <p:cTn dur="500"/>
                                        <p:tgtEl>
                                          <p:spTgt spid="107">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13" st="13"/>
                                            </p:txEl>
                                          </p:spTgt>
                                        </p:tgtEl>
                                        <p:attrNameLst>
                                          <p:attrName>style.visibility</p:attrName>
                                        </p:attrNameLst>
                                      </p:cBhvr>
                                      <p:to>
                                        <p:strVal val="visible"/>
                                      </p:to>
                                    </p:set>
                                    <p:anim calcmode="lin" valueType="num">
                                      <p:cBhvr additive="base">
                                        <p:cTn dur="500"/>
                                        <p:tgtEl>
                                          <p:spTgt spid="107">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14" st="14"/>
                                            </p:txEl>
                                          </p:spTgt>
                                        </p:tgtEl>
                                        <p:attrNameLst>
                                          <p:attrName>style.visibility</p:attrName>
                                        </p:attrNameLst>
                                      </p:cBhvr>
                                      <p:to>
                                        <p:strVal val="visible"/>
                                      </p:to>
                                    </p:set>
                                    <p:anim calcmode="lin" valueType="num">
                                      <p:cBhvr additive="base">
                                        <p:cTn dur="500"/>
                                        <p:tgtEl>
                                          <p:spTgt spid="107">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xEl>
                                              <p:pRg end="15" st="15"/>
                                            </p:txEl>
                                          </p:spTgt>
                                        </p:tgtEl>
                                        <p:attrNameLst>
                                          <p:attrName>style.visibility</p:attrName>
                                        </p:attrNameLst>
                                      </p:cBhvr>
                                      <p:to>
                                        <p:strVal val="visible"/>
                                      </p:to>
                                    </p:set>
                                    <p:anim calcmode="lin" valueType="num">
                                      <p:cBhvr additive="base">
                                        <p:cTn dur="500"/>
                                        <p:tgtEl>
                                          <p:spTgt spid="107">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Business Communication Etiquette</a:t>
            </a:r>
            <a:endParaRPr/>
          </a:p>
        </p:txBody>
      </p:sp>
      <p:sp>
        <p:nvSpPr>
          <p:cNvPr id="114" name="Google Shape;114;p6"/>
          <p:cNvSpPr txBox="1"/>
          <p:nvPr>
            <p:ph idx="1" type="body"/>
          </p:nvPr>
        </p:nvSpPr>
        <p:spPr>
          <a:xfrm>
            <a:off x="838201" y="1825625"/>
            <a:ext cx="5634318"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500"/>
              <a:buChar char="•"/>
            </a:pPr>
            <a:r>
              <a:rPr b="0" i="0" lang="en-US" sz="2500">
                <a:latin typeface="Arial"/>
                <a:ea typeface="Arial"/>
                <a:cs typeface="Arial"/>
                <a:sym typeface="Arial"/>
              </a:rPr>
              <a:t>Business Communication Etiquette is a set of unwritten rules that guide how people behave in the workplace.</a:t>
            </a:r>
            <a:endParaRPr/>
          </a:p>
          <a:p>
            <a:pPr indent="0" lvl="0" marL="0" rtl="0" algn="l">
              <a:lnSpc>
                <a:spcPct val="90000"/>
              </a:lnSpc>
              <a:spcBef>
                <a:spcPts val="1000"/>
              </a:spcBef>
              <a:spcAft>
                <a:spcPts val="0"/>
              </a:spcAft>
              <a:buClr>
                <a:schemeClr val="dk1"/>
              </a:buClr>
              <a:buSzPts val="2500"/>
              <a:buNone/>
            </a:pPr>
            <a:r>
              <a:t/>
            </a:r>
            <a:endParaRPr b="0" i="0" sz="2500">
              <a:latin typeface="Arial"/>
              <a:ea typeface="Arial"/>
              <a:cs typeface="Arial"/>
              <a:sym typeface="Arial"/>
            </a:endParaRPr>
          </a:p>
          <a:p>
            <a:pPr indent="-228600" lvl="0" marL="228600" rtl="0" algn="l">
              <a:lnSpc>
                <a:spcPct val="90000"/>
              </a:lnSpc>
              <a:spcBef>
                <a:spcPts val="1000"/>
              </a:spcBef>
              <a:spcAft>
                <a:spcPts val="0"/>
              </a:spcAft>
              <a:buClr>
                <a:schemeClr val="dk1"/>
              </a:buClr>
              <a:buSzPts val="2500"/>
              <a:buChar char="•"/>
            </a:pPr>
            <a:r>
              <a:rPr lang="en-US" sz="2500">
                <a:latin typeface="Arial"/>
                <a:ea typeface="Arial"/>
                <a:cs typeface="Arial"/>
                <a:sym typeface="Arial"/>
              </a:rPr>
              <a:t>It is about recognizing and respecting differences in terms of language, location, diversity, culture etc. and adapting accordingly.</a:t>
            </a:r>
            <a:endParaRPr sz="2500">
              <a:latin typeface="Arial"/>
              <a:ea typeface="Arial"/>
              <a:cs typeface="Arial"/>
              <a:sym typeface="Arial"/>
            </a:endParaRPr>
          </a:p>
        </p:txBody>
      </p:sp>
      <p:pic>
        <p:nvPicPr>
          <p:cNvPr id="115" name="Google Shape;115;p6"/>
          <p:cNvPicPr preferRelativeResize="0"/>
          <p:nvPr/>
        </p:nvPicPr>
        <p:blipFill rotWithShape="1">
          <a:blip r:embed="rId3">
            <a:alphaModFix/>
          </a:blip>
          <a:srcRect b="0" l="0" r="0" t="0"/>
          <a:stretch/>
        </p:blipFill>
        <p:spPr>
          <a:xfrm>
            <a:off x="6648214" y="1934316"/>
            <a:ext cx="5149337" cy="29424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is BCE Important?</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430530" lvl="1" marL="685800" rtl="0" algn="just">
              <a:lnSpc>
                <a:spcPct val="90000"/>
              </a:lnSpc>
              <a:spcBef>
                <a:spcPts val="0"/>
              </a:spcBef>
              <a:spcAft>
                <a:spcPts val="0"/>
              </a:spcAft>
              <a:buClr>
                <a:schemeClr val="dk1"/>
              </a:buClr>
              <a:buSzPct val="100000"/>
              <a:buFont typeface="Noto Sans Symbols"/>
              <a:buChar char="❑"/>
            </a:pPr>
            <a:r>
              <a:rPr lang="en-US" sz="2800"/>
              <a:t>People in the workplace spend the majority of their time communicating. BCE is the most sought after skill by current employers.</a:t>
            </a:r>
            <a:endParaRPr/>
          </a:p>
          <a:p>
            <a:pPr indent="-430530" lvl="1" marL="685800" rtl="0" algn="just">
              <a:lnSpc>
                <a:spcPct val="90000"/>
              </a:lnSpc>
              <a:spcBef>
                <a:spcPts val="1600"/>
              </a:spcBef>
              <a:spcAft>
                <a:spcPts val="0"/>
              </a:spcAft>
              <a:buClr>
                <a:schemeClr val="dk1"/>
              </a:buClr>
              <a:buSzPct val="100000"/>
              <a:buFont typeface="Noto Sans Symbols"/>
              <a:buChar char="❑"/>
            </a:pPr>
            <a:r>
              <a:rPr lang="en-US" sz="2800"/>
              <a:t>In our workplace, we represent our organization (or business) - what we say, how we say, to whom we say is important as it reflects on them.</a:t>
            </a:r>
            <a:endParaRPr/>
          </a:p>
          <a:p>
            <a:pPr indent="-430530" lvl="1" marL="685800" rtl="0" algn="just">
              <a:lnSpc>
                <a:spcPct val="90000"/>
              </a:lnSpc>
              <a:spcBef>
                <a:spcPts val="1600"/>
              </a:spcBef>
              <a:spcAft>
                <a:spcPts val="0"/>
              </a:spcAft>
              <a:buClr>
                <a:schemeClr val="dk1"/>
              </a:buClr>
              <a:buSzPct val="100000"/>
              <a:buFont typeface="Noto Sans Symbols"/>
              <a:buChar char="❑"/>
            </a:pPr>
            <a:r>
              <a:rPr lang="en-US" sz="2800"/>
              <a:t>Business communication etiquette enables employees and management to interact effectively with all stakeholders.</a:t>
            </a:r>
            <a:endParaRPr/>
          </a:p>
          <a:p>
            <a:pPr indent="-430530" lvl="1" marL="685800" rtl="0" algn="just">
              <a:lnSpc>
                <a:spcPct val="90000"/>
              </a:lnSpc>
              <a:spcBef>
                <a:spcPts val="1600"/>
              </a:spcBef>
              <a:spcAft>
                <a:spcPts val="0"/>
              </a:spcAft>
              <a:buClr>
                <a:schemeClr val="dk1"/>
              </a:buClr>
              <a:buSzPct val="100000"/>
              <a:buFont typeface="Noto Sans Symbols"/>
              <a:buChar char="❑"/>
            </a:pPr>
            <a:r>
              <a:rPr lang="en-US" sz="2800"/>
              <a:t>Proper business communication will help us perform efficiently and effectively in the professional world.</a:t>
            </a:r>
            <a:endParaRPr sz="5400"/>
          </a:p>
          <a:p>
            <a:pPr indent="-228600" lvl="1" marL="685800" rtl="0" algn="just">
              <a:lnSpc>
                <a:spcPct val="90000"/>
              </a:lnSpc>
              <a:spcBef>
                <a:spcPts val="1600"/>
              </a:spcBef>
              <a:spcAft>
                <a:spcPts val="0"/>
              </a:spcAft>
              <a:buClr>
                <a:schemeClr val="dk1"/>
              </a:buClr>
              <a:buSzPct val="100000"/>
              <a:buNone/>
            </a:pPr>
            <a:r>
              <a:t/>
            </a:r>
            <a:endParaRPr sz="3600"/>
          </a:p>
          <a:p>
            <a:pPr indent="-304800" lvl="1" marL="685800" rtl="0" algn="just">
              <a:lnSpc>
                <a:spcPct val="90000"/>
              </a:lnSpc>
              <a:spcBef>
                <a:spcPts val="1600"/>
              </a:spcBef>
              <a:spcAft>
                <a:spcPts val="0"/>
              </a:spcAft>
              <a:buClr>
                <a:schemeClr val="dk1"/>
              </a:buClr>
              <a:buSzPct val="100000"/>
              <a:buNone/>
            </a:pPr>
            <a:r>
              <a:t/>
            </a:r>
            <a:endParaRPr>
              <a:solidFill>
                <a:srgbClr val="000000"/>
              </a:solidFill>
              <a:latin typeface="Verdana"/>
              <a:ea typeface="Verdana"/>
              <a:cs typeface="Verdana"/>
              <a:sym typeface="Verdana"/>
            </a:endParaRPr>
          </a:p>
          <a:p>
            <a:pPr indent="-50800" lvl="0" marL="228600" rtl="0" algn="l">
              <a:lnSpc>
                <a:spcPct val="90000"/>
              </a:lnSpc>
              <a:spcBef>
                <a:spcPts val="1800"/>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 Elements</a:t>
            </a:r>
            <a:endParaRPr/>
          </a:p>
        </p:txBody>
      </p:sp>
      <p:sp>
        <p:nvSpPr>
          <p:cNvPr id="127" name="Google Shape;127;p8"/>
          <p:cNvSpPr txBox="1"/>
          <p:nvPr>
            <p:ph idx="1" type="body"/>
          </p:nvPr>
        </p:nvSpPr>
        <p:spPr>
          <a:xfrm>
            <a:off x="838200" y="1434354"/>
            <a:ext cx="10515600" cy="5226422"/>
          </a:xfrm>
          <a:prstGeom prst="rect">
            <a:avLst/>
          </a:prstGeom>
          <a:noFill/>
          <a:ln>
            <a:noFill/>
          </a:ln>
        </p:spPr>
        <p:txBody>
          <a:bodyPr anchorCtr="0" anchor="t" bIns="45700" lIns="91425" spcFirstLastPara="1" rIns="91425" wrap="square" tIns="45700">
            <a:normAutofit lnSpcReduction="20000"/>
          </a:bodyPr>
          <a:lstStyle/>
          <a:p>
            <a:pPr indent="-342900" lvl="1" marL="571500" rtl="0" algn="just">
              <a:lnSpc>
                <a:spcPct val="90000"/>
              </a:lnSpc>
              <a:spcBef>
                <a:spcPts val="0"/>
              </a:spcBef>
              <a:spcAft>
                <a:spcPts val="0"/>
              </a:spcAft>
              <a:buClr>
                <a:srgbClr val="000000"/>
              </a:buClr>
              <a:buSzPts val="2400"/>
              <a:buFont typeface="Noto Sans Symbols"/>
              <a:buChar char="❑"/>
            </a:pPr>
            <a:r>
              <a:rPr b="1" lang="en-US">
                <a:solidFill>
                  <a:srgbClr val="000000"/>
                </a:solidFill>
                <a:latin typeface="Verdana"/>
                <a:ea typeface="Verdana"/>
                <a:cs typeface="Verdana"/>
                <a:sym typeface="Verdana"/>
              </a:rPr>
              <a:t>Punctuality</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Stick to your committed time (for interviews / meetings / promised deliveries) </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Respond on time</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Keep people informed in case of delays </a:t>
            </a:r>
            <a:endParaRPr/>
          </a:p>
          <a:p>
            <a:pPr indent="-342900" lvl="1" marL="571500" rtl="0" algn="just">
              <a:lnSpc>
                <a:spcPct val="90000"/>
              </a:lnSpc>
              <a:spcBef>
                <a:spcPts val="1600"/>
              </a:spcBef>
              <a:spcAft>
                <a:spcPts val="0"/>
              </a:spcAft>
              <a:buClr>
                <a:srgbClr val="000000"/>
              </a:buClr>
              <a:buSzPts val="2400"/>
              <a:buFont typeface="Noto Sans Symbols"/>
              <a:buChar char="❑"/>
            </a:pPr>
            <a:r>
              <a:rPr b="1" lang="en-US">
                <a:solidFill>
                  <a:srgbClr val="000000"/>
                </a:solidFill>
                <a:latin typeface="Verdana"/>
                <a:ea typeface="Verdana"/>
                <a:cs typeface="Verdana"/>
                <a:sym typeface="Verdana"/>
              </a:rPr>
              <a:t>Clear and Concise Communication</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Use simple language </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Highlight important points</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Use visual aids like charts or graphs</a:t>
            </a:r>
            <a:endParaRPr/>
          </a:p>
          <a:p>
            <a:pPr indent="-342900" lvl="1" marL="571500" rtl="0" algn="just">
              <a:lnSpc>
                <a:spcPct val="90000"/>
              </a:lnSpc>
              <a:spcBef>
                <a:spcPts val="1600"/>
              </a:spcBef>
              <a:spcAft>
                <a:spcPts val="0"/>
              </a:spcAft>
              <a:buClr>
                <a:srgbClr val="000000"/>
              </a:buClr>
              <a:buSzPts val="2400"/>
              <a:buFont typeface="Noto Sans Symbols"/>
              <a:buChar char="❑"/>
            </a:pPr>
            <a:r>
              <a:rPr b="1" lang="en-US">
                <a:solidFill>
                  <a:srgbClr val="000000"/>
                </a:solidFill>
                <a:latin typeface="Verdana"/>
                <a:ea typeface="Verdana"/>
                <a:cs typeface="Verdana"/>
                <a:sym typeface="Verdana"/>
              </a:rPr>
              <a:t>Active Listening</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Pay attention and put aside distracting thoughts</a:t>
            </a:r>
            <a:endParaRPr/>
          </a:p>
          <a:p>
            <a:pPr indent="-457200" lvl="3" marL="1600200" rtl="0" algn="just">
              <a:lnSpc>
                <a:spcPct val="90000"/>
              </a:lnSpc>
              <a:spcBef>
                <a:spcPts val="1600"/>
              </a:spcBef>
              <a:spcAft>
                <a:spcPts val="0"/>
              </a:spcAft>
              <a:buClr>
                <a:srgbClr val="000000"/>
              </a:buClr>
              <a:buSzPts val="1800"/>
              <a:buFont typeface="Noto Sans Symbols"/>
              <a:buChar char="▪"/>
            </a:pPr>
            <a:r>
              <a:rPr lang="en-US">
                <a:solidFill>
                  <a:srgbClr val="000000"/>
                </a:solidFill>
                <a:latin typeface="Verdana"/>
                <a:ea typeface="Verdana"/>
                <a:cs typeface="Verdana"/>
                <a:sym typeface="Verdana"/>
              </a:rPr>
              <a:t>Show that you are listening and respond appropriately</a:t>
            </a:r>
            <a:endParaRPr/>
          </a:p>
          <a:p>
            <a:pPr indent="-50800" lvl="0" marL="22860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idx="1" type="body"/>
          </p:nvPr>
        </p:nvSpPr>
        <p:spPr>
          <a:xfrm>
            <a:off x="560294" y="911223"/>
            <a:ext cx="7516906" cy="5184775"/>
          </a:xfrm>
          <a:prstGeom prst="rect">
            <a:avLst/>
          </a:prstGeom>
          <a:noFill/>
          <a:ln>
            <a:noFill/>
          </a:ln>
        </p:spPr>
        <p:txBody>
          <a:bodyPr anchorCtr="0" anchor="t" bIns="45700" lIns="91425" spcFirstLastPara="1" rIns="91425" wrap="square" tIns="45700">
            <a:normAutofit fontScale="85000" lnSpcReduction="20000"/>
          </a:bodyPr>
          <a:lstStyle/>
          <a:p>
            <a:pPr indent="-320040" lvl="1" marL="571500" rtl="0" algn="just">
              <a:lnSpc>
                <a:spcPct val="90000"/>
              </a:lnSpc>
              <a:spcBef>
                <a:spcPts val="0"/>
              </a:spcBef>
              <a:spcAft>
                <a:spcPts val="0"/>
              </a:spcAft>
              <a:buClr>
                <a:schemeClr val="dk1"/>
              </a:buClr>
              <a:buSzPct val="100000"/>
              <a:buFont typeface="Noto Sans Symbols"/>
              <a:buChar char="❑"/>
            </a:pPr>
            <a:r>
              <a:rPr b="1" lang="en-US">
                <a:latin typeface="Arial"/>
                <a:ea typeface="Arial"/>
                <a:cs typeface="Arial"/>
                <a:sym typeface="Arial"/>
              </a:rPr>
              <a:t>Check and follow the organization protocol</a:t>
            </a:r>
            <a:endParaRPr/>
          </a:p>
          <a:p>
            <a:pPr indent="22860" lvl="1" marL="0" rtl="0" algn="just">
              <a:lnSpc>
                <a:spcPct val="90000"/>
              </a:lnSpc>
              <a:spcBef>
                <a:spcPts val="1600"/>
              </a:spcBef>
              <a:spcAft>
                <a:spcPts val="0"/>
              </a:spcAft>
              <a:buClr>
                <a:schemeClr val="dk1"/>
              </a:buClr>
              <a:buSzPct val="100000"/>
              <a:buChar char="•"/>
            </a:pPr>
            <a:r>
              <a:rPr lang="en-US">
                <a:latin typeface="Arial"/>
                <a:ea typeface="Arial"/>
                <a:cs typeface="Arial"/>
                <a:sym typeface="Arial"/>
              </a:rPr>
              <a:t>Usually organizations follow clear defined rules about communication. </a:t>
            </a:r>
            <a:endParaRPr/>
          </a:p>
          <a:p>
            <a:pPr indent="22860" lvl="1" marL="0" rtl="0" algn="just">
              <a:lnSpc>
                <a:spcPct val="90000"/>
              </a:lnSpc>
              <a:spcBef>
                <a:spcPts val="1600"/>
              </a:spcBef>
              <a:spcAft>
                <a:spcPts val="0"/>
              </a:spcAft>
              <a:buClr>
                <a:schemeClr val="dk1"/>
              </a:buClr>
              <a:buSzPct val="100000"/>
              <a:buChar char="•"/>
            </a:pPr>
            <a:r>
              <a:rPr lang="en-US">
                <a:latin typeface="Arial"/>
                <a:ea typeface="Arial"/>
                <a:cs typeface="Arial"/>
                <a:sym typeface="Arial"/>
              </a:rPr>
              <a:t>It specifies things like</a:t>
            </a:r>
            <a:endParaRPr/>
          </a:p>
          <a:p>
            <a:pPr indent="-440055" lvl="3" marL="1600200" rtl="0" algn="just">
              <a:lnSpc>
                <a:spcPct val="90000"/>
              </a:lnSpc>
              <a:spcBef>
                <a:spcPts val="1600"/>
              </a:spcBef>
              <a:spcAft>
                <a:spcPts val="0"/>
              </a:spcAft>
              <a:buClr>
                <a:schemeClr val="dk1"/>
              </a:buClr>
              <a:buSzPct val="100000"/>
              <a:buFont typeface="Noto Sans Symbols"/>
              <a:buChar char="▪"/>
            </a:pPr>
            <a:r>
              <a:rPr lang="en-US">
                <a:latin typeface="Arial"/>
                <a:ea typeface="Arial"/>
                <a:cs typeface="Arial"/>
                <a:sym typeface="Arial"/>
              </a:rPr>
              <a:t>what needs to be communicated and to whom</a:t>
            </a:r>
            <a:endParaRPr/>
          </a:p>
          <a:p>
            <a:pPr indent="-440055" lvl="3" marL="1600200" rtl="0" algn="just">
              <a:lnSpc>
                <a:spcPct val="90000"/>
              </a:lnSpc>
              <a:spcBef>
                <a:spcPts val="1600"/>
              </a:spcBef>
              <a:spcAft>
                <a:spcPts val="0"/>
              </a:spcAft>
              <a:buClr>
                <a:schemeClr val="dk1"/>
              </a:buClr>
              <a:buSzPct val="100000"/>
              <a:buFont typeface="Noto Sans Symbols"/>
              <a:buChar char="▪"/>
            </a:pPr>
            <a:r>
              <a:rPr lang="en-US">
                <a:latin typeface="Arial"/>
                <a:ea typeface="Arial"/>
                <a:cs typeface="Arial"/>
                <a:sym typeface="Arial"/>
              </a:rPr>
              <a:t>what tool to use and when</a:t>
            </a:r>
            <a:endParaRPr/>
          </a:p>
          <a:p>
            <a:pPr indent="-440055" lvl="3" marL="1600200" rtl="0" algn="just">
              <a:lnSpc>
                <a:spcPct val="90000"/>
              </a:lnSpc>
              <a:spcBef>
                <a:spcPts val="1600"/>
              </a:spcBef>
              <a:spcAft>
                <a:spcPts val="0"/>
              </a:spcAft>
              <a:buClr>
                <a:schemeClr val="dk1"/>
              </a:buClr>
              <a:buSzPct val="100000"/>
              <a:buFont typeface="Noto Sans Symbols"/>
              <a:buChar char="▪"/>
            </a:pPr>
            <a:r>
              <a:rPr lang="en-US">
                <a:latin typeface="Arial"/>
                <a:ea typeface="Arial"/>
                <a:cs typeface="Arial"/>
                <a:sym typeface="Arial"/>
              </a:rPr>
              <a:t>the timeline to respond</a:t>
            </a:r>
            <a:endParaRPr/>
          </a:p>
          <a:p>
            <a:pPr indent="-320040" lvl="1" marL="571500" rtl="0" algn="just">
              <a:lnSpc>
                <a:spcPct val="90000"/>
              </a:lnSpc>
              <a:spcBef>
                <a:spcPts val="1600"/>
              </a:spcBef>
              <a:spcAft>
                <a:spcPts val="0"/>
              </a:spcAft>
              <a:buClr>
                <a:schemeClr val="dk1"/>
              </a:buClr>
              <a:buSzPct val="100000"/>
              <a:buFont typeface="Noto Sans Symbols"/>
              <a:buChar char="❑"/>
            </a:pPr>
            <a:r>
              <a:rPr b="1" lang="en-US">
                <a:latin typeface="Arial"/>
                <a:ea typeface="Arial"/>
                <a:cs typeface="Arial"/>
                <a:sym typeface="Arial"/>
              </a:rPr>
              <a:t>Choose the proper channel to communicate</a:t>
            </a:r>
            <a:endParaRPr/>
          </a:p>
          <a:p>
            <a:pPr indent="-440055" lvl="3" marL="1600200" rtl="0" algn="just">
              <a:lnSpc>
                <a:spcPct val="90000"/>
              </a:lnSpc>
              <a:spcBef>
                <a:spcPts val="1600"/>
              </a:spcBef>
              <a:spcAft>
                <a:spcPts val="0"/>
              </a:spcAft>
              <a:buClr>
                <a:schemeClr val="dk1"/>
              </a:buClr>
              <a:buSzPct val="100000"/>
              <a:buFont typeface="Noto Sans Symbols"/>
              <a:buChar char="▪"/>
            </a:pPr>
            <a:r>
              <a:rPr lang="en-US">
                <a:latin typeface="Arial"/>
                <a:ea typeface="Arial"/>
                <a:cs typeface="Arial"/>
                <a:sym typeface="Arial"/>
              </a:rPr>
              <a:t>Face to face meeting / Telephonic Meeting / Video conferencing </a:t>
            </a:r>
            <a:endParaRPr/>
          </a:p>
          <a:p>
            <a:pPr indent="-440055" lvl="3" marL="1600200" rtl="0" algn="just">
              <a:lnSpc>
                <a:spcPct val="90000"/>
              </a:lnSpc>
              <a:spcBef>
                <a:spcPts val="1600"/>
              </a:spcBef>
              <a:spcAft>
                <a:spcPts val="0"/>
              </a:spcAft>
              <a:buClr>
                <a:schemeClr val="dk1"/>
              </a:buClr>
              <a:buSzPct val="100000"/>
              <a:buFont typeface="Noto Sans Symbols"/>
              <a:buChar char="▪"/>
            </a:pPr>
            <a:r>
              <a:rPr lang="en-US">
                <a:latin typeface="Arial"/>
                <a:ea typeface="Arial"/>
                <a:cs typeface="Arial"/>
                <a:sym typeface="Arial"/>
              </a:rPr>
              <a:t>Email / Instant Message </a:t>
            </a:r>
            <a:endParaRPr/>
          </a:p>
          <a:p>
            <a:pPr indent="-440055" lvl="3" marL="1600200" rtl="0" algn="just">
              <a:lnSpc>
                <a:spcPct val="90000"/>
              </a:lnSpc>
              <a:spcBef>
                <a:spcPts val="1600"/>
              </a:spcBef>
              <a:spcAft>
                <a:spcPts val="0"/>
              </a:spcAft>
              <a:buClr>
                <a:schemeClr val="dk1"/>
              </a:buClr>
              <a:buSzPct val="100000"/>
              <a:buFont typeface="Noto Sans Symbols"/>
              <a:buChar char="▪"/>
            </a:pPr>
            <a:r>
              <a:rPr lang="en-US">
                <a:latin typeface="Arial"/>
                <a:ea typeface="Arial"/>
                <a:cs typeface="Arial"/>
                <a:sym typeface="Arial"/>
              </a:rPr>
              <a:t>Presentation etc.</a:t>
            </a:r>
            <a:endParaRPr/>
          </a:p>
          <a:p>
            <a:pPr indent="-304800" lvl="1" marL="685800" rtl="0" algn="just">
              <a:lnSpc>
                <a:spcPct val="90000"/>
              </a:lnSpc>
              <a:spcBef>
                <a:spcPts val="1600"/>
              </a:spcBef>
              <a:spcAft>
                <a:spcPts val="0"/>
              </a:spcAft>
              <a:buClr>
                <a:schemeClr val="dk1"/>
              </a:buClr>
              <a:buSzPct val="100000"/>
              <a:buNone/>
            </a:pPr>
            <a:r>
              <a:t/>
            </a:r>
            <a:endParaRPr b="1">
              <a:latin typeface="Arial"/>
              <a:ea typeface="Arial"/>
              <a:cs typeface="Arial"/>
              <a:sym typeface="Arial"/>
            </a:endParaRPr>
          </a:p>
          <a:p>
            <a:pPr indent="-50800" lvl="0" marL="228600" rtl="0" algn="l">
              <a:lnSpc>
                <a:spcPct val="90000"/>
              </a:lnSpc>
              <a:spcBef>
                <a:spcPts val="1800"/>
              </a:spcBef>
              <a:spcAft>
                <a:spcPts val="0"/>
              </a:spcAft>
              <a:buClr>
                <a:schemeClr val="dk1"/>
              </a:buClr>
              <a:buSzPct val="100000"/>
              <a:buNone/>
            </a:pPr>
            <a:r>
              <a:t/>
            </a:r>
            <a:endParaRPr>
              <a:latin typeface="Arial"/>
              <a:ea typeface="Arial"/>
              <a:cs typeface="Arial"/>
              <a:sym typeface="Arial"/>
            </a:endParaRPr>
          </a:p>
        </p:txBody>
      </p:sp>
      <p:pic>
        <p:nvPicPr>
          <p:cNvPr descr="The Values of Workplace Etiquette - UT System HR" id="133" name="Google Shape;133;p9"/>
          <p:cNvPicPr preferRelativeResize="0"/>
          <p:nvPr/>
        </p:nvPicPr>
        <p:blipFill rotWithShape="1">
          <a:blip r:embed="rId3">
            <a:alphaModFix/>
          </a:blip>
          <a:srcRect b="0" l="0" r="0" t="0"/>
          <a:stretch/>
        </p:blipFill>
        <p:spPr>
          <a:xfrm>
            <a:off x="7739616" y="1828521"/>
            <a:ext cx="4146762" cy="23042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Few Pointers: Dos &amp; Don’ts</a:t>
            </a:r>
            <a:endParaRPr/>
          </a:p>
        </p:txBody>
      </p:sp>
      <p:sp>
        <p:nvSpPr>
          <p:cNvPr id="139" name="Google Shape;139;p10"/>
          <p:cNvSpPr txBox="1"/>
          <p:nvPr>
            <p:ph idx="1" type="body"/>
          </p:nvPr>
        </p:nvSpPr>
        <p:spPr>
          <a:xfrm>
            <a:off x="596152" y="1682191"/>
            <a:ext cx="11093824" cy="3149786"/>
          </a:xfrm>
          <a:prstGeom prst="rect">
            <a:avLst/>
          </a:prstGeom>
          <a:noFill/>
          <a:ln>
            <a:noFill/>
          </a:ln>
        </p:spPr>
        <p:txBody>
          <a:bodyPr anchorCtr="0" anchor="t" bIns="45700" lIns="91425" spcFirstLastPara="1" rIns="91425" wrap="square" tIns="45700">
            <a:normAutofit fontScale="47500" lnSpcReduction="20000"/>
          </a:bodyPr>
          <a:lstStyle/>
          <a:p>
            <a:pPr indent="-274319" lvl="1" marL="571500" rtl="0" algn="just">
              <a:lnSpc>
                <a:spcPct val="90000"/>
              </a:lnSpc>
              <a:spcBef>
                <a:spcPts val="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Respond on time and Stick to your commitments</a:t>
            </a:r>
            <a:endParaRPr/>
          </a:p>
          <a:p>
            <a:pPr indent="-274319" lvl="1" marL="5715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Never give wrong data or hide information deliberately</a:t>
            </a:r>
            <a:endParaRPr/>
          </a:p>
          <a:p>
            <a:pPr indent="-274319" lvl="1" marL="5715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Strictly avoid gossip in the workplace</a:t>
            </a:r>
            <a:endParaRPr/>
          </a:p>
          <a:p>
            <a:pPr indent="-274319" lvl="1" marL="5715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Ask for availability before proceeding to communicate </a:t>
            </a:r>
            <a:endParaRPr/>
          </a:p>
          <a:p>
            <a:pPr indent="0" lvl="1" marL="0" rtl="0" algn="just">
              <a:lnSpc>
                <a:spcPct val="90000"/>
              </a:lnSpc>
              <a:spcBef>
                <a:spcPts val="1600"/>
              </a:spcBef>
              <a:spcAft>
                <a:spcPts val="0"/>
              </a:spcAft>
              <a:buClr>
                <a:srgbClr val="000000"/>
              </a:buClr>
              <a:buSzPct val="100000"/>
              <a:buNone/>
            </a:pPr>
            <a:r>
              <a:rPr lang="en-US">
                <a:solidFill>
                  <a:srgbClr val="000000"/>
                </a:solidFill>
                <a:latin typeface="Arial"/>
                <a:ea typeface="Arial"/>
                <a:cs typeface="Arial"/>
                <a:sym typeface="Arial"/>
              </a:rPr>
              <a:t>	Example</a:t>
            </a:r>
            <a:endParaRPr/>
          </a:p>
          <a:p>
            <a:pPr indent="-234315" lvl="3" marL="120015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Call or email in advance to schedule a time to meet</a:t>
            </a:r>
            <a:endParaRPr/>
          </a:p>
          <a:p>
            <a:pPr indent="-234315" lvl="3" marL="120015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Announce your presence (with an “Excuse me” or "Hello") and check if the other person is available for a conversation</a:t>
            </a:r>
            <a:endParaRPr/>
          </a:p>
          <a:p>
            <a:pPr indent="-316230" lvl="1" marL="685800" rtl="0" algn="just">
              <a:lnSpc>
                <a:spcPct val="90000"/>
              </a:lnSpc>
              <a:spcBef>
                <a:spcPts val="1600"/>
              </a:spcBef>
              <a:spcAft>
                <a:spcPts val="0"/>
              </a:spcAft>
              <a:buClr>
                <a:schemeClr val="dk1"/>
              </a:buClr>
              <a:buSzPct val="100000"/>
              <a:buFont typeface="Noto Sans Symbols"/>
              <a:buNone/>
            </a:pPr>
            <a:r>
              <a:t/>
            </a:r>
            <a:endParaRPr>
              <a:solidFill>
                <a:srgbClr val="000000"/>
              </a:solidFill>
              <a:latin typeface="Arial"/>
              <a:ea typeface="Arial"/>
              <a:cs typeface="Arial"/>
              <a:sym typeface="Arial"/>
            </a:endParaRPr>
          </a:p>
          <a:p>
            <a:pPr indent="-316230" lvl="1" marL="685800" rtl="0" algn="just">
              <a:lnSpc>
                <a:spcPct val="90000"/>
              </a:lnSpc>
              <a:spcBef>
                <a:spcPts val="1600"/>
              </a:spcBef>
              <a:spcAft>
                <a:spcPts val="0"/>
              </a:spcAft>
              <a:buClr>
                <a:schemeClr val="dk1"/>
              </a:buClr>
              <a:buSzPct val="100000"/>
              <a:buFont typeface="Noto Sans Symbols"/>
              <a:buNone/>
            </a:pPr>
            <a:r>
              <a:t/>
            </a:r>
            <a:endParaRPr>
              <a:solidFill>
                <a:srgbClr val="000000"/>
              </a:solidFill>
              <a:latin typeface="Arial"/>
              <a:ea typeface="Arial"/>
              <a:cs typeface="Arial"/>
              <a:sym typeface="Arial"/>
            </a:endParaRPr>
          </a:p>
          <a:p>
            <a:pPr indent="-64135" lvl="0" marL="228600" rtl="0" algn="l">
              <a:lnSpc>
                <a:spcPct val="90000"/>
              </a:lnSpc>
              <a:spcBef>
                <a:spcPts val="1800"/>
              </a:spcBef>
              <a:spcAft>
                <a:spcPts val="0"/>
              </a:spcAft>
              <a:buClr>
                <a:schemeClr val="dk1"/>
              </a:buClr>
              <a:buSzPct val="100000"/>
              <a:buNone/>
            </a:pPr>
            <a:r>
              <a:t/>
            </a:r>
            <a:endParaRPr>
              <a:latin typeface="Arial"/>
              <a:ea typeface="Arial"/>
              <a:cs typeface="Arial"/>
              <a:sym typeface="Arial"/>
            </a:endParaRPr>
          </a:p>
        </p:txBody>
      </p:sp>
      <p:pic>
        <p:nvPicPr>
          <p:cNvPr id="140" name="Google Shape;140;p10"/>
          <p:cNvPicPr preferRelativeResize="0"/>
          <p:nvPr/>
        </p:nvPicPr>
        <p:blipFill rotWithShape="1">
          <a:blip r:embed="rId3">
            <a:alphaModFix/>
          </a:blip>
          <a:srcRect b="0" l="0" r="0" t="0"/>
          <a:stretch/>
        </p:blipFill>
        <p:spPr>
          <a:xfrm>
            <a:off x="3980329" y="4670724"/>
            <a:ext cx="4412953" cy="19289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Dos &amp; Don’ts</a:t>
            </a:r>
            <a:endParaRPr/>
          </a:p>
        </p:txBody>
      </p:sp>
      <p:sp>
        <p:nvSpPr>
          <p:cNvPr id="146" name="Google Shape;14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320040" lvl="1" marL="571500" rtl="0" algn="just">
              <a:lnSpc>
                <a:spcPct val="90000"/>
              </a:lnSpc>
              <a:spcBef>
                <a:spcPts val="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Deliver negative messages in a positive and constructive manner</a:t>
            </a:r>
            <a:endParaRPr/>
          </a:p>
          <a:p>
            <a:pPr indent="-320040" lvl="1" marL="5715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Ask questions, clarify doubts and verify your understanding</a:t>
            </a:r>
            <a:endParaRPr/>
          </a:p>
          <a:p>
            <a:pPr indent="-320040" lvl="1" marL="5715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Before sharing your written communication piece check for - grammar, punctuation, spelling, omitted words, repeated words, spacing and format and typographical errors.</a:t>
            </a:r>
            <a:endParaRPr/>
          </a:p>
          <a:p>
            <a:pPr indent="0" lvl="1" marL="0" rtl="0" algn="just">
              <a:lnSpc>
                <a:spcPct val="90000"/>
              </a:lnSpc>
              <a:spcBef>
                <a:spcPts val="1600"/>
              </a:spcBef>
              <a:spcAft>
                <a:spcPts val="0"/>
              </a:spcAft>
              <a:buClr>
                <a:srgbClr val="000000"/>
              </a:buClr>
              <a:buSzPct val="100000"/>
              <a:buNone/>
            </a:pPr>
            <a:r>
              <a:rPr lang="en-US">
                <a:solidFill>
                  <a:srgbClr val="000000"/>
                </a:solidFill>
                <a:latin typeface="Arial"/>
                <a:ea typeface="Arial"/>
                <a:cs typeface="Arial"/>
                <a:sym typeface="Arial"/>
              </a:rPr>
              <a:t>	Example:</a:t>
            </a:r>
            <a:endParaRPr/>
          </a:p>
          <a:p>
            <a:pPr indent="-268605" lvl="3" marL="142875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An email that reads </a:t>
            </a:r>
            <a:endParaRPr/>
          </a:p>
          <a:p>
            <a:pPr indent="-211455" lvl="5" marL="1828800" rtl="0" algn="just">
              <a:lnSpc>
                <a:spcPct val="90000"/>
              </a:lnSpc>
              <a:spcBef>
                <a:spcPts val="1600"/>
              </a:spcBef>
              <a:spcAft>
                <a:spcPts val="0"/>
              </a:spcAft>
              <a:buClr>
                <a:srgbClr val="000000"/>
              </a:buClr>
              <a:buSzPct val="100000"/>
              <a:buChar char="•"/>
            </a:pPr>
            <a:r>
              <a:rPr i="1" lang="en-US">
                <a:solidFill>
                  <a:srgbClr val="000000"/>
                </a:solidFill>
                <a:latin typeface="Arial"/>
                <a:ea typeface="Arial"/>
                <a:cs typeface="Arial"/>
                <a:sym typeface="Arial"/>
              </a:rPr>
              <a:t>Hell Rahul, </a:t>
            </a:r>
            <a:endParaRPr/>
          </a:p>
          <a:p>
            <a:pPr indent="-211455" lvl="5" marL="1828800" rtl="0" algn="just">
              <a:lnSpc>
                <a:spcPct val="90000"/>
              </a:lnSpc>
              <a:spcBef>
                <a:spcPts val="1600"/>
              </a:spcBef>
              <a:spcAft>
                <a:spcPts val="0"/>
              </a:spcAft>
              <a:buClr>
                <a:srgbClr val="000000"/>
              </a:buClr>
              <a:buSzPct val="100000"/>
              <a:buChar char="•"/>
            </a:pPr>
            <a:r>
              <a:rPr i="1" lang="en-US">
                <a:solidFill>
                  <a:srgbClr val="000000"/>
                </a:solidFill>
                <a:latin typeface="Arial"/>
                <a:ea typeface="Arial"/>
                <a:cs typeface="Arial"/>
                <a:sym typeface="Arial"/>
              </a:rPr>
              <a:t>Please send me the weekly report. </a:t>
            </a:r>
            <a:endParaRPr/>
          </a:p>
          <a:p>
            <a:pPr indent="-211455" lvl="5" marL="1828800" rtl="0" algn="just">
              <a:lnSpc>
                <a:spcPct val="90000"/>
              </a:lnSpc>
              <a:spcBef>
                <a:spcPts val="1600"/>
              </a:spcBef>
              <a:spcAft>
                <a:spcPts val="0"/>
              </a:spcAft>
              <a:buClr>
                <a:srgbClr val="000000"/>
              </a:buClr>
              <a:buSzPct val="100000"/>
              <a:buChar char="•"/>
            </a:pPr>
            <a:r>
              <a:rPr i="1" lang="en-US">
                <a:solidFill>
                  <a:srgbClr val="000000"/>
                </a:solidFill>
                <a:latin typeface="Arial"/>
                <a:ea typeface="Arial"/>
                <a:cs typeface="Arial"/>
                <a:sym typeface="Arial"/>
              </a:rPr>
              <a:t>Thak You Joy </a:t>
            </a:r>
            <a:endParaRPr/>
          </a:p>
          <a:p>
            <a:pPr indent="-211454" lvl="3" marL="914400" rtl="0" algn="just">
              <a:lnSpc>
                <a:spcPct val="90000"/>
              </a:lnSpc>
              <a:spcBef>
                <a:spcPts val="1600"/>
              </a:spcBef>
              <a:spcAft>
                <a:spcPts val="0"/>
              </a:spcAft>
              <a:buClr>
                <a:srgbClr val="000000"/>
              </a:buClr>
              <a:buSzPct val="100000"/>
              <a:buChar char="•"/>
            </a:pPr>
            <a:r>
              <a:rPr lang="en-US">
                <a:solidFill>
                  <a:srgbClr val="000000"/>
                </a:solidFill>
                <a:latin typeface="Arial"/>
                <a:ea typeface="Arial"/>
                <a:cs typeface="Arial"/>
                <a:sym typeface="Arial"/>
              </a:rPr>
              <a:t>may sound humorous to you but immediately creates a bad impression about the sender.</a:t>
            </a:r>
            <a:endParaRPr/>
          </a:p>
          <a:p>
            <a:pPr indent="-316230" lvl="1" marL="685800" rtl="0" algn="just">
              <a:lnSpc>
                <a:spcPct val="90000"/>
              </a:lnSpc>
              <a:spcBef>
                <a:spcPts val="1600"/>
              </a:spcBef>
              <a:spcAft>
                <a:spcPts val="0"/>
              </a:spcAft>
              <a:buClr>
                <a:schemeClr val="dk1"/>
              </a:buClr>
              <a:buSzPct val="100000"/>
              <a:buFont typeface="Noto Sans Symbols"/>
              <a:buNone/>
            </a:pPr>
            <a:r>
              <a:t/>
            </a:r>
            <a:endParaRPr>
              <a:solidFill>
                <a:srgbClr val="000000"/>
              </a:solidFill>
              <a:latin typeface="Arial"/>
              <a:ea typeface="Arial"/>
              <a:cs typeface="Arial"/>
              <a:sym typeface="Arial"/>
            </a:endParaRPr>
          </a:p>
          <a:p>
            <a:pPr indent="-64135" lvl="0" marL="228600" rtl="0" algn="l">
              <a:lnSpc>
                <a:spcPct val="90000"/>
              </a:lnSpc>
              <a:spcBef>
                <a:spcPts val="1800"/>
              </a:spcBef>
              <a:spcAft>
                <a:spcPts val="0"/>
              </a:spcAft>
              <a:buClr>
                <a:schemeClr val="dk1"/>
              </a:buClr>
              <a:buSzPct val="100000"/>
              <a:buNone/>
            </a:pPr>
            <a:r>
              <a:t/>
            </a:r>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Dos &amp; Don’ts</a:t>
            </a:r>
            <a:endParaRPr/>
          </a:p>
        </p:txBody>
      </p:sp>
      <p:sp>
        <p:nvSpPr>
          <p:cNvPr id="152" name="Google Shape;15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1" marL="571500" rtl="0" algn="just">
              <a:lnSpc>
                <a:spcPct val="90000"/>
              </a:lnSpc>
              <a:spcBef>
                <a:spcPts val="0"/>
              </a:spcBef>
              <a:spcAft>
                <a:spcPts val="0"/>
              </a:spcAft>
              <a:buClr>
                <a:srgbClr val="000000"/>
              </a:buClr>
              <a:buSzPts val="2400"/>
              <a:buFont typeface="Noto Sans Symbols"/>
              <a:buChar char="❑"/>
            </a:pPr>
            <a:r>
              <a:rPr lang="en-US">
                <a:solidFill>
                  <a:srgbClr val="000000"/>
                </a:solidFill>
                <a:latin typeface="Arial"/>
                <a:ea typeface="Arial"/>
                <a:cs typeface="Arial"/>
                <a:sym typeface="Arial"/>
              </a:rPr>
              <a:t>Maintain a positive body language and make eye contact during in person interactions</a:t>
            </a:r>
            <a:endParaRPr/>
          </a:p>
          <a:p>
            <a:pPr indent="-342900" lvl="1" marL="571500" rtl="0" algn="just">
              <a:lnSpc>
                <a:spcPct val="90000"/>
              </a:lnSpc>
              <a:spcBef>
                <a:spcPts val="1600"/>
              </a:spcBef>
              <a:spcAft>
                <a:spcPts val="0"/>
              </a:spcAft>
              <a:buClr>
                <a:srgbClr val="000000"/>
              </a:buClr>
              <a:buSzPts val="2400"/>
              <a:buFont typeface="Noto Sans Symbols"/>
              <a:buChar char="❑"/>
            </a:pPr>
            <a:r>
              <a:rPr lang="en-US">
                <a:solidFill>
                  <a:srgbClr val="000000"/>
                </a:solidFill>
                <a:latin typeface="Arial"/>
                <a:ea typeface="Arial"/>
                <a:cs typeface="Arial"/>
                <a:sym typeface="Arial"/>
              </a:rPr>
              <a:t>You should manage your emotions during professional interactions</a:t>
            </a:r>
            <a:endParaRPr/>
          </a:p>
          <a:p>
            <a:pPr indent="-342900" lvl="1" marL="571500" rtl="0" algn="just">
              <a:lnSpc>
                <a:spcPct val="90000"/>
              </a:lnSpc>
              <a:spcBef>
                <a:spcPts val="1600"/>
              </a:spcBef>
              <a:spcAft>
                <a:spcPts val="0"/>
              </a:spcAft>
              <a:buClr>
                <a:srgbClr val="000000"/>
              </a:buClr>
              <a:buSzPts val="2400"/>
              <a:buFont typeface="Noto Sans Symbols"/>
              <a:buChar char="❑"/>
            </a:pPr>
            <a:r>
              <a:rPr lang="en-US">
                <a:solidFill>
                  <a:srgbClr val="000000"/>
                </a:solidFill>
                <a:latin typeface="Arial"/>
                <a:ea typeface="Arial"/>
                <a:cs typeface="Arial"/>
                <a:sym typeface="Arial"/>
              </a:rPr>
              <a:t>Be respectful, do not interrupt others and do not dominate a conversation</a:t>
            </a:r>
            <a:endParaRPr/>
          </a:p>
          <a:p>
            <a:pPr indent="-342900" lvl="1" marL="571500" rtl="0" algn="just">
              <a:lnSpc>
                <a:spcPct val="90000"/>
              </a:lnSpc>
              <a:spcBef>
                <a:spcPts val="1600"/>
              </a:spcBef>
              <a:spcAft>
                <a:spcPts val="0"/>
              </a:spcAft>
              <a:buClr>
                <a:srgbClr val="000000"/>
              </a:buClr>
              <a:buSzPts val="2400"/>
              <a:buFont typeface="Noto Sans Symbols"/>
              <a:buChar char="❑"/>
            </a:pPr>
            <a:r>
              <a:rPr lang="en-US">
                <a:solidFill>
                  <a:srgbClr val="000000"/>
                </a:solidFill>
                <a:latin typeface="Arial"/>
                <a:ea typeface="Arial"/>
                <a:cs typeface="Arial"/>
                <a:sym typeface="Arial"/>
              </a:rPr>
              <a:t>Be confident. Be Assertive when needed. </a:t>
            </a:r>
            <a:endParaRPr/>
          </a:p>
          <a:p>
            <a:pPr indent="-342900" lvl="2" marL="1028700" rtl="0" algn="just">
              <a:lnSpc>
                <a:spcPct val="90000"/>
              </a:lnSpc>
              <a:spcBef>
                <a:spcPts val="1600"/>
              </a:spcBef>
              <a:spcAft>
                <a:spcPts val="0"/>
              </a:spcAft>
              <a:buClr>
                <a:srgbClr val="000000"/>
              </a:buClr>
              <a:buSzPts val="2000"/>
              <a:buFont typeface="Noto Sans Symbols"/>
              <a:buChar char="⮚"/>
            </a:pPr>
            <a:r>
              <a:rPr lang="en-US">
                <a:solidFill>
                  <a:srgbClr val="000000"/>
                </a:solidFill>
                <a:latin typeface="Arial"/>
                <a:ea typeface="Arial"/>
                <a:cs typeface="Arial"/>
                <a:sym typeface="Arial"/>
              </a:rPr>
              <a:t>Assertiveness means expressing your point of view in a way that is clear and direct, while still respecting others. </a:t>
            </a:r>
            <a:endParaRPr/>
          </a:p>
          <a:p>
            <a:pPr indent="-50800" lvl="0" marL="228600" rtl="0" algn="l">
              <a:lnSpc>
                <a:spcPct val="90000"/>
              </a:lnSpc>
              <a:spcBef>
                <a:spcPts val="1800"/>
              </a:spcBef>
              <a:spcAft>
                <a:spcPts val="0"/>
              </a:spcAft>
              <a:buClr>
                <a:schemeClr val="dk1"/>
              </a:buClr>
              <a:buSzPts val="2800"/>
              <a:buNone/>
            </a:pPr>
            <a:r>
              <a:t/>
            </a:r>
            <a:endParaRPr>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Calibri"/>
              <a:buNone/>
            </a:pPr>
            <a:r>
              <a:rPr lang="en-US">
                <a:solidFill>
                  <a:srgbClr val="000000"/>
                </a:solidFill>
              </a:rPr>
              <a:t>Try It Yourself</a:t>
            </a:r>
            <a:endParaRPr/>
          </a:p>
        </p:txBody>
      </p:sp>
      <p:sp>
        <p:nvSpPr>
          <p:cNvPr id="158" name="Google Shape;158;p13"/>
          <p:cNvSpPr txBox="1"/>
          <p:nvPr>
            <p:ph idx="1" type="body"/>
          </p:nvPr>
        </p:nvSpPr>
        <p:spPr>
          <a:xfrm>
            <a:off x="838200" y="1852519"/>
            <a:ext cx="10515600" cy="4351338"/>
          </a:xfrm>
          <a:prstGeom prst="rect">
            <a:avLst/>
          </a:prstGeom>
          <a:noFill/>
          <a:ln>
            <a:noFill/>
          </a:ln>
        </p:spPr>
        <p:txBody>
          <a:bodyPr anchorCtr="0" anchor="t" bIns="45700" lIns="91425" spcFirstLastPara="1" rIns="91425" wrap="square" tIns="45700">
            <a:normAutofit/>
          </a:bodyPr>
          <a:lstStyle/>
          <a:p>
            <a:pPr indent="0" lvl="1" marL="228600" rtl="0" algn="just">
              <a:lnSpc>
                <a:spcPct val="90000"/>
              </a:lnSpc>
              <a:spcBef>
                <a:spcPts val="0"/>
              </a:spcBef>
              <a:spcAft>
                <a:spcPts val="0"/>
              </a:spcAft>
              <a:buClr>
                <a:srgbClr val="000000"/>
              </a:buClr>
              <a:buSzPts val="2400"/>
              <a:buNone/>
            </a:pPr>
            <a:r>
              <a:rPr b="1" lang="en-US">
                <a:solidFill>
                  <a:srgbClr val="000000"/>
                </a:solidFill>
                <a:latin typeface="Arial"/>
                <a:ea typeface="Arial"/>
                <a:cs typeface="Arial"/>
                <a:sym typeface="Arial"/>
              </a:rPr>
              <a:t>Suppose your manager asks you to take on an additional assignment and you realize that if you work on it you will not be able to complete the current work on time. What do you do?</a:t>
            </a:r>
            <a:endParaRPr/>
          </a:p>
          <a:p>
            <a:pPr indent="-285750" lvl="2" marL="742950" rtl="0" algn="just">
              <a:lnSpc>
                <a:spcPct val="90000"/>
              </a:lnSpc>
              <a:spcBef>
                <a:spcPts val="1600"/>
              </a:spcBef>
              <a:spcAft>
                <a:spcPts val="0"/>
              </a:spcAft>
              <a:buClr>
                <a:srgbClr val="000000"/>
              </a:buClr>
              <a:buSzPts val="2000"/>
              <a:buFont typeface="Courier New"/>
              <a:buChar char="o"/>
            </a:pPr>
            <a:r>
              <a:rPr lang="en-US">
                <a:solidFill>
                  <a:srgbClr val="000000"/>
                </a:solidFill>
                <a:latin typeface="Arial"/>
                <a:ea typeface="Arial"/>
                <a:cs typeface="Arial"/>
                <a:sym typeface="Arial"/>
              </a:rPr>
              <a:t>Option A. Take on the new work as you cannot say no to your manager and then hope for the best</a:t>
            </a:r>
            <a:endParaRPr/>
          </a:p>
          <a:p>
            <a:pPr indent="-285750" lvl="2" marL="742950" rtl="0" algn="just">
              <a:lnSpc>
                <a:spcPct val="90000"/>
              </a:lnSpc>
              <a:spcBef>
                <a:spcPts val="1600"/>
              </a:spcBef>
              <a:spcAft>
                <a:spcPts val="0"/>
              </a:spcAft>
              <a:buClr>
                <a:srgbClr val="000000"/>
              </a:buClr>
              <a:buSzPts val="2000"/>
              <a:buFont typeface="Courier New"/>
              <a:buChar char="o"/>
            </a:pPr>
            <a:r>
              <a:rPr lang="en-US">
                <a:solidFill>
                  <a:srgbClr val="000000"/>
                </a:solidFill>
                <a:latin typeface="Arial"/>
                <a:ea typeface="Arial"/>
                <a:cs typeface="Arial"/>
                <a:sym typeface="Arial"/>
              </a:rPr>
              <a:t>Option B. Directly say 'No I am busy' </a:t>
            </a:r>
            <a:endParaRPr/>
          </a:p>
          <a:p>
            <a:pPr indent="-285750" lvl="2" marL="742950" rtl="0" algn="just">
              <a:lnSpc>
                <a:spcPct val="90000"/>
              </a:lnSpc>
              <a:spcBef>
                <a:spcPts val="1600"/>
              </a:spcBef>
              <a:spcAft>
                <a:spcPts val="0"/>
              </a:spcAft>
              <a:buClr>
                <a:srgbClr val="000000"/>
              </a:buClr>
              <a:buSzPts val="2000"/>
              <a:buFont typeface="Courier New"/>
              <a:buChar char="o"/>
            </a:pPr>
            <a:r>
              <a:rPr lang="en-US">
                <a:solidFill>
                  <a:srgbClr val="000000"/>
                </a:solidFill>
                <a:latin typeface="Arial"/>
                <a:ea typeface="Arial"/>
                <a:cs typeface="Arial"/>
                <a:sym typeface="Arial"/>
              </a:rPr>
              <a:t>Option C.  Explain to your manager ""I am working on abc which I have to submit by this week. I can certainly take on the new tasks but then abc will be delayed. I will need your guidance to help me prioritize the tasks.“</a:t>
            </a:r>
            <a:endParaRPr/>
          </a:p>
          <a:p>
            <a:pPr indent="-228600" lvl="2" marL="457200" rtl="0" algn="just">
              <a:lnSpc>
                <a:spcPct val="90000"/>
              </a:lnSpc>
              <a:spcBef>
                <a:spcPts val="1600"/>
              </a:spcBef>
              <a:spcAft>
                <a:spcPts val="0"/>
              </a:spcAft>
              <a:buClr>
                <a:srgbClr val="000000"/>
              </a:buClr>
              <a:buSzPts val="2000"/>
              <a:buChar char="•"/>
            </a:pPr>
            <a:r>
              <a:rPr lang="en-US">
                <a:solidFill>
                  <a:srgbClr val="000000"/>
                </a:solidFill>
                <a:latin typeface="Arial"/>
                <a:ea typeface="Arial"/>
                <a:cs typeface="Arial"/>
                <a:sym typeface="Arial"/>
              </a:rPr>
              <a:t>Which do you think is an example of assertive communication? </a:t>
            </a:r>
            <a:endParaRPr/>
          </a:p>
          <a:p>
            <a:pPr indent="0" lvl="2" marL="228600" rtl="0" algn="just">
              <a:lnSpc>
                <a:spcPct val="90000"/>
              </a:lnSpc>
              <a:spcBef>
                <a:spcPts val="1600"/>
              </a:spcBef>
              <a:spcAft>
                <a:spcPts val="0"/>
              </a:spcAft>
              <a:buClr>
                <a:srgbClr val="000000"/>
              </a:buClr>
              <a:buSzPts val="2400"/>
              <a:buNone/>
            </a:pPr>
            <a:r>
              <a:rPr b="1" lang="en-US" sz="2400">
                <a:solidFill>
                  <a:srgbClr val="000000"/>
                </a:solidFill>
                <a:latin typeface="Arial"/>
                <a:ea typeface="Arial"/>
                <a:cs typeface="Arial"/>
                <a:sym typeface="Arial"/>
              </a:rPr>
              <a:t>Correct Option is option 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REMOTE COMMUNICATION</a:t>
            </a:r>
            <a:endParaRPr/>
          </a:p>
        </p:txBody>
      </p:sp>
      <p:sp>
        <p:nvSpPr>
          <p:cNvPr id="164" name="Google Shape;164;p14"/>
          <p:cNvSpPr txBox="1"/>
          <p:nvPr>
            <p:ph idx="1" type="body"/>
          </p:nvPr>
        </p:nvSpPr>
        <p:spPr>
          <a:xfrm>
            <a:off x="5307107" y="1825624"/>
            <a:ext cx="6163236" cy="4808257"/>
          </a:xfrm>
          <a:prstGeom prst="rect">
            <a:avLst/>
          </a:prstGeom>
          <a:noFill/>
          <a:ln>
            <a:noFill/>
          </a:ln>
        </p:spPr>
        <p:txBody>
          <a:bodyPr anchorCtr="0" anchor="t" bIns="45700" lIns="91425" spcFirstLastPara="1" rIns="91425" wrap="square" tIns="45700">
            <a:normAutofit lnSpcReduction="10000"/>
          </a:bodyPr>
          <a:lstStyle/>
          <a:p>
            <a:pPr indent="-342900" lvl="1" marL="342900" rtl="0" algn="just">
              <a:lnSpc>
                <a:spcPct val="90000"/>
              </a:lnSpc>
              <a:spcBef>
                <a:spcPts val="0"/>
              </a:spcBef>
              <a:spcAft>
                <a:spcPts val="0"/>
              </a:spcAft>
              <a:buClr>
                <a:srgbClr val="000000"/>
              </a:buClr>
              <a:buSzPts val="2400"/>
              <a:buFont typeface="Noto Sans Symbols"/>
              <a:buChar char="❑"/>
            </a:pPr>
            <a:r>
              <a:rPr lang="en-US">
                <a:solidFill>
                  <a:srgbClr val="000000"/>
                </a:solidFill>
                <a:latin typeface="Verdana"/>
                <a:ea typeface="Verdana"/>
                <a:cs typeface="Verdana"/>
                <a:sym typeface="Verdana"/>
              </a:rPr>
              <a:t>When the communication takes place between individuals or teams who are located in different locations we call it remote communication. </a:t>
            </a:r>
            <a:endParaRPr/>
          </a:p>
          <a:p>
            <a:pPr indent="-342900" lvl="1" marL="342900" rtl="0" algn="just">
              <a:lnSpc>
                <a:spcPct val="90000"/>
              </a:lnSpc>
              <a:spcBef>
                <a:spcPts val="1600"/>
              </a:spcBef>
              <a:spcAft>
                <a:spcPts val="0"/>
              </a:spcAft>
              <a:buClr>
                <a:srgbClr val="000000"/>
              </a:buClr>
              <a:buSzPts val="2400"/>
              <a:buFont typeface="Noto Sans Symbols"/>
              <a:buChar char="❑"/>
            </a:pPr>
            <a:r>
              <a:rPr b="1" lang="en-US">
                <a:solidFill>
                  <a:srgbClr val="000000"/>
                </a:solidFill>
                <a:latin typeface="Verdana"/>
                <a:ea typeface="Verdana"/>
                <a:cs typeface="Verdana"/>
                <a:sym typeface="Verdana"/>
              </a:rPr>
              <a:t>Biggest Challenge ?</a:t>
            </a:r>
            <a:r>
              <a:rPr lang="en-US">
                <a:solidFill>
                  <a:srgbClr val="000000"/>
                </a:solidFill>
                <a:latin typeface="Verdana"/>
                <a:ea typeface="Verdana"/>
                <a:cs typeface="Verdana"/>
                <a:sym typeface="Verdana"/>
              </a:rPr>
              <a:t> </a:t>
            </a:r>
            <a:endParaRPr/>
          </a:p>
          <a:p>
            <a:pPr indent="-342900" lvl="1" marL="342900" rtl="0" algn="just">
              <a:lnSpc>
                <a:spcPct val="90000"/>
              </a:lnSpc>
              <a:spcBef>
                <a:spcPts val="1600"/>
              </a:spcBef>
              <a:spcAft>
                <a:spcPts val="0"/>
              </a:spcAft>
              <a:buClr>
                <a:srgbClr val="000000"/>
              </a:buClr>
              <a:buSzPts val="2400"/>
              <a:buFont typeface="Noto Sans Symbols"/>
              <a:buChar char="⮚"/>
            </a:pPr>
            <a:r>
              <a:rPr lang="en-US">
                <a:solidFill>
                  <a:srgbClr val="000000"/>
                </a:solidFill>
                <a:latin typeface="Verdana"/>
                <a:ea typeface="Verdana"/>
                <a:cs typeface="Verdana"/>
                <a:sym typeface="Verdana"/>
              </a:rPr>
              <a:t>Distance</a:t>
            </a:r>
            <a:endParaRPr/>
          </a:p>
          <a:p>
            <a:pPr indent="-285750" lvl="1" marL="285750" rtl="0" algn="just">
              <a:lnSpc>
                <a:spcPct val="90000"/>
              </a:lnSpc>
              <a:spcBef>
                <a:spcPts val="1600"/>
              </a:spcBef>
              <a:spcAft>
                <a:spcPts val="0"/>
              </a:spcAft>
              <a:buClr>
                <a:srgbClr val="000000"/>
              </a:buClr>
              <a:buSzPts val="2400"/>
              <a:buFont typeface="Noto Sans Symbols"/>
              <a:buChar char="⮚"/>
            </a:pPr>
            <a:r>
              <a:rPr lang="en-US">
                <a:solidFill>
                  <a:srgbClr val="000000"/>
                </a:solidFill>
                <a:latin typeface="Verdana"/>
                <a:ea typeface="Verdana"/>
                <a:cs typeface="Verdana"/>
                <a:sym typeface="Verdana"/>
              </a:rPr>
              <a:t>You cannot read the body language of the speaker so it may lead to the possibility of misinterpretation and trust issues</a:t>
            </a:r>
            <a:endParaRPr/>
          </a:p>
          <a:p>
            <a:pPr indent="0" lvl="1" marL="0" rtl="0" algn="just">
              <a:lnSpc>
                <a:spcPct val="90000"/>
              </a:lnSpc>
              <a:spcBef>
                <a:spcPts val="1600"/>
              </a:spcBef>
              <a:spcAft>
                <a:spcPts val="0"/>
              </a:spcAft>
              <a:buClr>
                <a:schemeClr val="dk1"/>
              </a:buClr>
              <a:buSzPts val="2400"/>
              <a:buNone/>
            </a:pPr>
            <a:r>
              <a:t/>
            </a:r>
            <a:endParaRPr b="1">
              <a:solidFill>
                <a:srgbClr val="000000"/>
              </a:solidFill>
              <a:latin typeface="Verdana"/>
              <a:ea typeface="Verdana"/>
              <a:cs typeface="Verdana"/>
              <a:sym typeface="Verdana"/>
            </a:endParaRPr>
          </a:p>
        </p:txBody>
      </p:sp>
      <p:pic>
        <p:nvPicPr>
          <p:cNvPr descr="What Is Remote Communication: The Ultimate 2021 Guide | Otter.ai" id="165" name="Google Shape;165;p14"/>
          <p:cNvPicPr preferRelativeResize="0"/>
          <p:nvPr/>
        </p:nvPicPr>
        <p:blipFill rotWithShape="1">
          <a:blip r:embed="rId3">
            <a:alphaModFix/>
          </a:blip>
          <a:srcRect b="0" l="0" r="0" t="0"/>
          <a:stretch/>
        </p:blipFill>
        <p:spPr>
          <a:xfrm>
            <a:off x="150159" y="1890432"/>
            <a:ext cx="5128558" cy="307713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idx="1" type="body"/>
          </p:nvPr>
        </p:nvSpPr>
        <p:spPr>
          <a:xfrm>
            <a:off x="609600" y="726141"/>
            <a:ext cx="10515600" cy="5907900"/>
          </a:xfrm>
          <a:prstGeom prst="rect">
            <a:avLst/>
          </a:prstGeom>
          <a:noFill/>
          <a:ln>
            <a:noFill/>
          </a:ln>
        </p:spPr>
        <p:txBody>
          <a:bodyPr anchorCtr="0" anchor="t" bIns="45700" lIns="91425" spcFirstLastPara="1" rIns="91425" wrap="square" tIns="45700">
            <a:normAutofit fontScale="85000" lnSpcReduction="20000"/>
          </a:bodyPr>
          <a:lstStyle/>
          <a:p>
            <a:pPr indent="0" lvl="1" marL="0" rtl="0" algn="just">
              <a:lnSpc>
                <a:spcPct val="90000"/>
              </a:lnSpc>
              <a:spcBef>
                <a:spcPts val="0"/>
              </a:spcBef>
              <a:spcAft>
                <a:spcPts val="0"/>
              </a:spcAft>
              <a:buClr>
                <a:schemeClr val="dk1"/>
              </a:buClr>
              <a:buSzPct val="100000"/>
              <a:buNone/>
            </a:pPr>
            <a:r>
              <a:t/>
            </a:r>
            <a:endParaRPr b="1">
              <a:solidFill>
                <a:srgbClr val="000000"/>
              </a:solidFill>
              <a:latin typeface="Arial"/>
              <a:ea typeface="Arial"/>
              <a:cs typeface="Arial"/>
              <a:sym typeface="Arial"/>
            </a:endParaRPr>
          </a:p>
          <a:p>
            <a:pPr indent="0" lvl="1" marL="0" rtl="0" algn="just">
              <a:lnSpc>
                <a:spcPct val="90000"/>
              </a:lnSpc>
              <a:spcBef>
                <a:spcPts val="1600"/>
              </a:spcBef>
              <a:spcAft>
                <a:spcPts val="0"/>
              </a:spcAft>
              <a:buClr>
                <a:srgbClr val="000000"/>
              </a:buClr>
              <a:buSzPct val="100000"/>
              <a:buNone/>
            </a:pPr>
            <a:r>
              <a:rPr b="1" lang="en-US" sz="2600">
                <a:solidFill>
                  <a:srgbClr val="000000"/>
                </a:solidFill>
                <a:latin typeface="Arial"/>
                <a:ea typeface="Arial"/>
                <a:cs typeface="Arial"/>
                <a:sym typeface="Arial"/>
              </a:rPr>
              <a:t>For Remote Communication</a:t>
            </a:r>
            <a:endParaRPr/>
          </a:p>
          <a:p>
            <a:pPr indent="140970" lvl="1" marL="0" rtl="0" algn="just">
              <a:lnSpc>
                <a:spcPct val="90000"/>
              </a:lnSpc>
              <a:spcBef>
                <a:spcPts val="1600"/>
              </a:spcBef>
              <a:spcAft>
                <a:spcPts val="0"/>
              </a:spcAft>
              <a:buClr>
                <a:schemeClr val="dk1"/>
              </a:buClr>
              <a:buSzPct val="100000"/>
              <a:buNone/>
            </a:pPr>
            <a:r>
              <a:t/>
            </a:r>
            <a:endParaRPr b="1">
              <a:solidFill>
                <a:srgbClr val="000000"/>
              </a:solidFill>
              <a:latin typeface="Arial"/>
              <a:ea typeface="Arial"/>
              <a:cs typeface="Arial"/>
              <a:sym typeface="Arial"/>
            </a:endParaRPr>
          </a:p>
          <a:p>
            <a:pPr indent="-445769" lvl="1" marL="685800" rtl="0" algn="just">
              <a:lnSpc>
                <a:spcPct val="90000"/>
              </a:lnSpc>
              <a:spcBef>
                <a:spcPts val="1600"/>
              </a:spcBef>
              <a:spcAft>
                <a:spcPts val="0"/>
              </a:spcAft>
              <a:buClr>
                <a:srgbClr val="000000"/>
              </a:buClr>
              <a:buSzPct val="100000"/>
              <a:buFont typeface="Noto Sans Symbols"/>
              <a:buChar char="❑"/>
            </a:pPr>
            <a:r>
              <a:rPr b="1" lang="en-US">
                <a:solidFill>
                  <a:srgbClr val="000000"/>
                </a:solidFill>
                <a:latin typeface="Arial"/>
                <a:ea typeface="Arial"/>
                <a:cs typeface="Arial"/>
                <a:sym typeface="Arial"/>
              </a:rPr>
              <a:t>WFH</a:t>
            </a:r>
            <a:r>
              <a:rPr lang="en-US">
                <a:solidFill>
                  <a:srgbClr val="000000"/>
                </a:solidFill>
                <a:latin typeface="Arial"/>
                <a:ea typeface="Arial"/>
                <a:cs typeface="Arial"/>
                <a:sym typeface="Arial"/>
              </a:rPr>
              <a:t> [work from home] use a </a:t>
            </a:r>
            <a:r>
              <a:rPr b="1" lang="en-US">
                <a:solidFill>
                  <a:srgbClr val="000000"/>
                </a:solidFill>
                <a:latin typeface="Arial"/>
                <a:ea typeface="Arial"/>
                <a:cs typeface="Arial"/>
                <a:sym typeface="Arial"/>
              </a:rPr>
              <a:t>formal and distraction free environment</a:t>
            </a:r>
            <a:endParaRPr/>
          </a:p>
          <a:p>
            <a:pPr indent="-445769" lvl="1" marL="6858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Be available on all expected communication channels during your work hours</a:t>
            </a:r>
            <a:endParaRPr/>
          </a:p>
          <a:p>
            <a:pPr indent="-445769" lvl="1" marL="6858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Show your </a:t>
            </a:r>
            <a:r>
              <a:rPr b="1" lang="en-US">
                <a:solidFill>
                  <a:srgbClr val="000000"/>
                </a:solidFill>
                <a:latin typeface="Arial"/>
                <a:ea typeface="Arial"/>
                <a:cs typeface="Arial"/>
                <a:sym typeface="Arial"/>
              </a:rPr>
              <a:t>availability status </a:t>
            </a:r>
            <a:r>
              <a:rPr lang="en-US">
                <a:solidFill>
                  <a:srgbClr val="000000"/>
                </a:solidFill>
                <a:latin typeface="Arial"/>
                <a:ea typeface="Arial"/>
                <a:cs typeface="Arial"/>
                <a:sym typeface="Arial"/>
              </a:rPr>
              <a:t>and keep your supervisor/team informed</a:t>
            </a:r>
            <a:endParaRPr b="1">
              <a:solidFill>
                <a:srgbClr val="000000"/>
              </a:solidFill>
              <a:latin typeface="Arial"/>
              <a:ea typeface="Arial"/>
              <a:cs typeface="Arial"/>
              <a:sym typeface="Arial"/>
            </a:endParaRPr>
          </a:p>
          <a:p>
            <a:pPr indent="-445769" lvl="1" marL="685800" rtl="0" algn="just">
              <a:lnSpc>
                <a:spcPct val="90000"/>
              </a:lnSpc>
              <a:spcBef>
                <a:spcPts val="1600"/>
              </a:spcBef>
              <a:spcAft>
                <a:spcPts val="0"/>
              </a:spcAft>
              <a:buClr>
                <a:srgbClr val="000000"/>
              </a:buClr>
              <a:buSzPct val="100000"/>
              <a:buFont typeface="Noto Sans Symbols"/>
              <a:buChar char="❑"/>
            </a:pPr>
            <a:r>
              <a:rPr lang="en-US">
                <a:solidFill>
                  <a:srgbClr val="000000"/>
                </a:solidFill>
                <a:latin typeface="Arial"/>
                <a:ea typeface="Arial"/>
                <a:cs typeface="Arial"/>
                <a:sym typeface="Arial"/>
              </a:rPr>
              <a:t>When working across time zones and interacting with people from other cultures having different accents always demonstrate a </a:t>
            </a:r>
            <a:r>
              <a:rPr b="1" lang="en-US">
                <a:solidFill>
                  <a:srgbClr val="000000"/>
                </a:solidFill>
                <a:latin typeface="Arial"/>
                <a:ea typeface="Arial"/>
                <a:cs typeface="Arial"/>
                <a:sym typeface="Arial"/>
              </a:rPr>
              <a:t>respect for difference</a:t>
            </a:r>
            <a:r>
              <a:rPr lang="en-US">
                <a:solidFill>
                  <a:srgbClr val="000000"/>
                </a:solidFill>
                <a:latin typeface="Arial"/>
                <a:ea typeface="Arial"/>
                <a:cs typeface="Arial"/>
                <a:sym typeface="Arial"/>
              </a:rPr>
              <a:t>.</a:t>
            </a:r>
            <a:endParaRPr/>
          </a:p>
          <a:p>
            <a:pPr indent="-445769" lvl="1" marL="685800" rtl="0" algn="just">
              <a:lnSpc>
                <a:spcPct val="90000"/>
              </a:lnSpc>
              <a:spcBef>
                <a:spcPts val="1600"/>
              </a:spcBef>
              <a:spcAft>
                <a:spcPts val="0"/>
              </a:spcAft>
              <a:buClr>
                <a:srgbClr val="000000"/>
              </a:buClr>
              <a:buSzPct val="100000"/>
              <a:buFont typeface="Noto Sans Symbols"/>
              <a:buChar char="❑"/>
            </a:pPr>
            <a:r>
              <a:rPr b="1" lang="en-US">
                <a:solidFill>
                  <a:srgbClr val="000000"/>
                </a:solidFill>
                <a:latin typeface="Arial"/>
                <a:ea typeface="Arial"/>
                <a:cs typeface="Arial"/>
                <a:sym typeface="Arial"/>
              </a:rPr>
              <a:t>Seek feedback</a:t>
            </a:r>
            <a:r>
              <a:rPr lang="en-US">
                <a:solidFill>
                  <a:srgbClr val="000000"/>
                </a:solidFill>
                <a:latin typeface="Arial"/>
                <a:ea typeface="Arial"/>
                <a:cs typeface="Arial"/>
                <a:sym typeface="Arial"/>
              </a:rPr>
              <a:t>:  It is always good to check if your message has been understood correctly. You may ask for confirmation or ask a few questions to find out whether you have been successful in conveying what you wanted to. [This is true for all communications but is very crucial for remote business communication]</a:t>
            </a:r>
            <a:endParaRPr/>
          </a:p>
          <a:p>
            <a:pPr indent="-316230" lvl="1" marL="685800" rtl="0" algn="just">
              <a:lnSpc>
                <a:spcPct val="90000"/>
              </a:lnSpc>
              <a:spcBef>
                <a:spcPts val="1600"/>
              </a:spcBef>
              <a:spcAft>
                <a:spcPts val="0"/>
              </a:spcAft>
              <a:buClr>
                <a:schemeClr val="dk1"/>
              </a:buClr>
              <a:buSzPct val="100000"/>
              <a:buFont typeface="Noto Sans Symbols"/>
              <a:buNone/>
            </a:pPr>
            <a:r>
              <a:t/>
            </a:r>
            <a:endParaRPr b="1">
              <a:solidFill>
                <a:srgbClr val="000000"/>
              </a:solidFill>
              <a:latin typeface="Arial"/>
              <a:ea typeface="Arial"/>
              <a:cs typeface="Arial"/>
              <a:sym typeface="Arial"/>
            </a:endParaRPr>
          </a:p>
          <a:p>
            <a:pPr indent="-316230" lvl="1" marL="685800" rtl="0" algn="just">
              <a:lnSpc>
                <a:spcPct val="90000"/>
              </a:lnSpc>
              <a:spcBef>
                <a:spcPts val="1600"/>
              </a:spcBef>
              <a:spcAft>
                <a:spcPts val="0"/>
              </a:spcAft>
              <a:buClr>
                <a:schemeClr val="dk1"/>
              </a:buClr>
              <a:buSzPct val="100000"/>
              <a:buFont typeface="Noto Sans Symbols"/>
              <a:buNone/>
            </a:pPr>
            <a:r>
              <a:t/>
            </a:r>
            <a:endParaRPr b="1">
              <a:solidFill>
                <a:srgbClr val="000000"/>
              </a:solidFill>
              <a:latin typeface="Arial"/>
              <a:ea typeface="Arial"/>
              <a:cs typeface="Arial"/>
              <a:sym typeface="Arial"/>
            </a:endParaRPr>
          </a:p>
          <a:p>
            <a:pPr indent="-316230" lvl="1" marL="685800" rtl="0" algn="just">
              <a:lnSpc>
                <a:spcPct val="90000"/>
              </a:lnSpc>
              <a:spcBef>
                <a:spcPts val="1600"/>
              </a:spcBef>
              <a:spcAft>
                <a:spcPts val="0"/>
              </a:spcAft>
              <a:buClr>
                <a:schemeClr val="dk1"/>
              </a:buClr>
              <a:buSzPct val="100000"/>
              <a:buFont typeface="Noto Sans Symbols"/>
              <a:buNone/>
            </a:pPr>
            <a:r>
              <a:t/>
            </a:r>
            <a:endParaRPr b="1">
              <a:solidFill>
                <a:srgbClr val="000000"/>
              </a:solidFill>
              <a:latin typeface="Arial"/>
              <a:ea typeface="Arial"/>
              <a:cs typeface="Arial"/>
              <a:sym typeface="Arial"/>
            </a:endParaRPr>
          </a:p>
          <a:p>
            <a:pPr indent="-64135" lvl="0" marL="228600" rtl="0" algn="l">
              <a:lnSpc>
                <a:spcPct val="90000"/>
              </a:lnSpc>
              <a:spcBef>
                <a:spcPts val="1800"/>
              </a:spcBef>
              <a:spcAft>
                <a:spcPts val="0"/>
              </a:spcAft>
              <a:buClr>
                <a:schemeClr val="dk1"/>
              </a:buClr>
              <a:buSzPct val="100000"/>
              <a:buNone/>
            </a:pPr>
            <a:r>
              <a:t/>
            </a:r>
            <a:endParaRPr>
              <a:latin typeface="Arial"/>
              <a:ea typeface="Arial"/>
              <a:cs typeface="Arial"/>
              <a:sym typeface="Arial"/>
            </a:endParaRPr>
          </a:p>
        </p:txBody>
      </p:sp>
      <p:pic>
        <p:nvPicPr>
          <p:cNvPr descr="What Is Remote Communication? | ezTalks: Business Software Reviews &amp; How-To" id="171" name="Google Shape;171;p15"/>
          <p:cNvPicPr preferRelativeResize="0"/>
          <p:nvPr/>
        </p:nvPicPr>
        <p:blipFill rotWithShape="1">
          <a:blip r:embed="rId3">
            <a:alphaModFix/>
          </a:blip>
          <a:srcRect b="0" l="0" r="0" t="0"/>
          <a:stretch/>
        </p:blipFill>
        <p:spPr>
          <a:xfrm>
            <a:off x="9632578" y="5098957"/>
            <a:ext cx="2079814" cy="17321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775448" y="2127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Practice what you learnt</a:t>
            </a:r>
            <a:endParaRPr/>
          </a:p>
        </p:txBody>
      </p:sp>
      <p:sp>
        <p:nvSpPr>
          <p:cNvPr id="177" name="Google Shape;177;p16"/>
          <p:cNvSpPr/>
          <p:nvPr/>
        </p:nvSpPr>
        <p:spPr>
          <a:xfrm>
            <a:off x="3654981" y="1748979"/>
            <a:ext cx="6627947" cy="98941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chemeClr val="dk1"/>
                </a:solidFill>
                <a:latin typeface="Verdana"/>
                <a:ea typeface="Verdana"/>
                <a:cs typeface="Verdana"/>
                <a:sym typeface="Verdana"/>
              </a:rPr>
              <a:t>After the team meeting, you have questions about the work assigned to you but your manager leaves in a hurry as he has another meeting to attend</a:t>
            </a:r>
            <a:endParaRPr/>
          </a:p>
        </p:txBody>
      </p:sp>
      <p:grpSp>
        <p:nvGrpSpPr>
          <p:cNvPr id="178" name="Google Shape;178;p16"/>
          <p:cNvGrpSpPr/>
          <p:nvPr/>
        </p:nvGrpSpPr>
        <p:grpSpPr>
          <a:xfrm>
            <a:off x="1656820" y="1648672"/>
            <a:ext cx="8834509" cy="1159787"/>
            <a:chOff x="607796" y="1636278"/>
            <a:chExt cx="6186858" cy="871395"/>
          </a:xfrm>
        </p:grpSpPr>
        <p:sp>
          <p:nvSpPr>
            <p:cNvPr id="179" name="Google Shape;179;p16"/>
            <p:cNvSpPr/>
            <p:nvPr/>
          </p:nvSpPr>
          <p:spPr>
            <a:xfrm>
              <a:off x="607796" y="1636278"/>
              <a:ext cx="1262568" cy="871395"/>
            </a:xfrm>
            <a:prstGeom prst="foldedCorner">
              <a:avLst>
                <a:gd fmla="val 16667" name="adj"/>
              </a:avLst>
            </a:prstGeom>
            <a:solidFill>
              <a:srgbClr val="FFC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Verdana"/>
                  <a:ea typeface="Verdana"/>
                  <a:cs typeface="Verdana"/>
                  <a:sym typeface="Verdana"/>
                </a:rPr>
                <a:t>Group A</a:t>
              </a:r>
              <a:endParaRPr/>
            </a:p>
          </p:txBody>
        </p:sp>
        <p:sp>
          <p:nvSpPr>
            <p:cNvPr id="180" name="Google Shape;180;p16"/>
            <p:cNvSpPr/>
            <p:nvPr/>
          </p:nvSpPr>
          <p:spPr>
            <a:xfrm>
              <a:off x="1945563" y="1664559"/>
              <a:ext cx="4849091" cy="843113"/>
            </a:xfrm>
            <a:prstGeom prst="rect">
              <a:avLst/>
            </a:prstGeom>
            <a:no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grpSp>
        <p:nvGrpSpPr>
          <p:cNvPr id="181" name="Google Shape;181;p16"/>
          <p:cNvGrpSpPr/>
          <p:nvPr/>
        </p:nvGrpSpPr>
        <p:grpSpPr>
          <a:xfrm>
            <a:off x="1656820" y="2929122"/>
            <a:ext cx="8834509" cy="1031474"/>
            <a:chOff x="607796" y="2815309"/>
            <a:chExt cx="6186858" cy="871395"/>
          </a:xfrm>
        </p:grpSpPr>
        <p:sp>
          <p:nvSpPr>
            <p:cNvPr id="182" name="Google Shape;182;p16"/>
            <p:cNvSpPr/>
            <p:nvPr/>
          </p:nvSpPr>
          <p:spPr>
            <a:xfrm>
              <a:off x="607796" y="2815309"/>
              <a:ext cx="1262568" cy="871395"/>
            </a:xfrm>
            <a:prstGeom prst="foldedCorner">
              <a:avLst>
                <a:gd fmla="val 16667" name="adj"/>
              </a:avLst>
            </a:prstGeom>
            <a:solidFill>
              <a:srgbClr val="00B0F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Verdana"/>
                  <a:ea typeface="Verdana"/>
                  <a:cs typeface="Verdana"/>
                  <a:sym typeface="Verdana"/>
                </a:rPr>
                <a:t>Group B</a:t>
              </a:r>
              <a:endParaRPr/>
            </a:p>
          </p:txBody>
        </p:sp>
        <p:sp>
          <p:nvSpPr>
            <p:cNvPr id="183" name="Google Shape;183;p16"/>
            <p:cNvSpPr/>
            <p:nvPr/>
          </p:nvSpPr>
          <p:spPr>
            <a:xfrm>
              <a:off x="1945563" y="2830226"/>
              <a:ext cx="4849091" cy="856478"/>
            </a:xfrm>
            <a:prstGeom prst="rect">
              <a:avLst/>
            </a:prstGeom>
            <a:no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chemeClr val="dk1"/>
                  </a:solidFill>
                  <a:latin typeface="Verdana"/>
                  <a:ea typeface="Verdana"/>
                  <a:cs typeface="Verdana"/>
                  <a:sym typeface="Verdana"/>
                </a:rPr>
                <a:t>You realize that you have made a mistake in the calculations just before you are due to submit the report. You are on temporary internship and based on this presentation some of you will be given a permanent job.</a:t>
              </a:r>
              <a:endParaRPr/>
            </a:p>
          </p:txBody>
        </p:sp>
      </p:grpSp>
      <p:grpSp>
        <p:nvGrpSpPr>
          <p:cNvPr id="184" name="Google Shape;184;p16"/>
          <p:cNvGrpSpPr/>
          <p:nvPr/>
        </p:nvGrpSpPr>
        <p:grpSpPr>
          <a:xfrm>
            <a:off x="1656820" y="4125813"/>
            <a:ext cx="8834508" cy="996848"/>
            <a:chOff x="607796" y="3977374"/>
            <a:chExt cx="6184912" cy="871395"/>
          </a:xfrm>
        </p:grpSpPr>
        <p:sp>
          <p:nvSpPr>
            <p:cNvPr id="185" name="Google Shape;185;p16"/>
            <p:cNvSpPr/>
            <p:nvPr/>
          </p:nvSpPr>
          <p:spPr>
            <a:xfrm>
              <a:off x="607796" y="3977374"/>
              <a:ext cx="1262568" cy="871395"/>
            </a:xfrm>
            <a:prstGeom prst="foldedCorner">
              <a:avLst>
                <a:gd fmla="val 16667" name="adj"/>
              </a:avLst>
            </a:prstGeom>
            <a:solidFill>
              <a:srgbClr val="EB75C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Verdana"/>
                  <a:ea typeface="Verdana"/>
                  <a:cs typeface="Verdana"/>
                  <a:sym typeface="Verdana"/>
                </a:rPr>
                <a:t>Group C</a:t>
              </a:r>
              <a:endParaRPr/>
            </a:p>
          </p:txBody>
        </p:sp>
        <p:sp>
          <p:nvSpPr>
            <p:cNvPr id="186" name="Google Shape;186;p16"/>
            <p:cNvSpPr/>
            <p:nvPr/>
          </p:nvSpPr>
          <p:spPr>
            <a:xfrm>
              <a:off x="1943617" y="4022944"/>
              <a:ext cx="4849091" cy="711080"/>
            </a:xfrm>
            <a:prstGeom prst="rect">
              <a:avLst/>
            </a:prstGeom>
            <a:no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chemeClr val="dk1"/>
                  </a:solidFill>
                  <a:latin typeface="Verdana"/>
                  <a:ea typeface="Verdana"/>
                  <a:cs typeface="Verdana"/>
                  <a:sym typeface="Verdana"/>
                </a:rPr>
                <a:t>You are attending an important video call and suddenly you have a power cut at home.</a:t>
              </a:r>
              <a:endParaRPr/>
            </a:p>
          </p:txBody>
        </p:sp>
      </p:grpSp>
      <p:grpSp>
        <p:nvGrpSpPr>
          <p:cNvPr id="187" name="Google Shape;187;p16"/>
          <p:cNvGrpSpPr/>
          <p:nvPr/>
        </p:nvGrpSpPr>
        <p:grpSpPr>
          <a:xfrm>
            <a:off x="1656820" y="5287879"/>
            <a:ext cx="8834508" cy="1024188"/>
            <a:chOff x="607796" y="5166780"/>
            <a:chExt cx="6184912" cy="871395"/>
          </a:xfrm>
        </p:grpSpPr>
        <p:sp>
          <p:nvSpPr>
            <p:cNvPr id="188" name="Google Shape;188;p16"/>
            <p:cNvSpPr/>
            <p:nvPr/>
          </p:nvSpPr>
          <p:spPr>
            <a:xfrm>
              <a:off x="607796" y="5166780"/>
              <a:ext cx="1262568" cy="871395"/>
            </a:xfrm>
            <a:prstGeom prst="foldedCorner">
              <a:avLst>
                <a:gd fmla="val 16667" name="adj"/>
              </a:avLst>
            </a:prstGeom>
            <a:solidFill>
              <a:srgbClr val="92D05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Verdana"/>
                  <a:ea typeface="Verdana"/>
                  <a:cs typeface="Verdana"/>
                  <a:sym typeface="Verdana"/>
                </a:rPr>
                <a:t>Group D</a:t>
              </a:r>
              <a:endParaRPr/>
            </a:p>
          </p:txBody>
        </p:sp>
        <p:sp>
          <p:nvSpPr>
            <p:cNvPr id="189" name="Google Shape;189;p16"/>
            <p:cNvSpPr/>
            <p:nvPr/>
          </p:nvSpPr>
          <p:spPr>
            <a:xfrm>
              <a:off x="1943617" y="5212350"/>
              <a:ext cx="4849091" cy="711080"/>
            </a:xfrm>
            <a:prstGeom prst="rect">
              <a:avLst/>
            </a:prstGeom>
            <a:no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chemeClr val="dk1"/>
                  </a:solidFill>
                  <a:latin typeface="Verdana"/>
                  <a:ea typeface="Verdana"/>
                  <a:cs typeface="Verdana"/>
                  <a:sym typeface="Verdana"/>
                </a:rPr>
                <a:t>You are not well; but the customer you are attending to wants to see more products and is asking many irrelevant questions repeatedly.</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Suggestions</a:t>
            </a:r>
            <a:endParaRPr/>
          </a:p>
        </p:txBody>
      </p:sp>
      <p:sp>
        <p:nvSpPr>
          <p:cNvPr id="195" name="Google Shape;19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200" lvl="2" marL="914400" marR="0" rtl="0" algn="just">
              <a:lnSpc>
                <a:spcPct val="90000"/>
              </a:lnSpc>
              <a:spcBef>
                <a:spcPts val="0"/>
              </a:spcBef>
              <a:spcAft>
                <a:spcPts val="0"/>
              </a:spcAft>
              <a:buClr>
                <a:schemeClr val="dk1"/>
              </a:buClr>
              <a:buSzPts val="1600"/>
              <a:buFont typeface="Courier New"/>
              <a:buChar char="o"/>
            </a:pPr>
            <a:r>
              <a:rPr b="0" i="0" lang="en-US" sz="1600" u="sng" cap="none" strike="noStrike">
                <a:solidFill>
                  <a:schemeClr val="dk1"/>
                </a:solidFill>
                <a:latin typeface="Verdana"/>
                <a:ea typeface="Verdana"/>
                <a:cs typeface="Verdana"/>
                <a:sym typeface="Verdana"/>
              </a:rPr>
              <a:t>Situation A</a:t>
            </a:r>
            <a:r>
              <a:rPr b="0" i="0" lang="en-US" sz="1600" u="none" cap="none" strike="noStrike">
                <a:solidFill>
                  <a:schemeClr val="dk1"/>
                </a:solidFill>
                <a:latin typeface="Verdana"/>
                <a:ea typeface="Verdana"/>
                <a:cs typeface="Verdana"/>
                <a:sym typeface="Verdana"/>
              </a:rPr>
              <a:t> : Approach your manager via email/message and explain your need to communicate; Ask for availability; Ask questions, clarify doubts and verify your understanding.</a:t>
            </a:r>
            <a:endParaRPr/>
          </a:p>
          <a:p>
            <a:pPr indent="-457200" lvl="2" marL="914400" marR="0" rtl="0" algn="just">
              <a:lnSpc>
                <a:spcPct val="90000"/>
              </a:lnSpc>
              <a:spcBef>
                <a:spcPts val="1600"/>
              </a:spcBef>
              <a:spcAft>
                <a:spcPts val="0"/>
              </a:spcAft>
              <a:buClr>
                <a:schemeClr val="dk1"/>
              </a:buClr>
              <a:buSzPts val="1600"/>
              <a:buFont typeface="Courier New"/>
              <a:buChar char="o"/>
            </a:pPr>
            <a:r>
              <a:rPr b="0" i="0" lang="en-US" sz="1600" u="sng" cap="none" strike="noStrike">
                <a:solidFill>
                  <a:schemeClr val="dk1"/>
                </a:solidFill>
                <a:latin typeface="Verdana"/>
                <a:ea typeface="Verdana"/>
                <a:cs typeface="Verdana"/>
                <a:sym typeface="Verdana"/>
              </a:rPr>
              <a:t>Situation B</a:t>
            </a:r>
            <a:r>
              <a:rPr b="0" i="0" lang="en-US" sz="1600" u="none" cap="none" strike="noStrike">
                <a:solidFill>
                  <a:schemeClr val="dk1"/>
                </a:solidFill>
                <a:latin typeface="Verdana"/>
                <a:ea typeface="Verdana"/>
                <a:cs typeface="Verdana"/>
                <a:sym typeface="Verdana"/>
              </a:rPr>
              <a:t> : Before sharing something always double check; Never give wrong data or hide information deliberately; Maintain a positive body language and owe up to the mistake honestly and ask for extra time.</a:t>
            </a:r>
            <a:endParaRPr/>
          </a:p>
          <a:p>
            <a:pPr indent="-457200" lvl="2" marL="914400" marR="0" rtl="0" algn="just">
              <a:lnSpc>
                <a:spcPct val="90000"/>
              </a:lnSpc>
              <a:spcBef>
                <a:spcPts val="1600"/>
              </a:spcBef>
              <a:spcAft>
                <a:spcPts val="0"/>
              </a:spcAft>
              <a:buClr>
                <a:schemeClr val="dk1"/>
              </a:buClr>
              <a:buSzPts val="1600"/>
              <a:buFont typeface="Courier New"/>
              <a:buChar char="o"/>
            </a:pPr>
            <a:r>
              <a:rPr b="0" i="0" lang="en-US" sz="1600" u="sng" cap="none" strike="noStrike">
                <a:solidFill>
                  <a:schemeClr val="dk1"/>
                </a:solidFill>
                <a:latin typeface="Verdana"/>
                <a:ea typeface="Verdana"/>
                <a:cs typeface="Verdana"/>
                <a:sym typeface="Verdana"/>
              </a:rPr>
              <a:t>Situation C</a:t>
            </a:r>
            <a:r>
              <a:rPr b="0" i="0" lang="en-US" sz="1600" u="none" cap="none" strike="noStrike">
                <a:solidFill>
                  <a:schemeClr val="dk1"/>
                </a:solidFill>
                <a:latin typeface="Verdana"/>
                <a:ea typeface="Verdana"/>
                <a:cs typeface="Verdana"/>
                <a:sym typeface="Verdana"/>
              </a:rPr>
              <a:t> : Inform your supervisor/team mate and ask for help – ask someone to make a video recording of the portion you miss or take notes; take measures so that this situation can be prevented in future.</a:t>
            </a:r>
            <a:endParaRPr/>
          </a:p>
          <a:p>
            <a:pPr indent="-457200" lvl="2" marL="914400" marR="0" rtl="0" algn="just">
              <a:lnSpc>
                <a:spcPct val="90000"/>
              </a:lnSpc>
              <a:spcBef>
                <a:spcPts val="1600"/>
              </a:spcBef>
              <a:spcAft>
                <a:spcPts val="0"/>
              </a:spcAft>
              <a:buClr>
                <a:schemeClr val="dk1"/>
              </a:buClr>
              <a:buSzPts val="1600"/>
              <a:buFont typeface="Courier New"/>
              <a:buChar char="o"/>
            </a:pPr>
            <a:r>
              <a:rPr b="0" i="0" lang="en-US" sz="1600" u="sng" cap="none" strike="noStrike">
                <a:solidFill>
                  <a:schemeClr val="dk1"/>
                </a:solidFill>
                <a:latin typeface="Verdana"/>
                <a:ea typeface="Verdana"/>
                <a:cs typeface="Verdana"/>
                <a:sym typeface="Verdana"/>
              </a:rPr>
              <a:t>Situation D</a:t>
            </a:r>
            <a:r>
              <a:rPr b="0" i="0" lang="en-US" sz="1600" u="none" cap="none" strike="noStrike">
                <a:solidFill>
                  <a:schemeClr val="dk1"/>
                </a:solidFill>
                <a:latin typeface="Verdana"/>
                <a:ea typeface="Verdana"/>
                <a:cs typeface="Verdana"/>
                <a:sym typeface="Verdana"/>
              </a:rPr>
              <a:t> : Inform your supervisor/team mate and ask for help; Maintain a positive body language and be confident; While interacting with people always show  respect for difference and try to identify scope for improvement. </a:t>
            </a:r>
            <a:endParaRPr/>
          </a:p>
          <a:p>
            <a:pPr indent="0" lvl="1" marL="0" marR="0" rtl="0" algn="just">
              <a:lnSpc>
                <a:spcPct val="90000"/>
              </a:lnSpc>
              <a:spcBef>
                <a:spcPts val="1600"/>
              </a:spcBef>
              <a:spcAft>
                <a:spcPts val="0"/>
              </a:spcAft>
              <a:buClr>
                <a:schemeClr val="dk1"/>
              </a:buClr>
              <a:buSzPts val="2000"/>
              <a:buFont typeface="Arial"/>
              <a:buNone/>
            </a:pPr>
            <a:r>
              <a:t/>
            </a:r>
            <a:endParaRPr b="0" i="0" sz="2000" u="none" cap="none" strike="noStrike">
              <a:solidFill>
                <a:schemeClr val="dk1"/>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txBox="1"/>
          <p:nvPr/>
        </p:nvSpPr>
        <p:spPr>
          <a:xfrm>
            <a:off x="990600" y="5175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p:txBody>
      </p:sp>
      <p:sp>
        <p:nvSpPr>
          <p:cNvPr id="201" name="Google Shape;201;p18"/>
          <p:cNvSpPr txBox="1"/>
          <p:nvPr/>
        </p:nvSpPr>
        <p:spPr>
          <a:xfrm>
            <a:off x="990600" y="19780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2800">
                <a:solidFill>
                  <a:schemeClr val="dk1"/>
                </a:solidFill>
                <a:latin typeface="Calibri"/>
                <a:ea typeface="Calibri"/>
                <a:cs typeface="Calibri"/>
                <a:sym typeface="Calibri"/>
              </a:rPr>
              <a:t>In this lesson you have learnt</a:t>
            </a:r>
            <a:endParaRPr sz="2800">
              <a:solidFill>
                <a:schemeClr val="dk1"/>
              </a:solidFill>
              <a:latin typeface="Calibri"/>
              <a:ea typeface="Calibri"/>
              <a:cs typeface="Calibri"/>
              <a:sym typeface="Calibri"/>
            </a:endParaRPr>
          </a:p>
          <a:p>
            <a:pPr indent="0" lvl="0" marL="457200" marR="0" rtl="0" algn="l">
              <a:lnSpc>
                <a:spcPct val="90000"/>
              </a:lnSpc>
              <a:spcBef>
                <a:spcPts val="0"/>
              </a:spcBef>
              <a:spcAft>
                <a:spcPts val="0"/>
              </a:spcAft>
              <a:buNone/>
            </a:pPr>
            <a:r>
              <a:t/>
            </a:r>
            <a:endParaRPr sz="2800">
              <a:solidFill>
                <a:schemeClr val="dk1"/>
              </a:solidFill>
              <a:latin typeface="Calibri"/>
              <a:ea typeface="Calibri"/>
              <a:cs typeface="Calibri"/>
              <a:sym typeface="Calibri"/>
            </a:endParaRPr>
          </a:p>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What is Business Communication Etiquette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Why is BCE important</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Basic Elements of BCE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Dos &amp; Don’ts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Remote Communication</a:t>
            </a:r>
            <a:endParaRPr/>
          </a:p>
        </p:txBody>
      </p:sp>
      <p:sp>
        <p:nvSpPr>
          <p:cNvPr id="202" name="Google Shape;202;p18"/>
          <p:cNvSpPr txBox="1"/>
          <p:nvPr>
            <p:ph type="title"/>
          </p:nvPr>
        </p:nvSpPr>
        <p:spPr>
          <a:xfrm>
            <a:off x="838200" y="33823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Summary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2023-07-29T13:48:55Z</dcterms:created>
  <dc:creator>Debjani Ghoshal</dc:creator>
</cp:coreProperties>
</file>