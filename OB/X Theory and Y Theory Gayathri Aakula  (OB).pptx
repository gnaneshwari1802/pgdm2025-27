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65697"/>
            <a:ext cx="7556421" cy="1860233"/>
          </a:xfrm>
          <a:prstGeom prst="rect">
            <a:avLst/>
          </a:prstGeom>
          <a:noFill/>
          <a:ln/>
        </p:spPr>
        <p:txBody>
          <a:bodyPr wrap="square" lIns="0" tIns="0" rIns="0" bIns="0" rtlCol="0" anchor="t"/>
          <a:lstStyle/>
          <a:p>
            <a:pPr algn="l" indent="0" marL="0">
              <a:lnSpc>
                <a:spcPts val="4850"/>
              </a:lnSpc>
              <a:buNone/>
            </a:pPr>
            <a:r>
              <a:rPr lang="en-US" sz="3900" b="1" dirty="0">
                <a:solidFill>
                  <a:srgbClr val="FFF8F5"/>
                </a:solidFill>
                <a:latin typeface="Noto Serif HK Bold" pitchFamily="34" charset="0"/>
                <a:ea typeface="Noto Serif HK Bold" pitchFamily="34" charset="-122"/>
                <a:cs typeface="Noto Serif HK Bold" pitchFamily="34" charset="-120"/>
              </a:rPr>
              <a:t>Unveiling Management Perspectives: Theory X &amp; Theory Y</a:t>
            </a:r>
            <a:endParaRPr lang="en-US" sz="3900" dirty="0"/>
          </a:p>
        </p:txBody>
      </p:sp>
      <p:sp>
        <p:nvSpPr>
          <p:cNvPr id="4" name="Text 1"/>
          <p:cNvSpPr/>
          <p:nvPr/>
        </p:nvSpPr>
        <p:spPr>
          <a:xfrm>
            <a:off x="6280190" y="3923586"/>
            <a:ext cx="7556421" cy="2540318"/>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Welcome to an insightful exploration of two foundational management theories: Theory X and Theory Y. Developed by Douglas McGregor, these contrasting views offer profound insights into how managers perceive and interact with their employees. Understanding these theories is crucial for any aspiring business leader, as they shape organizational culture, employee motivation, and ultimately, business success. Prepare to delve into the core assumptions, management styles, and implications of each theory, providing you with a robust framework for effective leadership.</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258997" y="465653"/>
            <a:ext cx="2112407" cy="263962"/>
          </a:xfrm>
          <a:prstGeom prst="rect">
            <a:avLst/>
          </a:prstGeom>
          <a:noFill/>
          <a:ln/>
        </p:spPr>
        <p:txBody>
          <a:bodyPr wrap="none" lIns="0" tIns="0" rIns="0" bIns="0" rtlCol="0" anchor="t"/>
          <a:lstStyle/>
          <a:p>
            <a:pPr algn="ctr" indent="0" marL="0">
              <a:lnSpc>
                <a:spcPts val="2050"/>
              </a:lnSpc>
              <a:buNone/>
            </a:pPr>
            <a:r>
              <a:rPr lang="en-US" sz="1650" b="1" dirty="0">
                <a:solidFill>
                  <a:srgbClr val="FFF8F5"/>
                </a:solidFill>
                <a:latin typeface="Noto Serif HK Bold" pitchFamily="34" charset="0"/>
                <a:ea typeface="Noto Serif HK Bold" pitchFamily="34" charset="-122"/>
                <a:cs typeface="Noto Serif HK Bold" pitchFamily="34" charset="-120"/>
              </a:rPr>
              <a:t>Agenda</a:t>
            </a:r>
            <a:endParaRPr lang="en-US" sz="1650" dirty="0"/>
          </a:p>
        </p:txBody>
      </p:sp>
      <p:sp>
        <p:nvSpPr>
          <p:cNvPr id="3" name="Text 1"/>
          <p:cNvSpPr/>
          <p:nvPr/>
        </p:nvSpPr>
        <p:spPr>
          <a:xfrm>
            <a:off x="3596878" y="898565"/>
            <a:ext cx="7436644" cy="528161"/>
          </a:xfrm>
          <a:prstGeom prst="rect">
            <a:avLst/>
          </a:prstGeom>
          <a:noFill/>
          <a:ln/>
        </p:spPr>
        <p:txBody>
          <a:bodyPr wrap="none" lIns="0" tIns="0" rIns="0" bIns="0" rtlCol="0" anchor="t"/>
          <a:lstStyle/>
          <a:p>
            <a:pPr algn="ctr" indent="0" marL="0">
              <a:lnSpc>
                <a:spcPts val="4150"/>
              </a:lnSpc>
              <a:buNone/>
            </a:pPr>
            <a:r>
              <a:rPr lang="en-US" sz="3300" b="1" dirty="0">
                <a:solidFill>
                  <a:srgbClr val="FFF8F5"/>
                </a:solidFill>
                <a:latin typeface="Noto Serif HK Bold" pitchFamily="34" charset="0"/>
                <a:ea typeface="Noto Serif HK Bold" pitchFamily="34" charset="-122"/>
                <a:cs typeface="Noto Serif HK Bold" pitchFamily="34" charset="-120"/>
              </a:rPr>
              <a:t>Navigating Leadership Landscapes</a:t>
            </a:r>
            <a:endParaRPr lang="en-US" sz="3300" dirty="0"/>
          </a:p>
        </p:txBody>
      </p:sp>
      <p:pic>
        <p:nvPicPr>
          <p:cNvPr id="4" name="Image 0" descr="preencoded.png">    </p:cNvPr>
          <p:cNvPicPr>
            <a:picLocks noChangeAspect="1"/>
          </p:cNvPicPr>
          <p:nvPr/>
        </p:nvPicPr>
        <p:blipFill>
          <a:blip r:embed="rId1"/>
          <a:stretch>
            <a:fillRect/>
          </a:stretch>
        </p:blipFill>
        <p:spPr>
          <a:xfrm>
            <a:off x="675918" y="1680210"/>
            <a:ext cx="844987" cy="1013936"/>
          </a:xfrm>
          <a:prstGeom prst="rect">
            <a:avLst/>
          </a:prstGeom>
        </p:spPr>
      </p:pic>
      <p:sp>
        <p:nvSpPr>
          <p:cNvPr id="5" name="Text 2"/>
          <p:cNvSpPr/>
          <p:nvPr/>
        </p:nvSpPr>
        <p:spPr>
          <a:xfrm>
            <a:off x="1689854" y="1849160"/>
            <a:ext cx="2112407" cy="263962"/>
          </a:xfrm>
          <a:prstGeom prst="rect">
            <a:avLst/>
          </a:prstGeom>
          <a:noFill/>
          <a:ln/>
        </p:spPr>
        <p:txBody>
          <a:bodyPr wrap="none" lIns="0" tIns="0" rIns="0" bIns="0" rtlCol="0" anchor="t"/>
          <a:lstStyle/>
          <a:p>
            <a:pPr algn="l" indent="0" marL="0">
              <a:lnSpc>
                <a:spcPts val="2050"/>
              </a:lnSpc>
              <a:buNone/>
            </a:pPr>
            <a:r>
              <a:rPr lang="en-US" sz="1650" b="1" dirty="0">
                <a:solidFill>
                  <a:srgbClr val="D3C9C5"/>
                </a:solidFill>
                <a:latin typeface="Noto Serif HK Bold" pitchFamily="34" charset="0"/>
                <a:ea typeface="Noto Serif HK Bold" pitchFamily="34" charset="-122"/>
                <a:cs typeface="Noto Serif HK Bold" pitchFamily="34" charset="-120"/>
              </a:rPr>
              <a:t>Introduction</a:t>
            </a:r>
            <a:endParaRPr lang="en-US" sz="1650" dirty="0"/>
          </a:p>
        </p:txBody>
      </p:sp>
      <p:sp>
        <p:nvSpPr>
          <p:cNvPr id="6" name="Text 3"/>
          <p:cNvSpPr/>
          <p:nvPr/>
        </p:nvSpPr>
        <p:spPr>
          <a:xfrm>
            <a:off x="1689854" y="2214443"/>
            <a:ext cx="12264628" cy="270272"/>
          </a:xfrm>
          <a:prstGeom prst="rect">
            <a:avLst/>
          </a:prstGeom>
          <a:noFill/>
          <a:ln/>
        </p:spPr>
        <p:txBody>
          <a:bodyPr wrap="none" lIns="0" tIns="0" rIns="0" bIns="0" rtlCol="0" anchor="t"/>
          <a:lstStyle/>
          <a:p>
            <a:pPr algn="l" indent="0" marL="0">
              <a:lnSpc>
                <a:spcPts val="2100"/>
              </a:lnSpc>
              <a:buNone/>
            </a:pPr>
            <a:r>
              <a:rPr lang="en-US" sz="1300" dirty="0">
                <a:solidFill>
                  <a:srgbClr val="D3C9C5"/>
                </a:solidFill>
                <a:latin typeface="Noto Serif HK" pitchFamily="34" charset="0"/>
                <a:ea typeface="Noto Serif HK" pitchFamily="34" charset="-122"/>
                <a:cs typeface="Noto Serif HK" pitchFamily="34" charset="-120"/>
              </a:rPr>
              <a:t>Setting the Stage for McGregor's Theories</a:t>
            </a:r>
            <a:endParaRPr lang="en-US" sz="1300" dirty="0"/>
          </a:p>
        </p:txBody>
      </p:sp>
      <p:pic>
        <p:nvPicPr>
          <p:cNvPr id="7" name="Image 1" descr="preencoded.png">    </p:cNvPr>
          <p:cNvPicPr>
            <a:picLocks noChangeAspect="1"/>
          </p:cNvPicPr>
          <p:nvPr/>
        </p:nvPicPr>
        <p:blipFill>
          <a:blip r:embed="rId2"/>
          <a:stretch>
            <a:fillRect/>
          </a:stretch>
        </p:blipFill>
        <p:spPr>
          <a:xfrm>
            <a:off x="675918" y="2694146"/>
            <a:ext cx="844987" cy="1013936"/>
          </a:xfrm>
          <a:prstGeom prst="rect">
            <a:avLst/>
          </a:prstGeom>
        </p:spPr>
      </p:pic>
      <p:sp>
        <p:nvSpPr>
          <p:cNvPr id="8" name="Text 4"/>
          <p:cNvSpPr/>
          <p:nvPr/>
        </p:nvSpPr>
        <p:spPr>
          <a:xfrm>
            <a:off x="1689854" y="2863096"/>
            <a:ext cx="2112407" cy="263962"/>
          </a:xfrm>
          <a:prstGeom prst="rect">
            <a:avLst/>
          </a:prstGeom>
          <a:noFill/>
          <a:ln/>
        </p:spPr>
        <p:txBody>
          <a:bodyPr wrap="none" lIns="0" tIns="0" rIns="0" bIns="0" rtlCol="0" anchor="t"/>
          <a:lstStyle/>
          <a:p>
            <a:pPr algn="l" indent="0" marL="0">
              <a:lnSpc>
                <a:spcPts val="2050"/>
              </a:lnSpc>
              <a:buNone/>
            </a:pPr>
            <a:r>
              <a:rPr lang="en-US" sz="1650" b="1" dirty="0">
                <a:solidFill>
                  <a:srgbClr val="D3C9C5"/>
                </a:solidFill>
                <a:latin typeface="Noto Serif HK Bold" pitchFamily="34" charset="0"/>
                <a:ea typeface="Noto Serif HK Bold" pitchFamily="34" charset="-122"/>
                <a:cs typeface="Noto Serif HK Bold" pitchFamily="34" charset="-120"/>
              </a:rPr>
              <a:t>Theory X</a:t>
            </a:r>
            <a:endParaRPr lang="en-US" sz="1650" dirty="0"/>
          </a:p>
        </p:txBody>
      </p:sp>
      <p:sp>
        <p:nvSpPr>
          <p:cNvPr id="9" name="Text 5"/>
          <p:cNvSpPr/>
          <p:nvPr/>
        </p:nvSpPr>
        <p:spPr>
          <a:xfrm>
            <a:off x="1689854" y="3228380"/>
            <a:ext cx="12264628" cy="270272"/>
          </a:xfrm>
          <a:prstGeom prst="rect">
            <a:avLst/>
          </a:prstGeom>
          <a:noFill/>
          <a:ln/>
        </p:spPr>
        <p:txBody>
          <a:bodyPr wrap="none" lIns="0" tIns="0" rIns="0" bIns="0" rtlCol="0" anchor="t"/>
          <a:lstStyle/>
          <a:p>
            <a:pPr algn="l" indent="0" marL="0">
              <a:lnSpc>
                <a:spcPts val="2100"/>
              </a:lnSpc>
              <a:buNone/>
            </a:pPr>
            <a:r>
              <a:rPr lang="en-US" sz="1300" dirty="0">
                <a:solidFill>
                  <a:srgbClr val="D3C9C5"/>
                </a:solidFill>
                <a:latin typeface="Noto Serif HK" pitchFamily="34" charset="0"/>
                <a:ea typeface="Noto Serif HK" pitchFamily="34" charset="-122"/>
                <a:cs typeface="Noto Serif HK" pitchFamily="34" charset="-120"/>
              </a:rPr>
              <a:t>The Traditional View of Employees</a:t>
            </a:r>
            <a:endParaRPr lang="en-US" sz="1300" dirty="0"/>
          </a:p>
        </p:txBody>
      </p:sp>
      <p:pic>
        <p:nvPicPr>
          <p:cNvPr id="10" name="Image 2" descr="preencoded.png">    </p:cNvPr>
          <p:cNvPicPr>
            <a:picLocks noChangeAspect="1"/>
          </p:cNvPicPr>
          <p:nvPr/>
        </p:nvPicPr>
        <p:blipFill>
          <a:blip r:embed="rId3"/>
          <a:stretch>
            <a:fillRect/>
          </a:stretch>
        </p:blipFill>
        <p:spPr>
          <a:xfrm>
            <a:off x="675918" y="3708083"/>
            <a:ext cx="844987" cy="1013936"/>
          </a:xfrm>
          <a:prstGeom prst="rect">
            <a:avLst/>
          </a:prstGeom>
        </p:spPr>
      </p:pic>
      <p:sp>
        <p:nvSpPr>
          <p:cNvPr id="11" name="Text 6"/>
          <p:cNvSpPr/>
          <p:nvPr/>
        </p:nvSpPr>
        <p:spPr>
          <a:xfrm>
            <a:off x="1689854" y="3877032"/>
            <a:ext cx="2112407" cy="263962"/>
          </a:xfrm>
          <a:prstGeom prst="rect">
            <a:avLst/>
          </a:prstGeom>
          <a:noFill/>
          <a:ln/>
        </p:spPr>
        <p:txBody>
          <a:bodyPr wrap="none" lIns="0" tIns="0" rIns="0" bIns="0" rtlCol="0" anchor="t"/>
          <a:lstStyle/>
          <a:p>
            <a:pPr algn="l" indent="0" marL="0">
              <a:lnSpc>
                <a:spcPts val="2050"/>
              </a:lnSpc>
              <a:buNone/>
            </a:pPr>
            <a:r>
              <a:rPr lang="en-US" sz="1650" b="1" dirty="0">
                <a:solidFill>
                  <a:srgbClr val="D3C9C5"/>
                </a:solidFill>
                <a:latin typeface="Noto Serif HK Bold" pitchFamily="34" charset="0"/>
                <a:ea typeface="Noto Serif HK Bold" pitchFamily="34" charset="-122"/>
                <a:cs typeface="Noto Serif HK Bold" pitchFamily="34" charset="-120"/>
              </a:rPr>
              <a:t>Theory Y</a:t>
            </a:r>
            <a:endParaRPr lang="en-US" sz="1650" dirty="0"/>
          </a:p>
        </p:txBody>
      </p:sp>
      <p:sp>
        <p:nvSpPr>
          <p:cNvPr id="12" name="Text 7"/>
          <p:cNvSpPr/>
          <p:nvPr/>
        </p:nvSpPr>
        <p:spPr>
          <a:xfrm>
            <a:off x="1689854" y="4242316"/>
            <a:ext cx="12264628" cy="270272"/>
          </a:xfrm>
          <a:prstGeom prst="rect">
            <a:avLst/>
          </a:prstGeom>
          <a:noFill/>
          <a:ln/>
        </p:spPr>
        <p:txBody>
          <a:bodyPr wrap="none" lIns="0" tIns="0" rIns="0" bIns="0" rtlCol="0" anchor="t"/>
          <a:lstStyle/>
          <a:p>
            <a:pPr algn="l" indent="0" marL="0">
              <a:lnSpc>
                <a:spcPts val="2100"/>
              </a:lnSpc>
              <a:buNone/>
            </a:pPr>
            <a:r>
              <a:rPr lang="en-US" sz="1300" dirty="0">
                <a:solidFill>
                  <a:srgbClr val="D3C9C5"/>
                </a:solidFill>
                <a:latin typeface="Noto Serif HK" pitchFamily="34" charset="0"/>
                <a:ea typeface="Noto Serif HK" pitchFamily="34" charset="-122"/>
                <a:cs typeface="Noto Serif HK" pitchFamily="34" charset="-120"/>
              </a:rPr>
              <a:t>The Humanistic Approach</a:t>
            </a:r>
            <a:endParaRPr lang="en-US" sz="1300" dirty="0"/>
          </a:p>
        </p:txBody>
      </p:sp>
      <p:pic>
        <p:nvPicPr>
          <p:cNvPr id="13" name="Image 3" descr="preencoded.png">    </p:cNvPr>
          <p:cNvPicPr>
            <a:picLocks noChangeAspect="1"/>
          </p:cNvPicPr>
          <p:nvPr/>
        </p:nvPicPr>
        <p:blipFill>
          <a:blip r:embed="rId4"/>
          <a:stretch>
            <a:fillRect/>
          </a:stretch>
        </p:blipFill>
        <p:spPr>
          <a:xfrm>
            <a:off x="675918" y="4722019"/>
            <a:ext cx="844987" cy="1013936"/>
          </a:xfrm>
          <a:prstGeom prst="rect">
            <a:avLst/>
          </a:prstGeom>
        </p:spPr>
      </p:pic>
      <p:sp>
        <p:nvSpPr>
          <p:cNvPr id="14" name="Text 8"/>
          <p:cNvSpPr/>
          <p:nvPr/>
        </p:nvSpPr>
        <p:spPr>
          <a:xfrm>
            <a:off x="1689854" y="4890968"/>
            <a:ext cx="2112407" cy="263962"/>
          </a:xfrm>
          <a:prstGeom prst="rect">
            <a:avLst/>
          </a:prstGeom>
          <a:noFill/>
          <a:ln/>
        </p:spPr>
        <p:txBody>
          <a:bodyPr wrap="none" lIns="0" tIns="0" rIns="0" bIns="0" rtlCol="0" anchor="t"/>
          <a:lstStyle/>
          <a:p>
            <a:pPr algn="l" indent="0" marL="0">
              <a:lnSpc>
                <a:spcPts val="2050"/>
              </a:lnSpc>
              <a:buNone/>
            </a:pPr>
            <a:r>
              <a:rPr lang="en-US" sz="1650" b="1" dirty="0">
                <a:solidFill>
                  <a:srgbClr val="D3C9C5"/>
                </a:solidFill>
                <a:latin typeface="Noto Serif HK Bold" pitchFamily="34" charset="0"/>
                <a:ea typeface="Noto Serif HK Bold" pitchFamily="34" charset="-122"/>
                <a:cs typeface="Noto Serif HK Bold" pitchFamily="34" charset="-120"/>
              </a:rPr>
              <a:t>Key Differences</a:t>
            </a:r>
            <a:endParaRPr lang="en-US" sz="1650" dirty="0"/>
          </a:p>
        </p:txBody>
      </p:sp>
      <p:sp>
        <p:nvSpPr>
          <p:cNvPr id="15" name="Text 9"/>
          <p:cNvSpPr/>
          <p:nvPr/>
        </p:nvSpPr>
        <p:spPr>
          <a:xfrm>
            <a:off x="1689854" y="5256252"/>
            <a:ext cx="12264628" cy="270272"/>
          </a:xfrm>
          <a:prstGeom prst="rect">
            <a:avLst/>
          </a:prstGeom>
          <a:noFill/>
          <a:ln/>
        </p:spPr>
        <p:txBody>
          <a:bodyPr wrap="none" lIns="0" tIns="0" rIns="0" bIns="0" rtlCol="0" anchor="t"/>
          <a:lstStyle/>
          <a:p>
            <a:pPr algn="l" indent="0" marL="0">
              <a:lnSpc>
                <a:spcPts val="2100"/>
              </a:lnSpc>
              <a:buNone/>
            </a:pPr>
            <a:r>
              <a:rPr lang="en-US" sz="1300" dirty="0">
                <a:solidFill>
                  <a:srgbClr val="D3C9C5"/>
                </a:solidFill>
                <a:latin typeface="Noto Serif HK" pitchFamily="34" charset="0"/>
                <a:ea typeface="Noto Serif HK" pitchFamily="34" charset="-122"/>
                <a:cs typeface="Noto Serif HK" pitchFamily="34" charset="-120"/>
              </a:rPr>
              <a:t>A Comparative Glance</a:t>
            </a:r>
            <a:endParaRPr lang="en-US" sz="1300" dirty="0"/>
          </a:p>
        </p:txBody>
      </p:sp>
      <p:pic>
        <p:nvPicPr>
          <p:cNvPr id="16" name="Image 4" descr="preencoded.png">    </p:cNvPr>
          <p:cNvPicPr>
            <a:picLocks noChangeAspect="1"/>
          </p:cNvPicPr>
          <p:nvPr/>
        </p:nvPicPr>
        <p:blipFill>
          <a:blip r:embed="rId5"/>
          <a:stretch>
            <a:fillRect/>
          </a:stretch>
        </p:blipFill>
        <p:spPr>
          <a:xfrm>
            <a:off x="675918" y="5735955"/>
            <a:ext cx="844987" cy="1013936"/>
          </a:xfrm>
          <a:prstGeom prst="rect">
            <a:avLst/>
          </a:prstGeom>
        </p:spPr>
      </p:pic>
      <p:sp>
        <p:nvSpPr>
          <p:cNvPr id="17" name="Text 10"/>
          <p:cNvSpPr/>
          <p:nvPr/>
        </p:nvSpPr>
        <p:spPr>
          <a:xfrm>
            <a:off x="1689854" y="5904905"/>
            <a:ext cx="2376845" cy="263962"/>
          </a:xfrm>
          <a:prstGeom prst="rect">
            <a:avLst/>
          </a:prstGeom>
          <a:noFill/>
          <a:ln/>
        </p:spPr>
        <p:txBody>
          <a:bodyPr wrap="none" lIns="0" tIns="0" rIns="0" bIns="0" rtlCol="0" anchor="t"/>
          <a:lstStyle/>
          <a:p>
            <a:pPr algn="l" indent="0" marL="0">
              <a:lnSpc>
                <a:spcPts val="2050"/>
              </a:lnSpc>
              <a:buNone/>
            </a:pPr>
            <a:r>
              <a:rPr lang="en-US" sz="1650" b="1" dirty="0">
                <a:solidFill>
                  <a:srgbClr val="D3C9C5"/>
                </a:solidFill>
                <a:latin typeface="Noto Serif HK Bold" pitchFamily="34" charset="0"/>
                <a:ea typeface="Noto Serif HK Bold" pitchFamily="34" charset="-122"/>
                <a:cs typeface="Noto Serif HK Bold" pitchFamily="34" charset="-120"/>
              </a:rPr>
              <a:t>Strategic Implications</a:t>
            </a:r>
            <a:endParaRPr lang="en-US" sz="1650" dirty="0"/>
          </a:p>
        </p:txBody>
      </p:sp>
      <p:sp>
        <p:nvSpPr>
          <p:cNvPr id="18" name="Text 11"/>
          <p:cNvSpPr/>
          <p:nvPr/>
        </p:nvSpPr>
        <p:spPr>
          <a:xfrm>
            <a:off x="1689854" y="6270188"/>
            <a:ext cx="12264628" cy="270272"/>
          </a:xfrm>
          <a:prstGeom prst="rect">
            <a:avLst/>
          </a:prstGeom>
          <a:noFill/>
          <a:ln/>
        </p:spPr>
        <p:txBody>
          <a:bodyPr wrap="none" lIns="0" tIns="0" rIns="0" bIns="0" rtlCol="0" anchor="t"/>
          <a:lstStyle/>
          <a:p>
            <a:pPr algn="l" indent="0" marL="0">
              <a:lnSpc>
                <a:spcPts val="2100"/>
              </a:lnSpc>
              <a:buNone/>
            </a:pPr>
            <a:r>
              <a:rPr lang="en-US" sz="1300" dirty="0">
                <a:solidFill>
                  <a:srgbClr val="D3C9C5"/>
                </a:solidFill>
                <a:latin typeface="Noto Serif HK" pitchFamily="34" charset="0"/>
                <a:ea typeface="Noto Serif HK" pitchFamily="34" charset="-122"/>
                <a:cs typeface="Noto Serif HK" pitchFamily="34" charset="-120"/>
              </a:rPr>
              <a:t>Applying Theories in Practice</a:t>
            </a:r>
            <a:endParaRPr lang="en-US" sz="1300" dirty="0"/>
          </a:p>
        </p:txBody>
      </p:sp>
      <p:pic>
        <p:nvPicPr>
          <p:cNvPr id="19" name="Image 5" descr="preencoded.png">    </p:cNvPr>
          <p:cNvPicPr>
            <a:picLocks noChangeAspect="1"/>
          </p:cNvPicPr>
          <p:nvPr/>
        </p:nvPicPr>
        <p:blipFill>
          <a:blip r:embed="rId6"/>
          <a:stretch>
            <a:fillRect/>
          </a:stretch>
        </p:blipFill>
        <p:spPr>
          <a:xfrm>
            <a:off x="675918" y="6749891"/>
            <a:ext cx="844987" cy="1013936"/>
          </a:xfrm>
          <a:prstGeom prst="rect">
            <a:avLst/>
          </a:prstGeom>
        </p:spPr>
      </p:pic>
      <p:sp>
        <p:nvSpPr>
          <p:cNvPr id="20" name="Text 12"/>
          <p:cNvSpPr/>
          <p:nvPr/>
        </p:nvSpPr>
        <p:spPr>
          <a:xfrm>
            <a:off x="1689854" y="6918841"/>
            <a:ext cx="2112407" cy="263962"/>
          </a:xfrm>
          <a:prstGeom prst="rect">
            <a:avLst/>
          </a:prstGeom>
          <a:noFill/>
          <a:ln/>
        </p:spPr>
        <p:txBody>
          <a:bodyPr wrap="none" lIns="0" tIns="0" rIns="0" bIns="0" rtlCol="0" anchor="t"/>
          <a:lstStyle/>
          <a:p>
            <a:pPr algn="l" indent="0" marL="0">
              <a:lnSpc>
                <a:spcPts val="2050"/>
              </a:lnSpc>
              <a:buNone/>
            </a:pPr>
            <a:r>
              <a:rPr lang="en-US" sz="1650" b="1" dirty="0">
                <a:solidFill>
                  <a:srgbClr val="D3C9C5"/>
                </a:solidFill>
                <a:latin typeface="Noto Serif HK Bold" pitchFamily="34" charset="0"/>
                <a:ea typeface="Noto Serif HK Bold" pitchFamily="34" charset="-122"/>
                <a:cs typeface="Noto Serif HK Bold" pitchFamily="34" charset="-120"/>
              </a:rPr>
              <a:t>Conclusion</a:t>
            </a:r>
            <a:endParaRPr lang="en-US" sz="1650" dirty="0"/>
          </a:p>
        </p:txBody>
      </p:sp>
      <p:sp>
        <p:nvSpPr>
          <p:cNvPr id="21" name="Text 13"/>
          <p:cNvSpPr/>
          <p:nvPr/>
        </p:nvSpPr>
        <p:spPr>
          <a:xfrm>
            <a:off x="1689854" y="7284125"/>
            <a:ext cx="12264628" cy="270272"/>
          </a:xfrm>
          <a:prstGeom prst="rect">
            <a:avLst/>
          </a:prstGeom>
          <a:noFill/>
          <a:ln/>
        </p:spPr>
        <p:txBody>
          <a:bodyPr wrap="none" lIns="0" tIns="0" rIns="0" bIns="0" rtlCol="0" anchor="t"/>
          <a:lstStyle/>
          <a:p>
            <a:pPr algn="l" indent="0" marL="0">
              <a:lnSpc>
                <a:spcPts val="2100"/>
              </a:lnSpc>
              <a:buNone/>
            </a:pPr>
            <a:r>
              <a:rPr lang="en-US" sz="1300" dirty="0">
                <a:solidFill>
                  <a:srgbClr val="D3C9C5"/>
                </a:solidFill>
                <a:latin typeface="Noto Serif HK" pitchFamily="34" charset="0"/>
                <a:ea typeface="Noto Serif HK" pitchFamily="34" charset="-122"/>
                <a:cs typeface="Noto Serif HK" pitchFamily="34" charset="-120"/>
              </a:rPr>
              <a:t>Key Takeaways and Discussion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9357" y="391478"/>
            <a:ext cx="5654516" cy="444818"/>
          </a:xfrm>
          <a:prstGeom prst="rect">
            <a:avLst/>
          </a:prstGeom>
          <a:noFill/>
          <a:ln/>
        </p:spPr>
        <p:txBody>
          <a:bodyPr wrap="none" lIns="0" tIns="0" rIns="0" bIns="0" rtlCol="0" anchor="t"/>
          <a:lstStyle/>
          <a:p>
            <a:pPr algn="l" indent="0" marL="0">
              <a:lnSpc>
                <a:spcPts val="3500"/>
              </a:lnSpc>
              <a:buNone/>
            </a:pPr>
            <a:r>
              <a:rPr lang="en-US" sz="2800" b="1" dirty="0">
                <a:solidFill>
                  <a:srgbClr val="FFF8F5"/>
                </a:solidFill>
                <a:latin typeface="Noto Serif HK Bold" pitchFamily="34" charset="0"/>
                <a:ea typeface="Noto Serif HK Bold" pitchFamily="34" charset="-122"/>
                <a:cs typeface="Noto Serif HK Bold" pitchFamily="34" charset="-120"/>
              </a:rPr>
              <a:t>Theory X: The Traditional View</a:t>
            </a:r>
            <a:endParaRPr lang="en-US" sz="2800" dirty="0"/>
          </a:p>
        </p:txBody>
      </p:sp>
      <p:sp>
        <p:nvSpPr>
          <p:cNvPr id="3" name="Text 1"/>
          <p:cNvSpPr/>
          <p:nvPr/>
        </p:nvSpPr>
        <p:spPr>
          <a:xfrm>
            <a:off x="569357" y="1120973"/>
            <a:ext cx="13491686" cy="683300"/>
          </a:xfrm>
          <a:prstGeom prst="rect">
            <a:avLst/>
          </a:prstGeom>
          <a:noFill/>
          <a:ln/>
        </p:spPr>
        <p:txBody>
          <a:bodyPr wrap="square" lIns="0" tIns="0" rIns="0" bIns="0" rtlCol="0" anchor="t"/>
          <a:lstStyle/>
          <a:p>
            <a:pPr algn="l" indent="0" marL="0">
              <a:lnSpc>
                <a:spcPts val="1750"/>
              </a:lnSpc>
              <a:buNone/>
            </a:pPr>
            <a:r>
              <a:rPr lang="en-US" sz="1100" dirty="0">
                <a:solidFill>
                  <a:srgbClr val="D3C9C5"/>
                </a:solidFill>
                <a:latin typeface="Noto Serif HK" pitchFamily="34" charset="0"/>
                <a:ea typeface="Noto Serif HK" pitchFamily="34" charset="-122"/>
                <a:cs typeface="Noto Serif HK" pitchFamily="34" charset="-120"/>
              </a:rPr>
              <a:t>Theory X represents a more pessimistic and traditional view of employees, assuming that individuals are inherently lazy and lack ambition. This perspective suggests that employees need constant supervision and external motivation to perform effectively. Managers operating under Theory X typically believe that most people prefer to be directed and avoid responsibility whenever possible. This fundamental distrust of employee initiative often leads to a highly controlled and hierarchical work environment.</a:t>
            </a:r>
            <a:endParaRPr lang="en-US" sz="1100" dirty="0"/>
          </a:p>
        </p:txBody>
      </p:sp>
      <p:sp>
        <p:nvSpPr>
          <p:cNvPr id="4" name="Text 2"/>
          <p:cNvSpPr/>
          <p:nvPr/>
        </p:nvSpPr>
        <p:spPr>
          <a:xfrm>
            <a:off x="569357" y="2106692"/>
            <a:ext cx="1779389" cy="222409"/>
          </a:xfrm>
          <a:prstGeom prst="rect">
            <a:avLst/>
          </a:prstGeom>
          <a:noFill/>
          <a:ln/>
        </p:spPr>
        <p:txBody>
          <a:bodyPr wrap="none" lIns="0" tIns="0" rIns="0" bIns="0" rtlCol="0" anchor="t"/>
          <a:lstStyle/>
          <a:p>
            <a:pPr algn="l" indent="0" marL="0">
              <a:lnSpc>
                <a:spcPts val="1750"/>
              </a:lnSpc>
              <a:buNone/>
            </a:pPr>
            <a:r>
              <a:rPr lang="en-US" sz="1400" b="1" dirty="0">
                <a:solidFill>
                  <a:srgbClr val="FFF8F5"/>
                </a:solidFill>
                <a:latin typeface="Noto Serif HK Bold" pitchFamily="34" charset="0"/>
                <a:ea typeface="Noto Serif HK Bold" pitchFamily="34" charset="-122"/>
                <a:cs typeface="Noto Serif HK Bold" pitchFamily="34" charset="-120"/>
              </a:rPr>
              <a:t>Core Assumptions:</a:t>
            </a:r>
            <a:endParaRPr lang="en-US" sz="1400" dirty="0"/>
          </a:p>
        </p:txBody>
      </p:sp>
      <p:sp>
        <p:nvSpPr>
          <p:cNvPr id="5" name="Text 3"/>
          <p:cNvSpPr/>
          <p:nvPr/>
        </p:nvSpPr>
        <p:spPr>
          <a:xfrm>
            <a:off x="569357" y="2471380"/>
            <a:ext cx="6572250" cy="227767"/>
          </a:xfrm>
          <a:prstGeom prst="rect">
            <a:avLst/>
          </a:prstGeom>
          <a:noFill/>
          <a:ln/>
        </p:spPr>
        <p:txBody>
          <a:bodyPr wrap="none" lIns="0" tIns="0" rIns="0" bIns="0" rtlCol="0" anchor="t"/>
          <a:lstStyle/>
          <a:p>
            <a:pPr algn="l" marL="342900" indent="-342900">
              <a:lnSpc>
                <a:spcPts val="1750"/>
              </a:lnSpc>
              <a:buSzPct val="100000"/>
              <a:buChar char="•"/>
            </a:pPr>
            <a:r>
              <a:rPr lang="en-US" sz="1100" b="1" dirty="0">
                <a:solidFill>
                  <a:srgbClr val="D3C9C5"/>
                </a:solidFill>
                <a:latin typeface="Noto Serif HK" pitchFamily="34" charset="0"/>
                <a:ea typeface="Noto Serif HK" pitchFamily="34" charset="-122"/>
                <a:cs typeface="Noto Serif HK" pitchFamily="34" charset="-120"/>
              </a:rPr>
              <a:t>Dislike of Work:</a:t>
            </a:r>
            <a:pPr algn="l" indent="0" marL="0">
              <a:lnSpc>
                <a:spcPts val="1750"/>
              </a:lnSpc>
              <a:buNone/>
            </a:pPr>
            <a:r>
              <a:rPr lang="en-US" sz="1100" dirty="0">
                <a:solidFill>
                  <a:srgbClr val="D3C9C5"/>
                </a:solidFill>
                <a:latin typeface="Noto Serif HK" pitchFamily="34" charset="0"/>
                <a:ea typeface="Noto Serif HK" pitchFamily="34" charset="-122"/>
                <a:cs typeface="Noto Serif HK" pitchFamily="34" charset="-120"/>
              </a:rPr>
              <a:t> Employees inherently dislike work and will avoid it if possible.</a:t>
            </a:r>
            <a:endParaRPr lang="en-US" sz="1100" dirty="0"/>
          </a:p>
        </p:txBody>
      </p:sp>
      <p:sp>
        <p:nvSpPr>
          <p:cNvPr id="6" name="Text 4"/>
          <p:cNvSpPr/>
          <p:nvPr/>
        </p:nvSpPr>
        <p:spPr>
          <a:xfrm>
            <a:off x="569357" y="2748915"/>
            <a:ext cx="6572250" cy="455533"/>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D3C9C5"/>
                </a:solidFill>
                <a:latin typeface="Noto Serif HK" pitchFamily="34" charset="0"/>
                <a:ea typeface="Noto Serif HK" pitchFamily="34" charset="-122"/>
                <a:cs typeface="Noto Serif HK" pitchFamily="34" charset="-120"/>
              </a:rPr>
              <a:t>Need for Coercion:</a:t>
            </a:r>
            <a:pPr algn="l" indent="0" marL="0">
              <a:lnSpc>
                <a:spcPts val="1750"/>
              </a:lnSpc>
              <a:buNone/>
            </a:pPr>
            <a:r>
              <a:rPr lang="en-US" sz="1100" dirty="0">
                <a:solidFill>
                  <a:srgbClr val="D3C9C5"/>
                </a:solidFill>
                <a:latin typeface="Noto Serif HK" pitchFamily="34" charset="0"/>
                <a:ea typeface="Noto Serif HK" pitchFamily="34" charset="-122"/>
                <a:cs typeface="Noto Serif HK" pitchFamily="34" charset="-120"/>
              </a:rPr>
              <a:t> They must be coerced, controlled, or threatened to achieve organizational objectives.</a:t>
            </a:r>
            <a:endParaRPr lang="en-US" sz="1100" dirty="0"/>
          </a:p>
        </p:txBody>
      </p:sp>
      <p:sp>
        <p:nvSpPr>
          <p:cNvPr id="7" name="Text 5"/>
          <p:cNvSpPr/>
          <p:nvPr/>
        </p:nvSpPr>
        <p:spPr>
          <a:xfrm>
            <a:off x="569357" y="3254216"/>
            <a:ext cx="6572250" cy="455533"/>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D3C9C5"/>
                </a:solidFill>
                <a:latin typeface="Noto Serif HK" pitchFamily="34" charset="0"/>
                <a:ea typeface="Noto Serif HK" pitchFamily="34" charset="-122"/>
                <a:cs typeface="Noto Serif HK" pitchFamily="34" charset="-120"/>
              </a:rPr>
              <a:t>Avoidance of Responsibility:</a:t>
            </a:r>
            <a:pPr algn="l" indent="0" marL="0">
              <a:lnSpc>
                <a:spcPts val="1750"/>
              </a:lnSpc>
              <a:buNone/>
            </a:pPr>
            <a:r>
              <a:rPr lang="en-US" sz="1100" dirty="0">
                <a:solidFill>
                  <a:srgbClr val="D3C9C5"/>
                </a:solidFill>
                <a:latin typeface="Noto Serif HK" pitchFamily="34" charset="0"/>
                <a:ea typeface="Noto Serif HK" pitchFamily="34" charset="-122"/>
                <a:cs typeface="Noto Serif HK" pitchFamily="34" charset="-120"/>
              </a:rPr>
              <a:t> People prefer to be directed and shy away from responsibility.</a:t>
            </a:r>
            <a:endParaRPr lang="en-US" sz="1100" dirty="0"/>
          </a:p>
        </p:txBody>
      </p:sp>
      <p:sp>
        <p:nvSpPr>
          <p:cNvPr id="8" name="Text 6"/>
          <p:cNvSpPr/>
          <p:nvPr/>
        </p:nvSpPr>
        <p:spPr>
          <a:xfrm>
            <a:off x="569357" y="3759518"/>
            <a:ext cx="6572250" cy="455533"/>
          </a:xfrm>
          <a:prstGeom prst="rect">
            <a:avLst/>
          </a:prstGeom>
          <a:noFill/>
          <a:ln/>
        </p:spPr>
        <p:txBody>
          <a:bodyPr wrap="square" lIns="0" tIns="0" rIns="0" bIns="0" rtlCol="0" anchor="t"/>
          <a:lstStyle/>
          <a:p>
            <a:pPr algn="l" marL="342900" indent="-342900">
              <a:lnSpc>
                <a:spcPts val="1750"/>
              </a:lnSpc>
              <a:buSzPct val="100000"/>
              <a:buChar char="•"/>
            </a:pPr>
            <a:r>
              <a:rPr lang="en-US" sz="1100" b="1" dirty="0">
                <a:solidFill>
                  <a:srgbClr val="D3C9C5"/>
                </a:solidFill>
                <a:latin typeface="Noto Serif HK" pitchFamily="34" charset="0"/>
                <a:ea typeface="Noto Serif HK" pitchFamily="34" charset="-122"/>
                <a:cs typeface="Noto Serif HK" pitchFamily="34" charset="-120"/>
              </a:rPr>
              <a:t>Motivation by External Factors:</a:t>
            </a:r>
            <a:pPr algn="l" indent="0" marL="0">
              <a:lnSpc>
                <a:spcPts val="1750"/>
              </a:lnSpc>
              <a:buNone/>
            </a:pPr>
            <a:r>
              <a:rPr lang="en-US" sz="1100" dirty="0">
                <a:solidFill>
                  <a:srgbClr val="D3C9C5"/>
                </a:solidFill>
                <a:latin typeface="Noto Serif HK" pitchFamily="34" charset="0"/>
                <a:ea typeface="Noto Serif HK" pitchFamily="34" charset="-122"/>
                <a:cs typeface="Noto Serif HK" pitchFamily="34" charset="-120"/>
              </a:rPr>
              <a:t> Motivation primarily stems from financial rewards and job security rather than internal satisfaction.</a:t>
            </a:r>
            <a:endParaRPr lang="en-US" sz="1100" dirty="0"/>
          </a:p>
        </p:txBody>
      </p:sp>
      <p:pic>
        <p:nvPicPr>
          <p:cNvPr id="9" name="Image 0" descr="preencoded.png">    </p:cNvPr>
          <p:cNvPicPr>
            <a:picLocks noChangeAspect="1"/>
          </p:cNvPicPr>
          <p:nvPr/>
        </p:nvPicPr>
        <p:blipFill>
          <a:blip r:embed="rId1"/>
          <a:stretch>
            <a:fillRect/>
          </a:stretch>
        </p:blipFill>
        <p:spPr>
          <a:xfrm>
            <a:off x="7496413" y="2124551"/>
            <a:ext cx="6572250" cy="65722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44310"/>
            <a:ext cx="11658243" cy="620078"/>
          </a:xfrm>
          <a:prstGeom prst="rect">
            <a:avLst/>
          </a:prstGeom>
          <a:noFill/>
          <a:ln/>
        </p:spPr>
        <p:txBody>
          <a:bodyPr wrap="none" lIns="0" tIns="0" rIns="0" bIns="0" rtlCol="0" anchor="t"/>
          <a:lstStyle/>
          <a:p>
            <a:pPr algn="l" indent="0" marL="0">
              <a:lnSpc>
                <a:spcPts val="4850"/>
              </a:lnSpc>
              <a:buNone/>
            </a:pPr>
            <a:r>
              <a:rPr lang="en-US" sz="3900" b="1" dirty="0">
                <a:solidFill>
                  <a:srgbClr val="FFF8F5"/>
                </a:solidFill>
                <a:latin typeface="Noto Serif HK Bold" pitchFamily="34" charset="0"/>
                <a:ea typeface="Noto Serif HK Bold" pitchFamily="34" charset="-122"/>
                <a:cs typeface="Noto Serif HK Bold" pitchFamily="34" charset="-120"/>
              </a:rPr>
              <a:t>Theory X: Management Style and Implications</a:t>
            </a:r>
            <a:endParaRPr lang="en-US" sz="3900" dirty="0"/>
          </a:p>
        </p:txBody>
      </p:sp>
      <p:sp>
        <p:nvSpPr>
          <p:cNvPr id="3" name="Text 1"/>
          <p:cNvSpPr/>
          <p:nvPr/>
        </p:nvSpPr>
        <p:spPr>
          <a:xfrm>
            <a:off x="793790" y="2161223"/>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The assumptions of Theory X directly translate into a specific management style that emphasizes control and strict adherence to rules. This approach can be effective in certain environments, particularly those requiring precise, repetitive tasks. However, it often comes at the cost of employee morale and innovation.</a:t>
            </a:r>
            <a:endParaRPr lang="en-US" sz="1550" dirty="0"/>
          </a:p>
        </p:txBody>
      </p:sp>
      <p:sp>
        <p:nvSpPr>
          <p:cNvPr id="4" name="Shape 2"/>
          <p:cNvSpPr/>
          <p:nvPr/>
        </p:nvSpPr>
        <p:spPr>
          <a:xfrm>
            <a:off x="793790" y="3337084"/>
            <a:ext cx="4215289" cy="2572226"/>
          </a:xfrm>
          <a:prstGeom prst="roundRect">
            <a:avLst>
              <a:gd name="adj" fmla="val 1157"/>
            </a:avLst>
          </a:prstGeom>
          <a:solidFill>
            <a:srgbClr val="5F5153"/>
          </a:solidFill>
          <a:ln/>
        </p:spPr>
      </p:sp>
      <p:sp>
        <p:nvSpPr>
          <p:cNvPr id="5" name="Shape 3"/>
          <p:cNvSpPr/>
          <p:nvPr/>
        </p:nvSpPr>
        <p:spPr>
          <a:xfrm>
            <a:off x="992148" y="3535442"/>
            <a:ext cx="595313" cy="595313"/>
          </a:xfrm>
          <a:prstGeom prst="roundRect">
            <a:avLst>
              <a:gd name="adj" fmla="val 15358451"/>
            </a:avLst>
          </a:prstGeom>
          <a:solidFill>
            <a:srgbClr val="E2C2B3"/>
          </a:solidFill>
          <a:ln/>
        </p:spPr>
      </p:sp>
      <p:pic>
        <p:nvPicPr>
          <p:cNvPr id="6" name="Image 0" descr="preencoded.png">    </p:cNvPr>
          <p:cNvPicPr>
            <a:picLocks noChangeAspect="1"/>
          </p:cNvPicPr>
          <p:nvPr/>
        </p:nvPicPr>
        <p:blipFill>
          <a:blip r:embed="rId1"/>
          <a:stretch>
            <a:fillRect/>
          </a:stretch>
        </p:blipFill>
        <p:spPr>
          <a:xfrm>
            <a:off x="1155859" y="3665577"/>
            <a:ext cx="267891" cy="334923"/>
          </a:xfrm>
          <a:prstGeom prst="rect">
            <a:avLst/>
          </a:prstGeom>
        </p:spPr>
      </p:pic>
      <p:sp>
        <p:nvSpPr>
          <p:cNvPr id="7" name="Text 4"/>
          <p:cNvSpPr/>
          <p:nvPr/>
        </p:nvSpPr>
        <p:spPr>
          <a:xfrm>
            <a:off x="992148" y="4329113"/>
            <a:ext cx="2764631" cy="310158"/>
          </a:xfrm>
          <a:prstGeom prst="rect">
            <a:avLst/>
          </a:prstGeom>
          <a:noFill/>
          <a:ln/>
        </p:spPr>
        <p:txBody>
          <a:bodyPr wrap="none" lIns="0" tIns="0" rIns="0" bIns="0" rtlCol="0" anchor="t"/>
          <a:lstStyle/>
          <a:p>
            <a:pPr algn="l" indent="0" marL="0">
              <a:lnSpc>
                <a:spcPts val="2400"/>
              </a:lnSpc>
              <a:buNone/>
            </a:pPr>
            <a:r>
              <a:rPr lang="en-US" sz="1950" b="1" dirty="0">
                <a:solidFill>
                  <a:srgbClr val="D3C9C5"/>
                </a:solidFill>
                <a:latin typeface="Noto Serif HK Bold" pitchFamily="34" charset="0"/>
                <a:ea typeface="Noto Serif HK Bold" pitchFamily="34" charset="-122"/>
                <a:cs typeface="Noto Serif HK Bold" pitchFamily="34" charset="-120"/>
              </a:rPr>
              <a:t>Authoritarian Control</a:t>
            </a:r>
            <a:endParaRPr lang="en-US" sz="1950" dirty="0"/>
          </a:p>
        </p:txBody>
      </p:sp>
      <p:sp>
        <p:nvSpPr>
          <p:cNvPr id="8" name="Text 5"/>
          <p:cNvSpPr/>
          <p:nvPr/>
        </p:nvSpPr>
        <p:spPr>
          <a:xfrm>
            <a:off x="992148" y="4758333"/>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Managers maintain tight control, dictating tasks and procedures with minimal employee input.</a:t>
            </a:r>
            <a:endParaRPr lang="en-US" sz="1550" dirty="0"/>
          </a:p>
        </p:txBody>
      </p:sp>
      <p:sp>
        <p:nvSpPr>
          <p:cNvPr id="9" name="Shape 6"/>
          <p:cNvSpPr/>
          <p:nvPr/>
        </p:nvSpPr>
        <p:spPr>
          <a:xfrm>
            <a:off x="5207437" y="3337084"/>
            <a:ext cx="4215408" cy="2572226"/>
          </a:xfrm>
          <a:prstGeom prst="roundRect">
            <a:avLst>
              <a:gd name="adj" fmla="val 1157"/>
            </a:avLst>
          </a:prstGeom>
          <a:solidFill>
            <a:srgbClr val="5F5153"/>
          </a:solidFill>
          <a:ln/>
        </p:spPr>
      </p:sp>
      <p:sp>
        <p:nvSpPr>
          <p:cNvPr id="10" name="Shape 7"/>
          <p:cNvSpPr/>
          <p:nvPr/>
        </p:nvSpPr>
        <p:spPr>
          <a:xfrm>
            <a:off x="5405795" y="3535442"/>
            <a:ext cx="595313" cy="595313"/>
          </a:xfrm>
          <a:prstGeom prst="roundRect">
            <a:avLst>
              <a:gd name="adj" fmla="val 15358451"/>
            </a:avLst>
          </a:prstGeom>
          <a:solidFill>
            <a:srgbClr val="E2C2B3"/>
          </a:solidFill>
          <a:ln/>
        </p:spPr>
      </p:sp>
      <p:pic>
        <p:nvPicPr>
          <p:cNvPr id="11" name="Image 1" descr="preencoded.png">    </p:cNvPr>
          <p:cNvPicPr>
            <a:picLocks noChangeAspect="1"/>
          </p:cNvPicPr>
          <p:nvPr/>
        </p:nvPicPr>
        <p:blipFill>
          <a:blip r:embed="rId2"/>
          <a:stretch>
            <a:fillRect/>
          </a:stretch>
        </p:blipFill>
        <p:spPr>
          <a:xfrm>
            <a:off x="5569506" y="3665577"/>
            <a:ext cx="267891" cy="334923"/>
          </a:xfrm>
          <a:prstGeom prst="rect">
            <a:avLst/>
          </a:prstGeom>
        </p:spPr>
      </p:pic>
      <p:sp>
        <p:nvSpPr>
          <p:cNvPr id="12" name="Text 8"/>
          <p:cNvSpPr/>
          <p:nvPr/>
        </p:nvSpPr>
        <p:spPr>
          <a:xfrm>
            <a:off x="5405795" y="432911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D3C9C5"/>
                </a:solidFill>
                <a:latin typeface="Noto Serif HK Bold" pitchFamily="34" charset="0"/>
                <a:ea typeface="Noto Serif HK Bold" pitchFamily="34" charset="-122"/>
                <a:cs typeface="Noto Serif HK Bold" pitchFamily="34" charset="-120"/>
              </a:rPr>
              <a:t>Close Supervision</a:t>
            </a:r>
            <a:endParaRPr lang="en-US" sz="1950" dirty="0"/>
          </a:p>
        </p:txBody>
      </p:sp>
      <p:sp>
        <p:nvSpPr>
          <p:cNvPr id="13" name="Text 9"/>
          <p:cNvSpPr/>
          <p:nvPr/>
        </p:nvSpPr>
        <p:spPr>
          <a:xfrm>
            <a:off x="5405795" y="4758333"/>
            <a:ext cx="3818692"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Constant monitoring and strict rules are put in place to ensure compliance and prevent shirking responsibilities.</a:t>
            </a:r>
            <a:endParaRPr lang="en-US" sz="1550" dirty="0"/>
          </a:p>
        </p:txBody>
      </p:sp>
      <p:sp>
        <p:nvSpPr>
          <p:cNvPr id="14" name="Shape 10"/>
          <p:cNvSpPr/>
          <p:nvPr/>
        </p:nvSpPr>
        <p:spPr>
          <a:xfrm>
            <a:off x="9621203" y="3337084"/>
            <a:ext cx="4215289" cy="2572226"/>
          </a:xfrm>
          <a:prstGeom prst="roundRect">
            <a:avLst>
              <a:gd name="adj" fmla="val 1157"/>
            </a:avLst>
          </a:prstGeom>
          <a:solidFill>
            <a:srgbClr val="5F5153"/>
          </a:solidFill>
          <a:ln/>
        </p:spPr>
      </p:sp>
      <p:sp>
        <p:nvSpPr>
          <p:cNvPr id="15" name="Shape 11"/>
          <p:cNvSpPr/>
          <p:nvPr/>
        </p:nvSpPr>
        <p:spPr>
          <a:xfrm>
            <a:off x="9819561" y="3535442"/>
            <a:ext cx="595313" cy="595313"/>
          </a:xfrm>
          <a:prstGeom prst="roundRect">
            <a:avLst>
              <a:gd name="adj" fmla="val 15358451"/>
            </a:avLst>
          </a:prstGeom>
          <a:solidFill>
            <a:srgbClr val="E2C2B3"/>
          </a:solidFill>
          <a:ln/>
        </p:spPr>
      </p:sp>
      <p:pic>
        <p:nvPicPr>
          <p:cNvPr id="16" name="Image 2" descr="preencoded.png">    </p:cNvPr>
          <p:cNvPicPr>
            <a:picLocks noChangeAspect="1"/>
          </p:cNvPicPr>
          <p:nvPr/>
        </p:nvPicPr>
        <p:blipFill>
          <a:blip r:embed="rId3"/>
          <a:stretch>
            <a:fillRect/>
          </a:stretch>
        </p:blipFill>
        <p:spPr>
          <a:xfrm>
            <a:off x="9983272" y="3665577"/>
            <a:ext cx="267891" cy="334923"/>
          </a:xfrm>
          <a:prstGeom prst="rect">
            <a:avLst/>
          </a:prstGeom>
        </p:spPr>
      </p:pic>
      <p:sp>
        <p:nvSpPr>
          <p:cNvPr id="17" name="Text 12"/>
          <p:cNvSpPr/>
          <p:nvPr/>
        </p:nvSpPr>
        <p:spPr>
          <a:xfrm>
            <a:off x="9819561" y="432911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D3C9C5"/>
                </a:solidFill>
                <a:latin typeface="Noto Serif HK Bold" pitchFamily="34" charset="0"/>
                <a:ea typeface="Noto Serif HK Bold" pitchFamily="34" charset="-122"/>
                <a:cs typeface="Noto Serif HK Bold" pitchFamily="34" charset="-120"/>
              </a:rPr>
              <a:t>Limited Delegation</a:t>
            </a:r>
            <a:endParaRPr lang="en-US" sz="1950" dirty="0"/>
          </a:p>
        </p:txBody>
      </p:sp>
      <p:sp>
        <p:nvSpPr>
          <p:cNvPr id="18" name="Text 13"/>
          <p:cNvSpPr/>
          <p:nvPr/>
        </p:nvSpPr>
        <p:spPr>
          <a:xfrm>
            <a:off x="9819561" y="4758333"/>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Responsibilities are rarely delegated, as employees are not trusted to perform independently.</a:t>
            </a:r>
            <a:endParaRPr lang="en-US" sz="1550" dirty="0"/>
          </a:p>
        </p:txBody>
      </p:sp>
      <p:sp>
        <p:nvSpPr>
          <p:cNvPr id="19" name="Text 14"/>
          <p:cNvSpPr/>
          <p:nvPr/>
        </p:nvSpPr>
        <p:spPr>
          <a:xfrm>
            <a:off x="793790" y="6132552"/>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The implications of this style are significant. While it might lead to consistent output in routine tasks, it can also foster an environment of low morale, stifled creativity, and high turnover. Employees may feel undervalued and become disengaged, seeing work merely as a means to an end.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85549" y="402550"/>
            <a:ext cx="5867638" cy="457438"/>
          </a:xfrm>
          <a:prstGeom prst="rect">
            <a:avLst/>
          </a:prstGeom>
          <a:noFill/>
          <a:ln/>
        </p:spPr>
        <p:txBody>
          <a:bodyPr wrap="none" lIns="0" tIns="0" rIns="0" bIns="0" rtlCol="0" anchor="t"/>
          <a:lstStyle/>
          <a:p>
            <a:pPr algn="l" indent="0" marL="0">
              <a:lnSpc>
                <a:spcPts val="3600"/>
              </a:lnSpc>
              <a:buNone/>
            </a:pPr>
            <a:r>
              <a:rPr lang="en-US" sz="2850" b="1" dirty="0">
                <a:solidFill>
                  <a:srgbClr val="FFF8F5"/>
                </a:solidFill>
                <a:latin typeface="Noto Serif HK Bold" pitchFamily="34" charset="0"/>
                <a:ea typeface="Noto Serif HK Bold" pitchFamily="34" charset="-122"/>
                <a:cs typeface="Noto Serif HK Bold" pitchFamily="34" charset="-120"/>
              </a:rPr>
              <a:t>Theory Y: The Humanistic View</a:t>
            </a:r>
            <a:endParaRPr lang="en-US" sz="2850" dirty="0"/>
          </a:p>
        </p:txBody>
      </p:sp>
      <p:sp>
        <p:nvSpPr>
          <p:cNvPr id="3" name="Text 1"/>
          <p:cNvSpPr/>
          <p:nvPr/>
        </p:nvSpPr>
        <p:spPr>
          <a:xfrm>
            <a:off x="585549" y="1152763"/>
            <a:ext cx="13459301" cy="702945"/>
          </a:xfrm>
          <a:prstGeom prst="rect">
            <a:avLst/>
          </a:prstGeom>
          <a:noFill/>
          <a:ln/>
        </p:spPr>
        <p:txBody>
          <a:bodyPr wrap="square" lIns="0" tIns="0" rIns="0" bIns="0" rtlCol="0" anchor="t"/>
          <a:lstStyle/>
          <a:p>
            <a:pPr algn="l" indent="0" marL="0">
              <a:lnSpc>
                <a:spcPts val="1800"/>
              </a:lnSpc>
              <a:buNone/>
            </a:pPr>
            <a:r>
              <a:rPr lang="en-US" sz="1150" dirty="0">
                <a:solidFill>
                  <a:srgbClr val="D3C9C5"/>
                </a:solidFill>
                <a:latin typeface="Noto Serif HK" pitchFamily="34" charset="0"/>
                <a:ea typeface="Noto Serif HK" pitchFamily="34" charset="-122"/>
                <a:cs typeface="Noto Serif HK" pitchFamily="34" charset="-120"/>
              </a:rPr>
              <a:t>In stark contrast to Theory X, Theory Y offers a more optimistic and humanistic perspective on employee motivation and behaviour. This theory posits that work is a natural and satisfying activity for individuals, and that people are inherently capable of self-direction and creativity. Managers adopting a Theory Y approach believe in the intrinsic potential of their employees, viewing them as valuable assets who seek meaningful contributions and personal growth.</a:t>
            </a:r>
            <a:endParaRPr lang="en-US" sz="1150" dirty="0"/>
          </a:p>
        </p:txBody>
      </p:sp>
      <p:pic>
        <p:nvPicPr>
          <p:cNvPr id="4" name="Image 0" descr="preencoded.png">    </p:cNvPr>
          <p:cNvPicPr>
            <a:picLocks noChangeAspect="1"/>
          </p:cNvPicPr>
          <p:nvPr/>
        </p:nvPicPr>
        <p:blipFill>
          <a:blip r:embed="rId1"/>
          <a:stretch>
            <a:fillRect/>
          </a:stretch>
        </p:blipFill>
        <p:spPr>
          <a:xfrm>
            <a:off x="585549" y="2185035"/>
            <a:ext cx="6551057" cy="6551057"/>
          </a:xfrm>
          <a:prstGeom prst="rect">
            <a:avLst/>
          </a:prstGeom>
        </p:spPr>
      </p:pic>
      <p:sp>
        <p:nvSpPr>
          <p:cNvPr id="5" name="Text 2"/>
          <p:cNvSpPr/>
          <p:nvPr/>
        </p:nvSpPr>
        <p:spPr>
          <a:xfrm>
            <a:off x="7501414" y="2166699"/>
            <a:ext cx="1829991" cy="228719"/>
          </a:xfrm>
          <a:prstGeom prst="rect">
            <a:avLst/>
          </a:prstGeom>
          <a:noFill/>
          <a:ln/>
        </p:spPr>
        <p:txBody>
          <a:bodyPr wrap="none" lIns="0" tIns="0" rIns="0" bIns="0" rtlCol="0" anchor="t"/>
          <a:lstStyle/>
          <a:p>
            <a:pPr algn="l" indent="0" marL="0">
              <a:lnSpc>
                <a:spcPts val="1800"/>
              </a:lnSpc>
              <a:buNone/>
            </a:pPr>
            <a:r>
              <a:rPr lang="en-US" sz="1400" b="1" dirty="0">
                <a:solidFill>
                  <a:srgbClr val="FFF8F5"/>
                </a:solidFill>
                <a:latin typeface="Noto Serif HK Bold" pitchFamily="34" charset="0"/>
                <a:ea typeface="Noto Serif HK Bold" pitchFamily="34" charset="-122"/>
                <a:cs typeface="Noto Serif HK Bold" pitchFamily="34" charset="-120"/>
              </a:rPr>
              <a:t>Core Assumptions:</a:t>
            </a:r>
            <a:endParaRPr lang="en-US" sz="1400" dirty="0"/>
          </a:p>
        </p:txBody>
      </p:sp>
      <p:sp>
        <p:nvSpPr>
          <p:cNvPr id="6" name="Text 3"/>
          <p:cNvSpPr/>
          <p:nvPr/>
        </p:nvSpPr>
        <p:spPr>
          <a:xfrm>
            <a:off x="7501414" y="2541746"/>
            <a:ext cx="6551057" cy="468630"/>
          </a:xfrm>
          <a:prstGeom prst="rect">
            <a:avLst/>
          </a:prstGeom>
          <a:noFill/>
          <a:ln/>
        </p:spPr>
        <p:txBody>
          <a:bodyPr wrap="square" lIns="0" tIns="0" rIns="0" bIns="0" rtlCol="0" anchor="t"/>
          <a:lstStyle/>
          <a:p>
            <a:pPr algn="l" marL="342900" indent="-342900">
              <a:lnSpc>
                <a:spcPts val="1800"/>
              </a:lnSpc>
              <a:buSzPct val="100000"/>
              <a:buChar char="•"/>
            </a:pPr>
            <a:r>
              <a:rPr lang="en-US" sz="1150" b="1" dirty="0">
                <a:solidFill>
                  <a:srgbClr val="D3C9C5"/>
                </a:solidFill>
                <a:latin typeface="Noto Serif HK" pitchFamily="34" charset="0"/>
                <a:ea typeface="Noto Serif HK" pitchFamily="34" charset="-122"/>
                <a:cs typeface="Noto Serif HK" pitchFamily="34" charset="-120"/>
              </a:rPr>
              <a:t>Work is Natural:</a:t>
            </a:r>
            <a:pPr algn="l" indent="0" marL="0">
              <a:lnSpc>
                <a:spcPts val="1800"/>
              </a:lnSpc>
              <a:buNone/>
            </a:pPr>
            <a:r>
              <a:rPr lang="en-US" sz="1150" dirty="0">
                <a:solidFill>
                  <a:srgbClr val="D3C9C5"/>
                </a:solidFill>
                <a:latin typeface="Noto Serif HK" pitchFamily="34" charset="0"/>
                <a:ea typeface="Noto Serif HK" pitchFamily="34" charset="-122"/>
                <a:cs typeface="Noto Serif HK" pitchFamily="34" charset="-120"/>
              </a:rPr>
              <a:t> Work is as natural as play or rest; people find satisfaction in productive activities.</a:t>
            </a:r>
            <a:endParaRPr lang="en-US" sz="1150" dirty="0"/>
          </a:p>
        </p:txBody>
      </p:sp>
      <p:sp>
        <p:nvSpPr>
          <p:cNvPr id="7" name="Text 4"/>
          <p:cNvSpPr/>
          <p:nvPr/>
        </p:nvSpPr>
        <p:spPr>
          <a:xfrm>
            <a:off x="7501414" y="3061573"/>
            <a:ext cx="6551057" cy="468630"/>
          </a:xfrm>
          <a:prstGeom prst="rect">
            <a:avLst/>
          </a:prstGeom>
          <a:noFill/>
          <a:ln/>
        </p:spPr>
        <p:txBody>
          <a:bodyPr wrap="square" lIns="0" tIns="0" rIns="0" bIns="0" rtlCol="0" anchor="t"/>
          <a:lstStyle/>
          <a:p>
            <a:pPr algn="l" marL="342900" indent="-342900">
              <a:lnSpc>
                <a:spcPts val="1800"/>
              </a:lnSpc>
              <a:buSzPct val="100000"/>
              <a:buChar char="•"/>
            </a:pPr>
            <a:r>
              <a:rPr lang="en-US" sz="1150" b="1" dirty="0">
                <a:solidFill>
                  <a:srgbClr val="D3C9C5"/>
                </a:solidFill>
                <a:latin typeface="Noto Serif HK" pitchFamily="34" charset="0"/>
                <a:ea typeface="Noto Serif HK" pitchFamily="34" charset="-122"/>
                <a:cs typeface="Noto Serif HK" pitchFamily="34" charset="-120"/>
              </a:rPr>
              <a:t>Self-Motivation:</a:t>
            </a:r>
            <a:pPr algn="l" indent="0" marL="0">
              <a:lnSpc>
                <a:spcPts val="1800"/>
              </a:lnSpc>
              <a:buNone/>
            </a:pPr>
            <a:r>
              <a:rPr lang="en-US" sz="1150" dirty="0">
                <a:solidFill>
                  <a:srgbClr val="D3C9C5"/>
                </a:solidFill>
                <a:latin typeface="Noto Serif HK" pitchFamily="34" charset="0"/>
                <a:ea typeface="Noto Serif HK" pitchFamily="34" charset="-122"/>
                <a:cs typeface="Noto Serif HK" pitchFamily="34" charset="-120"/>
              </a:rPr>
              <a:t> Employees are self-motivated and can exercise self-direction and self-control towards objectives they are committed to.</a:t>
            </a:r>
            <a:endParaRPr lang="en-US" sz="1150" dirty="0"/>
          </a:p>
        </p:txBody>
      </p:sp>
      <p:sp>
        <p:nvSpPr>
          <p:cNvPr id="8" name="Text 5"/>
          <p:cNvSpPr/>
          <p:nvPr/>
        </p:nvSpPr>
        <p:spPr>
          <a:xfrm>
            <a:off x="7501414" y="3581400"/>
            <a:ext cx="6551057" cy="468630"/>
          </a:xfrm>
          <a:prstGeom prst="rect">
            <a:avLst/>
          </a:prstGeom>
          <a:noFill/>
          <a:ln/>
        </p:spPr>
        <p:txBody>
          <a:bodyPr wrap="square" lIns="0" tIns="0" rIns="0" bIns="0" rtlCol="0" anchor="t"/>
          <a:lstStyle/>
          <a:p>
            <a:pPr algn="l" marL="342900" indent="-342900">
              <a:lnSpc>
                <a:spcPts val="1800"/>
              </a:lnSpc>
              <a:buSzPct val="100000"/>
              <a:buChar char="•"/>
            </a:pPr>
            <a:r>
              <a:rPr lang="en-US" sz="1150" b="1" dirty="0">
                <a:solidFill>
                  <a:srgbClr val="D3C9C5"/>
                </a:solidFill>
                <a:latin typeface="Noto Serif HK" pitchFamily="34" charset="0"/>
                <a:ea typeface="Noto Serif HK" pitchFamily="34" charset="-122"/>
                <a:cs typeface="Noto Serif HK" pitchFamily="34" charset="-120"/>
              </a:rPr>
              <a:t>Seeking Responsibility:</a:t>
            </a:r>
            <a:pPr algn="l" indent="0" marL="0">
              <a:lnSpc>
                <a:spcPts val="1800"/>
              </a:lnSpc>
              <a:buNone/>
            </a:pPr>
            <a:r>
              <a:rPr lang="en-US" sz="1150" dirty="0">
                <a:solidFill>
                  <a:srgbClr val="D3C9C5"/>
                </a:solidFill>
                <a:latin typeface="Noto Serif HK" pitchFamily="34" charset="0"/>
                <a:ea typeface="Noto Serif HK" pitchFamily="34" charset="-122"/>
                <a:cs typeface="Noto Serif HK" pitchFamily="34" charset="-120"/>
              </a:rPr>
              <a:t> Under proper conditions, people not only accept but also seek responsibility.</a:t>
            </a:r>
            <a:endParaRPr lang="en-US" sz="1150" dirty="0"/>
          </a:p>
        </p:txBody>
      </p:sp>
      <p:sp>
        <p:nvSpPr>
          <p:cNvPr id="9" name="Text 6"/>
          <p:cNvSpPr/>
          <p:nvPr/>
        </p:nvSpPr>
        <p:spPr>
          <a:xfrm>
            <a:off x="7501414" y="4101227"/>
            <a:ext cx="6551057" cy="468630"/>
          </a:xfrm>
          <a:prstGeom prst="rect">
            <a:avLst/>
          </a:prstGeom>
          <a:noFill/>
          <a:ln/>
        </p:spPr>
        <p:txBody>
          <a:bodyPr wrap="square" lIns="0" tIns="0" rIns="0" bIns="0" rtlCol="0" anchor="t"/>
          <a:lstStyle/>
          <a:p>
            <a:pPr algn="l" marL="342900" indent="-342900">
              <a:lnSpc>
                <a:spcPts val="1800"/>
              </a:lnSpc>
              <a:buSzPct val="100000"/>
              <a:buChar char="•"/>
            </a:pPr>
            <a:r>
              <a:rPr lang="en-US" sz="1150" b="1" dirty="0">
                <a:solidFill>
                  <a:srgbClr val="D3C9C5"/>
                </a:solidFill>
                <a:latin typeface="Noto Serif HK" pitchFamily="34" charset="0"/>
                <a:ea typeface="Noto Serif HK" pitchFamily="34" charset="-122"/>
                <a:cs typeface="Noto Serif HK" pitchFamily="34" charset="-120"/>
              </a:rPr>
              <a:t>Creativity &amp; Problem-Solving:</a:t>
            </a:r>
            <a:pPr algn="l" indent="0" marL="0">
              <a:lnSpc>
                <a:spcPts val="1800"/>
              </a:lnSpc>
              <a:buNone/>
            </a:pPr>
            <a:r>
              <a:rPr lang="en-US" sz="1150" dirty="0">
                <a:solidFill>
                  <a:srgbClr val="D3C9C5"/>
                </a:solidFill>
                <a:latin typeface="Noto Serif HK" pitchFamily="34" charset="0"/>
                <a:ea typeface="Noto Serif HK" pitchFamily="34" charset="-122"/>
                <a:cs typeface="Noto Serif HK" pitchFamily="34" charset="-120"/>
              </a:rPr>
              <a:t> The capacity for creativity and problem-solving is widely distributed in the population, not just among those in management.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59575"/>
            <a:ext cx="11618476" cy="620078"/>
          </a:xfrm>
          <a:prstGeom prst="rect">
            <a:avLst/>
          </a:prstGeom>
          <a:noFill/>
          <a:ln/>
        </p:spPr>
        <p:txBody>
          <a:bodyPr wrap="none" lIns="0" tIns="0" rIns="0" bIns="0" rtlCol="0" anchor="t"/>
          <a:lstStyle/>
          <a:p>
            <a:pPr algn="l" indent="0" marL="0">
              <a:lnSpc>
                <a:spcPts val="4850"/>
              </a:lnSpc>
              <a:buNone/>
            </a:pPr>
            <a:r>
              <a:rPr lang="en-US" sz="3900" b="1" dirty="0">
                <a:solidFill>
                  <a:srgbClr val="FFF8F5"/>
                </a:solidFill>
                <a:latin typeface="Noto Serif HK Bold" pitchFamily="34" charset="0"/>
                <a:ea typeface="Noto Serif HK Bold" pitchFamily="34" charset="-122"/>
                <a:cs typeface="Noto Serif HK Bold" pitchFamily="34" charset="-120"/>
              </a:rPr>
              <a:t>Theory Y: Management Style and Implications</a:t>
            </a:r>
            <a:endParaRPr lang="en-US" sz="3900" dirty="0"/>
          </a:p>
        </p:txBody>
      </p:sp>
      <p:sp>
        <p:nvSpPr>
          <p:cNvPr id="3" name="Text 1"/>
          <p:cNvSpPr/>
          <p:nvPr/>
        </p:nvSpPr>
        <p:spPr>
          <a:xfrm>
            <a:off x="793790" y="2376488"/>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The Theory Y assumptions lead to a management style that is participative, supportive, and empowering. This approach fosters an environment where employees feel trusted and valued, encouraging greater engagement and innovation. The implications are overwhelmingly positive, especially in dynamic and knowledge-based industries.</a:t>
            </a:r>
            <a:endParaRPr lang="en-US" sz="1550" dirty="0"/>
          </a:p>
        </p:txBody>
      </p:sp>
      <p:sp>
        <p:nvSpPr>
          <p:cNvPr id="4" name="Shape 2"/>
          <p:cNvSpPr/>
          <p:nvPr/>
        </p:nvSpPr>
        <p:spPr>
          <a:xfrm>
            <a:off x="793790" y="3552349"/>
            <a:ext cx="4215289" cy="2141815"/>
          </a:xfrm>
          <a:prstGeom prst="roundRect">
            <a:avLst>
              <a:gd name="adj" fmla="val 5123"/>
            </a:avLst>
          </a:prstGeom>
          <a:solidFill>
            <a:srgbClr val="403234"/>
          </a:solidFill>
          <a:ln w="22860">
            <a:solidFill>
              <a:srgbClr val="786A6C"/>
            </a:solidFill>
            <a:prstDash val="solid"/>
          </a:ln>
        </p:spPr>
      </p:sp>
      <p:sp>
        <p:nvSpPr>
          <p:cNvPr id="5" name="Shape 3"/>
          <p:cNvSpPr/>
          <p:nvPr/>
        </p:nvSpPr>
        <p:spPr>
          <a:xfrm>
            <a:off x="770930" y="3552349"/>
            <a:ext cx="91440" cy="2141815"/>
          </a:xfrm>
          <a:prstGeom prst="roundRect">
            <a:avLst>
              <a:gd name="adj" fmla="val 32558"/>
            </a:avLst>
          </a:prstGeom>
          <a:solidFill>
            <a:srgbClr val="E2C2B3"/>
          </a:solidFill>
          <a:ln/>
        </p:spPr>
      </p:sp>
      <p:sp>
        <p:nvSpPr>
          <p:cNvPr id="6" name="Text 4"/>
          <p:cNvSpPr/>
          <p:nvPr/>
        </p:nvSpPr>
        <p:spPr>
          <a:xfrm>
            <a:off x="1083588" y="3773567"/>
            <a:ext cx="3019068" cy="310158"/>
          </a:xfrm>
          <a:prstGeom prst="rect">
            <a:avLst/>
          </a:prstGeom>
          <a:noFill/>
          <a:ln/>
        </p:spPr>
        <p:txBody>
          <a:bodyPr wrap="none" lIns="0" tIns="0" rIns="0" bIns="0" rtlCol="0" anchor="t"/>
          <a:lstStyle/>
          <a:p>
            <a:pPr algn="l" indent="0" marL="0">
              <a:lnSpc>
                <a:spcPts val="2400"/>
              </a:lnSpc>
              <a:buNone/>
            </a:pPr>
            <a:r>
              <a:rPr lang="en-US" sz="1950" b="1" dirty="0">
                <a:solidFill>
                  <a:srgbClr val="D3C9C5"/>
                </a:solidFill>
                <a:latin typeface="Noto Serif HK Bold" pitchFamily="34" charset="0"/>
                <a:ea typeface="Noto Serif HK Bold" pitchFamily="34" charset="-122"/>
                <a:cs typeface="Noto Serif HK Bold" pitchFamily="34" charset="-120"/>
              </a:rPr>
              <a:t>Participative &amp; Trusting</a:t>
            </a:r>
            <a:endParaRPr lang="en-US" sz="1950" dirty="0"/>
          </a:p>
        </p:txBody>
      </p:sp>
      <p:sp>
        <p:nvSpPr>
          <p:cNvPr id="7" name="Text 5"/>
          <p:cNvSpPr/>
          <p:nvPr/>
        </p:nvSpPr>
        <p:spPr>
          <a:xfrm>
            <a:off x="1083588" y="4202787"/>
            <a:ext cx="3704273"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Managers involve employees in decision-making processes, building trust and commitment.</a:t>
            </a:r>
            <a:endParaRPr lang="en-US" sz="1550" dirty="0"/>
          </a:p>
        </p:txBody>
      </p:sp>
      <p:sp>
        <p:nvSpPr>
          <p:cNvPr id="8" name="Shape 6"/>
          <p:cNvSpPr/>
          <p:nvPr/>
        </p:nvSpPr>
        <p:spPr>
          <a:xfrm>
            <a:off x="5207437" y="3552349"/>
            <a:ext cx="4215408" cy="2141815"/>
          </a:xfrm>
          <a:prstGeom prst="roundRect">
            <a:avLst>
              <a:gd name="adj" fmla="val 5123"/>
            </a:avLst>
          </a:prstGeom>
          <a:solidFill>
            <a:srgbClr val="403234"/>
          </a:solidFill>
          <a:ln w="22860">
            <a:solidFill>
              <a:srgbClr val="786A6C"/>
            </a:solidFill>
            <a:prstDash val="solid"/>
          </a:ln>
        </p:spPr>
      </p:sp>
      <p:sp>
        <p:nvSpPr>
          <p:cNvPr id="9" name="Shape 7"/>
          <p:cNvSpPr/>
          <p:nvPr/>
        </p:nvSpPr>
        <p:spPr>
          <a:xfrm>
            <a:off x="5184577" y="3552349"/>
            <a:ext cx="91440" cy="2141815"/>
          </a:xfrm>
          <a:prstGeom prst="roundRect">
            <a:avLst>
              <a:gd name="adj" fmla="val 32558"/>
            </a:avLst>
          </a:prstGeom>
          <a:solidFill>
            <a:srgbClr val="E2C2B3"/>
          </a:solidFill>
          <a:ln/>
        </p:spPr>
      </p:sp>
      <p:sp>
        <p:nvSpPr>
          <p:cNvPr id="10" name="Text 8"/>
          <p:cNvSpPr/>
          <p:nvPr/>
        </p:nvSpPr>
        <p:spPr>
          <a:xfrm>
            <a:off x="5497235" y="3773567"/>
            <a:ext cx="3551515" cy="310158"/>
          </a:xfrm>
          <a:prstGeom prst="rect">
            <a:avLst/>
          </a:prstGeom>
          <a:noFill/>
          <a:ln/>
        </p:spPr>
        <p:txBody>
          <a:bodyPr wrap="none" lIns="0" tIns="0" rIns="0" bIns="0" rtlCol="0" anchor="t"/>
          <a:lstStyle/>
          <a:p>
            <a:pPr algn="l" indent="0" marL="0">
              <a:lnSpc>
                <a:spcPts val="2400"/>
              </a:lnSpc>
              <a:buNone/>
            </a:pPr>
            <a:r>
              <a:rPr lang="en-US" sz="1950" b="1" dirty="0">
                <a:solidFill>
                  <a:srgbClr val="D3C9C5"/>
                </a:solidFill>
                <a:latin typeface="Noto Serif HK Bold" pitchFamily="34" charset="0"/>
                <a:ea typeface="Noto Serif HK Bold" pitchFamily="34" charset="-122"/>
                <a:cs typeface="Noto Serif HK Bold" pitchFamily="34" charset="-120"/>
              </a:rPr>
              <a:t>Empowerment &amp; Delegation</a:t>
            </a:r>
            <a:endParaRPr lang="en-US" sz="1950" dirty="0"/>
          </a:p>
        </p:txBody>
      </p:sp>
      <p:sp>
        <p:nvSpPr>
          <p:cNvPr id="11" name="Text 9"/>
          <p:cNvSpPr/>
          <p:nvPr/>
        </p:nvSpPr>
        <p:spPr>
          <a:xfrm>
            <a:off x="5497235" y="4202787"/>
            <a:ext cx="3704392" cy="127015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Significant responsibility is delegated, allowing employees autonomy and fostering a sense of ownership over their work.</a:t>
            </a:r>
            <a:endParaRPr lang="en-US" sz="1550" dirty="0"/>
          </a:p>
        </p:txBody>
      </p:sp>
      <p:sp>
        <p:nvSpPr>
          <p:cNvPr id="12" name="Shape 10"/>
          <p:cNvSpPr/>
          <p:nvPr/>
        </p:nvSpPr>
        <p:spPr>
          <a:xfrm>
            <a:off x="9621203" y="3552349"/>
            <a:ext cx="4215289" cy="2141815"/>
          </a:xfrm>
          <a:prstGeom prst="roundRect">
            <a:avLst>
              <a:gd name="adj" fmla="val 5123"/>
            </a:avLst>
          </a:prstGeom>
          <a:solidFill>
            <a:srgbClr val="403234"/>
          </a:solidFill>
          <a:ln w="22860">
            <a:solidFill>
              <a:srgbClr val="786A6C"/>
            </a:solidFill>
            <a:prstDash val="solid"/>
          </a:ln>
        </p:spPr>
      </p:sp>
      <p:sp>
        <p:nvSpPr>
          <p:cNvPr id="13" name="Shape 11"/>
          <p:cNvSpPr/>
          <p:nvPr/>
        </p:nvSpPr>
        <p:spPr>
          <a:xfrm>
            <a:off x="9598343" y="3552349"/>
            <a:ext cx="91440" cy="2141815"/>
          </a:xfrm>
          <a:prstGeom prst="roundRect">
            <a:avLst>
              <a:gd name="adj" fmla="val 32558"/>
            </a:avLst>
          </a:prstGeom>
          <a:solidFill>
            <a:srgbClr val="E2C2B3"/>
          </a:solidFill>
          <a:ln/>
        </p:spPr>
      </p:sp>
      <p:sp>
        <p:nvSpPr>
          <p:cNvPr id="14" name="Text 12"/>
          <p:cNvSpPr/>
          <p:nvPr/>
        </p:nvSpPr>
        <p:spPr>
          <a:xfrm>
            <a:off x="9911001" y="3773567"/>
            <a:ext cx="2860119" cy="310158"/>
          </a:xfrm>
          <a:prstGeom prst="rect">
            <a:avLst/>
          </a:prstGeom>
          <a:noFill/>
          <a:ln/>
        </p:spPr>
        <p:txBody>
          <a:bodyPr wrap="none" lIns="0" tIns="0" rIns="0" bIns="0" rtlCol="0" anchor="t"/>
          <a:lstStyle/>
          <a:p>
            <a:pPr algn="l" indent="0" marL="0">
              <a:lnSpc>
                <a:spcPts val="2400"/>
              </a:lnSpc>
              <a:buNone/>
            </a:pPr>
            <a:r>
              <a:rPr lang="en-US" sz="1950" b="1" dirty="0">
                <a:solidFill>
                  <a:srgbClr val="D3C9C5"/>
                </a:solidFill>
                <a:latin typeface="Noto Serif HK Bold" pitchFamily="34" charset="0"/>
                <a:ea typeface="Noto Serif HK Bold" pitchFamily="34" charset="-122"/>
                <a:cs typeface="Noto Serif HK Bold" pitchFamily="34" charset="-120"/>
              </a:rPr>
              <a:t>Focus on Development</a:t>
            </a:r>
            <a:endParaRPr lang="en-US" sz="1950" dirty="0"/>
          </a:p>
        </p:txBody>
      </p:sp>
      <p:sp>
        <p:nvSpPr>
          <p:cNvPr id="15" name="Text 13"/>
          <p:cNvSpPr/>
          <p:nvPr/>
        </p:nvSpPr>
        <p:spPr>
          <a:xfrm>
            <a:off x="9911001" y="4202787"/>
            <a:ext cx="3704273" cy="127015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Emphasis is placed on nurturing employee skills and career paths, recognising their potential for growth.</a:t>
            </a:r>
            <a:endParaRPr lang="en-US" sz="1550" dirty="0"/>
          </a:p>
        </p:txBody>
      </p:sp>
      <p:sp>
        <p:nvSpPr>
          <p:cNvPr id="16" name="Text 14"/>
          <p:cNvSpPr/>
          <p:nvPr/>
        </p:nvSpPr>
        <p:spPr>
          <a:xfrm>
            <a:off x="793790" y="5917406"/>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This style typically results in enhanced job satisfaction, higher levels of motivation, and a more engaged workforce. It promotes a culture of creativity and innovation, as employees feel safe to experiment and contribute their ideas, leading to better organizational performance.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98019"/>
            <a:ext cx="6858119" cy="620078"/>
          </a:xfrm>
          <a:prstGeom prst="rect">
            <a:avLst/>
          </a:prstGeom>
          <a:noFill/>
          <a:ln/>
        </p:spPr>
        <p:txBody>
          <a:bodyPr wrap="none" lIns="0" tIns="0" rIns="0" bIns="0" rtlCol="0" anchor="t"/>
          <a:lstStyle/>
          <a:p>
            <a:pPr algn="l" indent="0" marL="0">
              <a:lnSpc>
                <a:spcPts val="4850"/>
              </a:lnSpc>
              <a:buNone/>
            </a:pPr>
            <a:r>
              <a:rPr lang="en-US" sz="3900" b="1" dirty="0">
                <a:solidFill>
                  <a:srgbClr val="FFF8F5"/>
                </a:solidFill>
                <a:latin typeface="Noto Serif HK Bold" pitchFamily="34" charset="0"/>
                <a:ea typeface="Noto Serif HK Bold" pitchFamily="34" charset="-122"/>
                <a:cs typeface="Noto Serif HK Bold" pitchFamily="34" charset="-120"/>
              </a:rPr>
              <a:t>Key Differences at a Glance</a:t>
            </a:r>
            <a:endParaRPr lang="en-US" sz="3900" dirty="0"/>
          </a:p>
        </p:txBody>
      </p:sp>
      <p:sp>
        <p:nvSpPr>
          <p:cNvPr id="3" name="Text 1"/>
          <p:cNvSpPr/>
          <p:nvPr/>
        </p:nvSpPr>
        <p:spPr>
          <a:xfrm>
            <a:off x="793790" y="2314932"/>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To truly grasp the contrasting philosophies of Theory X and Theory Y, it's helpful to see their core tenets side by side. This comparison highlights how fundamental assumptions about human nature dictate vastly different managerial approaches and organizational outcomes.</a:t>
            </a:r>
            <a:endParaRPr lang="en-US" sz="1550" dirty="0"/>
          </a:p>
        </p:txBody>
      </p:sp>
      <p:sp>
        <p:nvSpPr>
          <p:cNvPr id="4" name="Shape 2"/>
          <p:cNvSpPr/>
          <p:nvPr/>
        </p:nvSpPr>
        <p:spPr>
          <a:xfrm>
            <a:off x="793790" y="3490793"/>
            <a:ext cx="13042821" cy="3440668"/>
          </a:xfrm>
          <a:prstGeom prst="roundRect">
            <a:avLst>
              <a:gd name="adj" fmla="val 865"/>
            </a:avLst>
          </a:prstGeom>
          <a:noFill/>
          <a:ln w="7620">
            <a:solidFill>
              <a:srgbClr val="FFFFFF">
                <a:alpha val="24000"/>
              </a:srgbClr>
            </a:solidFill>
            <a:prstDash val="solid"/>
          </a:ln>
        </p:spPr>
      </p:sp>
      <p:sp>
        <p:nvSpPr>
          <p:cNvPr id="5" name="Shape 3"/>
          <p:cNvSpPr/>
          <p:nvPr/>
        </p:nvSpPr>
        <p:spPr>
          <a:xfrm>
            <a:off x="801410" y="3498413"/>
            <a:ext cx="13026271" cy="570905"/>
          </a:xfrm>
          <a:prstGeom prst="rect">
            <a:avLst/>
          </a:prstGeom>
          <a:solidFill>
            <a:srgbClr val="FFFFFF">
              <a:alpha val="4000"/>
            </a:srgbClr>
          </a:solidFill>
          <a:ln/>
        </p:spPr>
      </p:sp>
      <p:sp>
        <p:nvSpPr>
          <p:cNvPr id="6" name="Text 4"/>
          <p:cNvSpPr/>
          <p:nvPr/>
        </p:nvSpPr>
        <p:spPr>
          <a:xfrm>
            <a:off x="1001197" y="3625096"/>
            <a:ext cx="3941088" cy="317540"/>
          </a:xfrm>
          <a:prstGeom prst="rect">
            <a:avLst/>
          </a:prstGeom>
          <a:noFill/>
          <a:ln/>
        </p:spPr>
        <p:txBody>
          <a:bodyPr wrap="none" lIns="0" tIns="0" rIns="0" bIns="0" rtlCol="0" anchor="t"/>
          <a:lstStyle/>
          <a:p>
            <a:pPr algn="l" indent="0" marL="0">
              <a:lnSpc>
                <a:spcPts val="2500"/>
              </a:lnSpc>
              <a:buNone/>
            </a:pPr>
            <a:r>
              <a:rPr lang="en-US" sz="1550" b="1" dirty="0">
                <a:solidFill>
                  <a:srgbClr val="D3C9C5"/>
                </a:solidFill>
                <a:latin typeface="Noto Serif HK" pitchFamily="34" charset="0"/>
                <a:ea typeface="Noto Serif HK" pitchFamily="34" charset="-122"/>
                <a:cs typeface="Noto Serif HK" pitchFamily="34" charset="-120"/>
              </a:rPr>
              <a:t>Aspect</a:t>
            </a:r>
            <a:endParaRPr lang="en-US" sz="1550" dirty="0"/>
          </a:p>
        </p:txBody>
      </p:sp>
      <p:sp>
        <p:nvSpPr>
          <p:cNvPr id="7" name="Text 5"/>
          <p:cNvSpPr/>
          <p:nvPr/>
        </p:nvSpPr>
        <p:spPr>
          <a:xfrm>
            <a:off x="5346621" y="3625096"/>
            <a:ext cx="3937278" cy="317540"/>
          </a:xfrm>
          <a:prstGeom prst="rect">
            <a:avLst/>
          </a:prstGeom>
          <a:noFill/>
          <a:ln/>
        </p:spPr>
        <p:txBody>
          <a:bodyPr wrap="none" lIns="0" tIns="0" rIns="0" bIns="0" rtlCol="0" anchor="t"/>
          <a:lstStyle/>
          <a:p>
            <a:pPr algn="l" indent="0" marL="0">
              <a:lnSpc>
                <a:spcPts val="2500"/>
              </a:lnSpc>
              <a:buNone/>
            </a:pPr>
            <a:r>
              <a:rPr lang="en-US" sz="1550" b="1" dirty="0">
                <a:solidFill>
                  <a:srgbClr val="D3C9C5"/>
                </a:solidFill>
                <a:latin typeface="Noto Serif HK" pitchFamily="34" charset="0"/>
                <a:ea typeface="Noto Serif HK" pitchFamily="34" charset="-122"/>
                <a:cs typeface="Noto Serif HK" pitchFamily="34" charset="-120"/>
              </a:rPr>
              <a:t>Theory X</a:t>
            </a:r>
            <a:endParaRPr lang="en-US" sz="1550" dirty="0"/>
          </a:p>
        </p:txBody>
      </p:sp>
      <p:sp>
        <p:nvSpPr>
          <p:cNvPr id="8" name="Text 6"/>
          <p:cNvSpPr/>
          <p:nvPr/>
        </p:nvSpPr>
        <p:spPr>
          <a:xfrm>
            <a:off x="9688235" y="3625096"/>
            <a:ext cx="3941088" cy="317540"/>
          </a:xfrm>
          <a:prstGeom prst="rect">
            <a:avLst/>
          </a:prstGeom>
          <a:noFill/>
          <a:ln/>
        </p:spPr>
        <p:txBody>
          <a:bodyPr wrap="none" lIns="0" tIns="0" rIns="0" bIns="0" rtlCol="0" anchor="t"/>
          <a:lstStyle/>
          <a:p>
            <a:pPr algn="l" indent="0" marL="0">
              <a:lnSpc>
                <a:spcPts val="2500"/>
              </a:lnSpc>
              <a:buNone/>
            </a:pPr>
            <a:r>
              <a:rPr lang="en-US" sz="1550" b="1" dirty="0">
                <a:solidFill>
                  <a:srgbClr val="D3C9C5"/>
                </a:solidFill>
                <a:latin typeface="Noto Serif HK" pitchFamily="34" charset="0"/>
                <a:ea typeface="Noto Serif HK" pitchFamily="34" charset="-122"/>
                <a:cs typeface="Noto Serif HK" pitchFamily="34" charset="-120"/>
              </a:rPr>
              <a:t>Theory Y</a:t>
            </a:r>
            <a:endParaRPr lang="en-US" sz="1550" dirty="0"/>
          </a:p>
        </p:txBody>
      </p:sp>
      <p:sp>
        <p:nvSpPr>
          <p:cNvPr id="9" name="Shape 7"/>
          <p:cNvSpPr/>
          <p:nvPr/>
        </p:nvSpPr>
        <p:spPr>
          <a:xfrm>
            <a:off x="801410" y="4069318"/>
            <a:ext cx="13026271" cy="570905"/>
          </a:xfrm>
          <a:prstGeom prst="rect">
            <a:avLst/>
          </a:prstGeom>
          <a:solidFill>
            <a:srgbClr val="000000">
              <a:alpha val="4000"/>
            </a:srgbClr>
          </a:solidFill>
          <a:ln/>
        </p:spPr>
      </p:sp>
      <p:sp>
        <p:nvSpPr>
          <p:cNvPr id="10" name="Text 8"/>
          <p:cNvSpPr/>
          <p:nvPr/>
        </p:nvSpPr>
        <p:spPr>
          <a:xfrm>
            <a:off x="1001197" y="4196001"/>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View of Employees</a:t>
            </a:r>
            <a:endParaRPr lang="en-US" sz="1550" dirty="0"/>
          </a:p>
        </p:txBody>
      </p:sp>
      <p:sp>
        <p:nvSpPr>
          <p:cNvPr id="11" name="Text 9"/>
          <p:cNvSpPr/>
          <p:nvPr/>
        </p:nvSpPr>
        <p:spPr>
          <a:xfrm>
            <a:off x="5346621" y="4196001"/>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Dislike work; need control</a:t>
            </a:r>
            <a:endParaRPr lang="en-US" sz="1550" dirty="0"/>
          </a:p>
        </p:txBody>
      </p:sp>
      <p:sp>
        <p:nvSpPr>
          <p:cNvPr id="12" name="Text 10"/>
          <p:cNvSpPr/>
          <p:nvPr/>
        </p:nvSpPr>
        <p:spPr>
          <a:xfrm>
            <a:off x="9688235" y="4196001"/>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Work is natural; self-motivated</a:t>
            </a:r>
            <a:endParaRPr lang="en-US" sz="1550" dirty="0"/>
          </a:p>
        </p:txBody>
      </p:sp>
      <p:sp>
        <p:nvSpPr>
          <p:cNvPr id="13" name="Shape 11"/>
          <p:cNvSpPr/>
          <p:nvPr/>
        </p:nvSpPr>
        <p:spPr>
          <a:xfrm>
            <a:off x="801410" y="4640223"/>
            <a:ext cx="13026271" cy="570905"/>
          </a:xfrm>
          <a:prstGeom prst="rect">
            <a:avLst/>
          </a:prstGeom>
          <a:solidFill>
            <a:srgbClr val="FFFFFF">
              <a:alpha val="4000"/>
            </a:srgbClr>
          </a:solidFill>
          <a:ln/>
        </p:spPr>
      </p:sp>
      <p:sp>
        <p:nvSpPr>
          <p:cNvPr id="14" name="Text 12"/>
          <p:cNvSpPr/>
          <p:nvPr/>
        </p:nvSpPr>
        <p:spPr>
          <a:xfrm>
            <a:off x="1001197" y="4766905"/>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Motivation</a:t>
            </a:r>
            <a:endParaRPr lang="en-US" sz="1550" dirty="0"/>
          </a:p>
        </p:txBody>
      </p:sp>
      <p:sp>
        <p:nvSpPr>
          <p:cNvPr id="15" name="Text 13"/>
          <p:cNvSpPr/>
          <p:nvPr/>
        </p:nvSpPr>
        <p:spPr>
          <a:xfrm>
            <a:off x="5346621" y="4766905"/>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External (rewards &amp; punishments)</a:t>
            </a:r>
            <a:endParaRPr lang="en-US" sz="1550" dirty="0"/>
          </a:p>
        </p:txBody>
      </p:sp>
      <p:sp>
        <p:nvSpPr>
          <p:cNvPr id="16" name="Text 14"/>
          <p:cNvSpPr/>
          <p:nvPr/>
        </p:nvSpPr>
        <p:spPr>
          <a:xfrm>
            <a:off x="9688235" y="4766905"/>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Internal (achievement, growth)</a:t>
            </a:r>
            <a:endParaRPr lang="en-US" sz="1550" dirty="0"/>
          </a:p>
        </p:txBody>
      </p:sp>
      <p:sp>
        <p:nvSpPr>
          <p:cNvPr id="17" name="Shape 15"/>
          <p:cNvSpPr/>
          <p:nvPr/>
        </p:nvSpPr>
        <p:spPr>
          <a:xfrm>
            <a:off x="801410" y="5211128"/>
            <a:ext cx="13026271" cy="570905"/>
          </a:xfrm>
          <a:prstGeom prst="rect">
            <a:avLst/>
          </a:prstGeom>
          <a:solidFill>
            <a:srgbClr val="000000">
              <a:alpha val="4000"/>
            </a:srgbClr>
          </a:solidFill>
          <a:ln/>
        </p:spPr>
      </p:sp>
      <p:sp>
        <p:nvSpPr>
          <p:cNvPr id="18" name="Text 16"/>
          <p:cNvSpPr/>
          <p:nvPr/>
        </p:nvSpPr>
        <p:spPr>
          <a:xfrm>
            <a:off x="1001197" y="5337810"/>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Management Style</a:t>
            </a:r>
            <a:endParaRPr lang="en-US" sz="1550" dirty="0"/>
          </a:p>
        </p:txBody>
      </p:sp>
      <p:sp>
        <p:nvSpPr>
          <p:cNvPr id="19" name="Text 17"/>
          <p:cNvSpPr/>
          <p:nvPr/>
        </p:nvSpPr>
        <p:spPr>
          <a:xfrm>
            <a:off x="5346621" y="5337810"/>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Authoritarian, directive</a:t>
            </a:r>
            <a:endParaRPr lang="en-US" sz="1550" dirty="0"/>
          </a:p>
        </p:txBody>
      </p:sp>
      <p:sp>
        <p:nvSpPr>
          <p:cNvPr id="20" name="Text 18"/>
          <p:cNvSpPr/>
          <p:nvPr/>
        </p:nvSpPr>
        <p:spPr>
          <a:xfrm>
            <a:off x="9688235" y="5337810"/>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Participative, empowering</a:t>
            </a:r>
            <a:endParaRPr lang="en-US" sz="1550" dirty="0"/>
          </a:p>
        </p:txBody>
      </p:sp>
      <p:sp>
        <p:nvSpPr>
          <p:cNvPr id="21" name="Shape 19"/>
          <p:cNvSpPr/>
          <p:nvPr/>
        </p:nvSpPr>
        <p:spPr>
          <a:xfrm>
            <a:off x="801410" y="5782032"/>
            <a:ext cx="13026271" cy="570905"/>
          </a:xfrm>
          <a:prstGeom prst="rect">
            <a:avLst/>
          </a:prstGeom>
          <a:solidFill>
            <a:srgbClr val="FFFFFF">
              <a:alpha val="4000"/>
            </a:srgbClr>
          </a:solidFill>
          <a:ln/>
        </p:spPr>
      </p:sp>
      <p:sp>
        <p:nvSpPr>
          <p:cNvPr id="22" name="Text 20"/>
          <p:cNvSpPr/>
          <p:nvPr/>
        </p:nvSpPr>
        <p:spPr>
          <a:xfrm>
            <a:off x="1001197" y="5908715"/>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Responsibility</a:t>
            </a:r>
            <a:endParaRPr lang="en-US" sz="1550" dirty="0"/>
          </a:p>
        </p:txBody>
      </p:sp>
      <p:sp>
        <p:nvSpPr>
          <p:cNvPr id="23" name="Text 21"/>
          <p:cNvSpPr/>
          <p:nvPr/>
        </p:nvSpPr>
        <p:spPr>
          <a:xfrm>
            <a:off x="5346621" y="5908715"/>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Avoided, must be imposed</a:t>
            </a:r>
            <a:endParaRPr lang="en-US" sz="1550" dirty="0"/>
          </a:p>
        </p:txBody>
      </p:sp>
      <p:sp>
        <p:nvSpPr>
          <p:cNvPr id="24" name="Text 22"/>
          <p:cNvSpPr/>
          <p:nvPr/>
        </p:nvSpPr>
        <p:spPr>
          <a:xfrm>
            <a:off x="9688235" y="5908715"/>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Sought after and accepted</a:t>
            </a:r>
            <a:endParaRPr lang="en-US" sz="1550" dirty="0"/>
          </a:p>
        </p:txBody>
      </p:sp>
      <p:sp>
        <p:nvSpPr>
          <p:cNvPr id="25" name="Shape 23"/>
          <p:cNvSpPr/>
          <p:nvPr/>
        </p:nvSpPr>
        <p:spPr>
          <a:xfrm>
            <a:off x="801410" y="6352937"/>
            <a:ext cx="13026271" cy="570905"/>
          </a:xfrm>
          <a:prstGeom prst="rect">
            <a:avLst/>
          </a:prstGeom>
          <a:solidFill>
            <a:srgbClr val="000000">
              <a:alpha val="4000"/>
            </a:srgbClr>
          </a:solidFill>
          <a:ln/>
        </p:spPr>
      </p:sp>
      <p:sp>
        <p:nvSpPr>
          <p:cNvPr id="26" name="Text 24"/>
          <p:cNvSpPr/>
          <p:nvPr/>
        </p:nvSpPr>
        <p:spPr>
          <a:xfrm>
            <a:off x="1001197" y="6479619"/>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Impact on Workforce</a:t>
            </a:r>
            <a:endParaRPr lang="en-US" sz="1550" dirty="0"/>
          </a:p>
        </p:txBody>
      </p:sp>
      <p:sp>
        <p:nvSpPr>
          <p:cNvPr id="27" name="Text 25"/>
          <p:cNvSpPr/>
          <p:nvPr/>
        </p:nvSpPr>
        <p:spPr>
          <a:xfrm>
            <a:off x="5346621" y="6479619"/>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Low morale, limited innovation</a:t>
            </a:r>
            <a:endParaRPr lang="en-US" sz="1550" dirty="0"/>
          </a:p>
        </p:txBody>
      </p:sp>
      <p:sp>
        <p:nvSpPr>
          <p:cNvPr id="28" name="Text 26"/>
          <p:cNvSpPr/>
          <p:nvPr/>
        </p:nvSpPr>
        <p:spPr>
          <a:xfrm>
            <a:off x="9688235" y="6479619"/>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High morale, creativity encouraged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20247"/>
            <a:ext cx="11986617" cy="620078"/>
          </a:xfrm>
          <a:prstGeom prst="rect">
            <a:avLst/>
          </a:prstGeom>
          <a:noFill/>
          <a:ln/>
        </p:spPr>
        <p:txBody>
          <a:bodyPr wrap="none" lIns="0" tIns="0" rIns="0" bIns="0" rtlCol="0" anchor="t"/>
          <a:lstStyle/>
          <a:p>
            <a:pPr algn="l" indent="0" marL="0">
              <a:lnSpc>
                <a:spcPts val="4850"/>
              </a:lnSpc>
              <a:buNone/>
            </a:pPr>
            <a:r>
              <a:rPr lang="en-US" sz="3900" b="1" dirty="0">
                <a:solidFill>
                  <a:srgbClr val="FFF8F5"/>
                </a:solidFill>
                <a:latin typeface="Noto Serif HK Bold" pitchFamily="34" charset="0"/>
                <a:ea typeface="Noto Serif HK Bold" pitchFamily="34" charset="-122"/>
                <a:cs typeface="Noto Serif HK Bold" pitchFamily="34" charset="-120"/>
              </a:rPr>
              <a:t>Strategic Implications for Modern Management</a:t>
            </a:r>
            <a:endParaRPr lang="en-US" sz="3900" dirty="0"/>
          </a:p>
        </p:txBody>
      </p:sp>
      <p:sp>
        <p:nvSpPr>
          <p:cNvPr id="3" name="Text 1"/>
          <p:cNvSpPr/>
          <p:nvPr/>
        </p:nvSpPr>
        <p:spPr>
          <a:xfrm>
            <a:off x="793790" y="2037159"/>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Understanding Theory X and Theory Y isn't just about categorizing management styles; it's about making informed strategic choices that align with organizational goals and employee capabilities. The choice of which theory to apply, or how to blend elements of both, has profound effects on productivity, innovation, and employee well-being.</a:t>
            </a:r>
            <a:endParaRPr lang="en-US" sz="1550" dirty="0"/>
          </a:p>
        </p:txBody>
      </p:sp>
      <p:sp>
        <p:nvSpPr>
          <p:cNvPr id="4" name="Text 2"/>
          <p:cNvSpPr/>
          <p:nvPr/>
        </p:nvSpPr>
        <p:spPr>
          <a:xfrm>
            <a:off x="793790" y="3411379"/>
            <a:ext cx="3656409" cy="310158"/>
          </a:xfrm>
          <a:prstGeom prst="rect">
            <a:avLst/>
          </a:prstGeom>
          <a:noFill/>
          <a:ln/>
        </p:spPr>
        <p:txBody>
          <a:bodyPr wrap="none" lIns="0" tIns="0" rIns="0" bIns="0" rtlCol="0" anchor="t"/>
          <a:lstStyle/>
          <a:p>
            <a:pPr algn="l" indent="0" marL="0">
              <a:lnSpc>
                <a:spcPts val="2400"/>
              </a:lnSpc>
              <a:buNone/>
            </a:pPr>
            <a:r>
              <a:rPr lang="en-US" sz="1950" b="1" dirty="0">
                <a:solidFill>
                  <a:srgbClr val="E2C2B3"/>
                </a:solidFill>
                <a:latin typeface="Noto Serif HK Bold" pitchFamily="34" charset="0"/>
                <a:ea typeface="Noto Serif HK Bold" pitchFamily="34" charset="-122"/>
                <a:cs typeface="Noto Serif HK Bold" pitchFamily="34" charset="-120"/>
              </a:rPr>
              <a:t>When Theory X Might Apply:</a:t>
            </a:r>
            <a:endParaRPr lang="en-US" sz="1950" dirty="0"/>
          </a:p>
        </p:txBody>
      </p:sp>
      <p:sp>
        <p:nvSpPr>
          <p:cNvPr id="5" name="Text 3"/>
          <p:cNvSpPr/>
          <p:nvPr/>
        </p:nvSpPr>
        <p:spPr>
          <a:xfrm>
            <a:off x="793790" y="3919895"/>
            <a:ext cx="6279356" cy="95261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D3C9C5"/>
                </a:solidFill>
                <a:latin typeface="Noto Serif HK" pitchFamily="34" charset="0"/>
                <a:ea typeface="Noto Serif HK" pitchFamily="34" charset="-122"/>
                <a:cs typeface="Noto Serif HK" pitchFamily="34" charset="-120"/>
              </a:rPr>
              <a:t>Environments requiring strict compliance and routine, highly standardized tasks (e.g., manufacturing lines, highly regulated industries).</a:t>
            </a:r>
            <a:endParaRPr lang="en-US" sz="1550" dirty="0"/>
          </a:p>
        </p:txBody>
      </p:sp>
      <p:sp>
        <p:nvSpPr>
          <p:cNvPr id="6" name="Text 4"/>
          <p:cNvSpPr/>
          <p:nvPr/>
        </p:nvSpPr>
        <p:spPr>
          <a:xfrm>
            <a:off x="793790" y="4941927"/>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D3C9C5"/>
                </a:solidFill>
                <a:latin typeface="Noto Serif HK" pitchFamily="34" charset="0"/>
                <a:ea typeface="Noto Serif HK" pitchFamily="34" charset="-122"/>
                <a:cs typeface="Noto Serif HK" pitchFamily="34" charset="-120"/>
              </a:rPr>
              <a:t>Crisis management situations where quick, decisive action is paramount.</a:t>
            </a:r>
            <a:endParaRPr lang="en-US" sz="1550" dirty="0"/>
          </a:p>
        </p:txBody>
      </p:sp>
      <p:sp>
        <p:nvSpPr>
          <p:cNvPr id="7" name="Text 5"/>
          <p:cNvSpPr/>
          <p:nvPr/>
        </p:nvSpPr>
        <p:spPr>
          <a:xfrm>
            <a:off x="793790" y="5646420"/>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D3C9C5"/>
                </a:solidFill>
                <a:latin typeface="Noto Serif HK" pitchFamily="34" charset="0"/>
                <a:ea typeface="Noto Serif HK" pitchFamily="34" charset="-122"/>
                <a:cs typeface="Noto Serif HK" pitchFamily="34" charset="-120"/>
              </a:rPr>
              <a:t>For managing less experienced or unskilled workers who require detailed guidance.</a:t>
            </a:r>
            <a:endParaRPr lang="en-US" sz="1550" dirty="0"/>
          </a:p>
        </p:txBody>
      </p:sp>
      <p:sp>
        <p:nvSpPr>
          <p:cNvPr id="8" name="Text 6"/>
          <p:cNvSpPr/>
          <p:nvPr/>
        </p:nvSpPr>
        <p:spPr>
          <a:xfrm>
            <a:off x="7564874" y="3411379"/>
            <a:ext cx="2903220" cy="310158"/>
          </a:xfrm>
          <a:prstGeom prst="rect">
            <a:avLst/>
          </a:prstGeom>
          <a:noFill/>
          <a:ln/>
        </p:spPr>
        <p:txBody>
          <a:bodyPr wrap="none" lIns="0" tIns="0" rIns="0" bIns="0" rtlCol="0" anchor="t"/>
          <a:lstStyle/>
          <a:p>
            <a:pPr algn="l" indent="0" marL="0">
              <a:lnSpc>
                <a:spcPts val="2400"/>
              </a:lnSpc>
              <a:buNone/>
            </a:pPr>
            <a:r>
              <a:rPr lang="en-US" sz="1950" b="1" dirty="0">
                <a:solidFill>
                  <a:srgbClr val="E2C2B3"/>
                </a:solidFill>
                <a:latin typeface="Noto Serif HK Bold" pitchFamily="34" charset="0"/>
                <a:ea typeface="Noto Serif HK Bold" pitchFamily="34" charset="-122"/>
                <a:cs typeface="Noto Serif HK Bold" pitchFamily="34" charset="-120"/>
              </a:rPr>
              <a:t>When Theory Y Excels:</a:t>
            </a:r>
            <a:endParaRPr lang="en-US" sz="1950" dirty="0"/>
          </a:p>
        </p:txBody>
      </p:sp>
      <p:sp>
        <p:nvSpPr>
          <p:cNvPr id="9" name="Text 7"/>
          <p:cNvSpPr/>
          <p:nvPr/>
        </p:nvSpPr>
        <p:spPr>
          <a:xfrm>
            <a:off x="7564874" y="391989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D3C9C5"/>
                </a:solidFill>
                <a:latin typeface="Noto Serif HK" pitchFamily="34" charset="0"/>
                <a:ea typeface="Noto Serif HK" pitchFamily="34" charset="-122"/>
                <a:cs typeface="Noto Serif HK" pitchFamily="34" charset="-120"/>
              </a:rPr>
              <a:t>Dynamic, knowledge-based industries that thrive on innovation and creativity (e.g., tech, R&amp;D, creative agencies).</a:t>
            </a:r>
            <a:endParaRPr lang="en-US" sz="1550" dirty="0"/>
          </a:p>
        </p:txBody>
      </p:sp>
      <p:sp>
        <p:nvSpPr>
          <p:cNvPr id="10" name="Text 8"/>
          <p:cNvSpPr/>
          <p:nvPr/>
        </p:nvSpPr>
        <p:spPr>
          <a:xfrm>
            <a:off x="7564874" y="462438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D3C9C5"/>
                </a:solidFill>
                <a:latin typeface="Noto Serif HK" pitchFamily="34" charset="0"/>
                <a:ea typeface="Noto Serif HK" pitchFamily="34" charset="-122"/>
                <a:cs typeface="Noto Serif HK" pitchFamily="34" charset="-120"/>
              </a:rPr>
              <a:t>For highly skilled professionals who value autonomy and intrinsic motivation.</a:t>
            </a:r>
            <a:endParaRPr lang="en-US" sz="1550" dirty="0"/>
          </a:p>
        </p:txBody>
      </p:sp>
      <p:sp>
        <p:nvSpPr>
          <p:cNvPr id="11" name="Text 9"/>
          <p:cNvSpPr/>
          <p:nvPr/>
        </p:nvSpPr>
        <p:spPr>
          <a:xfrm>
            <a:off x="7564874" y="5328880"/>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D3C9C5"/>
                </a:solidFill>
                <a:latin typeface="Noto Serif HK" pitchFamily="34" charset="0"/>
                <a:ea typeface="Noto Serif HK" pitchFamily="34" charset="-122"/>
                <a:cs typeface="Noto Serif HK" pitchFamily="34" charset="-120"/>
              </a:rPr>
              <a:t>Fostering a strong organizational culture of trust, collaboration, and continuous improvement.</a:t>
            </a:r>
            <a:endParaRPr lang="en-US" sz="1550" dirty="0"/>
          </a:p>
        </p:txBody>
      </p:sp>
      <p:sp>
        <p:nvSpPr>
          <p:cNvPr id="12" name="Text 10"/>
          <p:cNvSpPr/>
          <p:nvPr/>
        </p:nvSpPr>
        <p:spPr>
          <a:xfrm>
            <a:off x="793790" y="657415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Modern management often involves a nuanced approach, recognising that no single theory fits all situations. Effective leaders adapt their style based on the specific task, the maturity of the team, and the overall organizational context.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5333" y="519351"/>
            <a:ext cx="8712756" cy="590074"/>
          </a:xfrm>
          <a:prstGeom prst="rect">
            <a:avLst/>
          </a:prstGeom>
          <a:noFill/>
          <a:ln/>
        </p:spPr>
        <p:txBody>
          <a:bodyPr wrap="none" lIns="0" tIns="0" rIns="0" bIns="0" rtlCol="0" anchor="t"/>
          <a:lstStyle/>
          <a:p>
            <a:pPr algn="l" indent="0" marL="0">
              <a:lnSpc>
                <a:spcPts val="4600"/>
              </a:lnSpc>
              <a:buNone/>
            </a:pPr>
            <a:r>
              <a:rPr lang="en-US" sz="3700" b="1" dirty="0">
                <a:solidFill>
                  <a:srgbClr val="FFF8F5"/>
                </a:solidFill>
                <a:latin typeface="Noto Serif HK Bold" pitchFamily="34" charset="0"/>
                <a:ea typeface="Noto Serif HK Bold" pitchFamily="34" charset="-122"/>
                <a:cs typeface="Noto Serif HK Bold" pitchFamily="34" charset="-120"/>
              </a:rPr>
              <a:t>Adapting Your Leadership Approach</a:t>
            </a:r>
            <a:endParaRPr lang="en-US" sz="3700" dirty="0"/>
          </a:p>
        </p:txBody>
      </p:sp>
      <p:sp>
        <p:nvSpPr>
          <p:cNvPr id="3" name="Text 1"/>
          <p:cNvSpPr/>
          <p:nvPr/>
        </p:nvSpPr>
        <p:spPr>
          <a:xfrm>
            <a:off x="755333" y="1487091"/>
            <a:ext cx="13119735" cy="906185"/>
          </a:xfrm>
          <a:prstGeom prst="rect">
            <a:avLst/>
          </a:prstGeom>
          <a:noFill/>
          <a:ln/>
        </p:spPr>
        <p:txBody>
          <a:bodyPr wrap="square" lIns="0" tIns="0" rIns="0" bIns="0" rtlCol="0" anchor="t"/>
          <a:lstStyle/>
          <a:p>
            <a:pPr algn="l" indent="0" marL="0">
              <a:lnSpc>
                <a:spcPts val="2350"/>
              </a:lnSpc>
              <a:buNone/>
            </a:pPr>
            <a:r>
              <a:rPr lang="en-US" sz="1450" dirty="0">
                <a:solidFill>
                  <a:srgbClr val="D3C9C5"/>
                </a:solidFill>
                <a:latin typeface="Noto Serif HK" pitchFamily="34" charset="0"/>
                <a:ea typeface="Noto Serif HK" pitchFamily="34" charset="-122"/>
                <a:cs typeface="Noto Serif HK" pitchFamily="34" charset="-120"/>
              </a:rPr>
              <a:t>The true value of Theory X and Theory Y lies in their ability to provide a lens through which managers can critically assess their own assumptions and leadership behaviours. Recognizing the spectrum of employee motivations allows for a more flexible and effective approach to people management.</a:t>
            </a:r>
            <a:endParaRPr lang="en-US" sz="1450" dirty="0"/>
          </a:p>
        </p:txBody>
      </p:sp>
      <p:pic>
        <p:nvPicPr>
          <p:cNvPr id="4" name="Image 0" descr="preencoded.png">    </p:cNvPr>
          <p:cNvPicPr>
            <a:picLocks noChangeAspect="1"/>
          </p:cNvPicPr>
          <p:nvPr/>
        </p:nvPicPr>
        <p:blipFill>
          <a:blip r:embed="rId1"/>
          <a:stretch>
            <a:fillRect/>
          </a:stretch>
        </p:blipFill>
        <p:spPr>
          <a:xfrm>
            <a:off x="755333" y="2605683"/>
            <a:ext cx="6559868" cy="755333"/>
          </a:xfrm>
          <a:prstGeom prst="rect">
            <a:avLst/>
          </a:prstGeom>
        </p:spPr>
      </p:pic>
      <p:sp>
        <p:nvSpPr>
          <p:cNvPr id="5" name="Text 2"/>
          <p:cNvSpPr/>
          <p:nvPr/>
        </p:nvSpPr>
        <p:spPr>
          <a:xfrm>
            <a:off x="944166" y="3549848"/>
            <a:ext cx="2360652" cy="295037"/>
          </a:xfrm>
          <a:prstGeom prst="rect">
            <a:avLst/>
          </a:prstGeom>
          <a:noFill/>
          <a:ln/>
        </p:spPr>
        <p:txBody>
          <a:bodyPr wrap="none" lIns="0" tIns="0" rIns="0" bIns="0" rtlCol="0" anchor="t"/>
          <a:lstStyle/>
          <a:p>
            <a:pPr algn="l" indent="0" marL="0">
              <a:lnSpc>
                <a:spcPts val="2300"/>
              </a:lnSpc>
              <a:buNone/>
            </a:pPr>
            <a:r>
              <a:rPr lang="en-US" sz="1850" b="1" dirty="0">
                <a:solidFill>
                  <a:srgbClr val="D3C9C5"/>
                </a:solidFill>
                <a:latin typeface="Noto Serif HK Bold" pitchFamily="34" charset="0"/>
                <a:ea typeface="Noto Serif HK Bold" pitchFamily="34" charset="-122"/>
                <a:cs typeface="Noto Serif HK Bold" pitchFamily="34" charset="-120"/>
              </a:rPr>
              <a:t>Self-Reflection</a:t>
            </a:r>
            <a:endParaRPr lang="en-US" sz="1850" dirty="0"/>
          </a:p>
        </p:txBody>
      </p:sp>
      <p:sp>
        <p:nvSpPr>
          <p:cNvPr id="6" name="Text 3"/>
          <p:cNvSpPr/>
          <p:nvPr/>
        </p:nvSpPr>
        <p:spPr>
          <a:xfrm>
            <a:off x="944166" y="3958114"/>
            <a:ext cx="6182201" cy="604123"/>
          </a:xfrm>
          <a:prstGeom prst="rect">
            <a:avLst/>
          </a:prstGeom>
          <a:noFill/>
          <a:ln/>
        </p:spPr>
        <p:txBody>
          <a:bodyPr wrap="square" lIns="0" tIns="0" rIns="0" bIns="0" rtlCol="0" anchor="t"/>
          <a:lstStyle/>
          <a:p>
            <a:pPr algn="l" indent="0" marL="0">
              <a:lnSpc>
                <a:spcPts val="2350"/>
              </a:lnSpc>
              <a:buNone/>
            </a:pPr>
            <a:r>
              <a:rPr lang="en-US" sz="1450" dirty="0">
                <a:solidFill>
                  <a:srgbClr val="D3C9C5"/>
                </a:solidFill>
                <a:latin typeface="Noto Serif HK" pitchFamily="34" charset="0"/>
                <a:ea typeface="Noto Serif HK" pitchFamily="34" charset="-122"/>
                <a:cs typeface="Noto Serif HK" pitchFamily="34" charset="-120"/>
              </a:rPr>
              <a:t>Understand your inherent assumptions about employees. Do you lean towards X or Y?</a:t>
            </a:r>
            <a:endParaRPr lang="en-US" sz="1450" dirty="0"/>
          </a:p>
        </p:txBody>
      </p:sp>
      <p:pic>
        <p:nvPicPr>
          <p:cNvPr id="7" name="Image 1" descr="preencoded.png">    </p:cNvPr>
          <p:cNvPicPr>
            <a:picLocks noChangeAspect="1"/>
          </p:cNvPicPr>
          <p:nvPr/>
        </p:nvPicPr>
        <p:blipFill>
          <a:blip r:embed="rId2"/>
          <a:stretch>
            <a:fillRect/>
          </a:stretch>
        </p:blipFill>
        <p:spPr>
          <a:xfrm>
            <a:off x="7315200" y="2605683"/>
            <a:ext cx="6559868" cy="755333"/>
          </a:xfrm>
          <a:prstGeom prst="rect">
            <a:avLst/>
          </a:prstGeom>
        </p:spPr>
      </p:pic>
      <p:sp>
        <p:nvSpPr>
          <p:cNvPr id="8" name="Text 4"/>
          <p:cNvSpPr/>
          <p:nvPr/>
        </p:nvSpPr>
        <p:spPr>
          <a:xfrm>
            <a:off x="7504033" y="3549848"/>
            <a:ext cx="2654141" cy="295037"/>
          </a:xfrm>
          <a:prstGeom prst="rect">
            <a:avLst/>
          </a:prstGeom>
          <a:noFill/>
          <a:ln/>
        </p:spPr>
        <p:txBody>
          <a:bodyPr wrap="none" lIns="0" tIns="0" rIns="0" bIns="0" rtlCol="0" anchor="t"/>
          <a:lstStyle/>
          <a:p>
            <a:pPr algn="l" indent="0" marL="0">
              <a:lnSpc>
                <a:spcPts val="2300"/>
              </a:lnSpc>
              <a:buNone/>
            </a:pPr>
            <a:r>
              <a:rPr lang="en-US" sz="1850" b="1" dirty="0">
                <a:solidFill>
                  <a:srgbClr val="D3C9C5"/>
                </a:solidFill>
                <a:latin typeface="Noto Serif HK Bold" pitchFamily="34" charset="0"/>
                <a:ea typeface="Noto Serif HK Bold" pitchFamily="34" charset="-122"/>
                <a:cs typeface="Noto Serif HK Bold" pitchFamily="34" charset="-120"/>
              </a:rPr>
              <a:t>Contextual Awareness</a:t>
            </a:r>
            <a:endParaRPr lang="en-US" sz="1850" dirty="0"/>
          </a:p>
        </p:txBody>
      </p:sp>
      <p:sp>
        <p:nvSpPr>
          <p:cNvPr id="9" name="Text 5"/>
          <p:cNvSpPr/>
          <p:nvPr/>
        </p:nvSpPr>
        <p:spPr>
          <a:xfrm>
            <a:off x="7504033" y="3958114"/>
            <a:ext cx="6182201" cy="604123"/>
          </a:xfrm>
          <a:prstGeom prst="rect">
            <a:avLst/>
          </a:prstGeom>
          <a:noFill/>
          <a:ln/>
        </p:spPr>
        <p:txBody>
          <a:bodyPr wrap="square" lIns="0" tIns="0" rIns="0" bIns="0" rtlCol="0" anchor="t"/>
          <a:lstStyle/>
          <a:p>
            <a:pPr algn="l" indent="0" marL="0">
              <a:lnSpc>
                <a:spcPts val="2350"/>
              </a:lnSpc>
              <a:buNone/>
            </a:pPr>
            <a:r>
              <a:rPr lang="en-US" sz="1450" dirty="0">
                <a:solidFill>
                  <a:srgbClr val="D3C9C5"/>
                </a:solidFill>
                <a:latin typeface="Noto Serif HK" pitchFamily="34" charset="0"/>
                <a:ea typeface="Noto Serif HK" pitchFamily="34" charset="-122"/>
                <a:cs typeface="Noto Serif HK" pitchFamily="34" charset="-120"/>
              </a:rPr>
              <a:t>Assess the specific situation, task, and team maturity. Is strict control or empowerment more appropriate?</a:t>
            </a:r>
            <a:endParaRPr lang="en-US" sz="1450" dirty="0"/>
          </a:p>
        </p:txBody>
      </p:sp>
      <p:pic>
        <p:nvPicPr>
          <p:cNvPr id="10" name="Image 2" descr="preencoded.png">    </p:cNvPr>
          <p:cNvPicPr>
            <a:picLocks noChangeAspect="1"/>
          </p:cNvPicPr>
          <p:nvPr/>
        </p:nvPicPr>
        <p:blipFill>
          <a:blip r:embed="rId3"/>
          <a:stretch>
            <a:fillRect/>
          </a:stretch>
        </p:blipFill>
        <p:spPr>
          <a:xfrm>
            <a:off x="755333" y="4751070"/>
            <a:ext cx="6559868" cy="755333"/>
          </a:xfrm>
          <a:prstGeom prst="rect">
            <a:avLst/>
          </a:prstGeom>
        </p:spPr>
      </p:pic>
      <p:sp>
        <p:nvSpPr>
          <p:cNvPr id="11" name="Text 6"/>
          <p:cNvSpPr/>
          <p:nvPr/>
        </p:nvSpPr>
        <p:spPr>
          <a:xfrm>
            <a:off x="944166" y="5695236"/>
            <a:ext cx="2360652" cy="295037"/>
          </a:xfrm>
          <a:prstGeom prst="rect">
            <a:avLst/>
          </a:prstGeom>
          <a:noFill/>
          <a:ln/>
        </p:spPr>
        <p:txBody>
          <a:bodyPr wrap="none" lIns="0" tIns="0" rIns="0" bIns="0" rtlCol="0" anchor="t"/>
          <a:lstStyle/>
          <a:p>
            <a:pPr algn="l" indent="0" marL="0">
              <a:lnSpc>
                <a:spcPts val="2300"/>
              </a:lnSpc>
              <a:buNone/>
            </a:pPr>
            <a:r>
              <a:rPr lang="en-US" sz="1850" b="1" dirty="0">
                <a:solidFill>
                  <a:srgbClr val="D3C9C5"/>
                </a:solidFill>
                <a:latin typeface="Noto Serif HK Bold" pitchFamily="34" charset="0"/>
                <a:ea typeface="Noto Serif HK Bold" pitchFamily="34" charset="-122"/>
                <a:cs typeface="Noto Serif HK Bold" pitchFamily="34" charset="-120"/>
              </a:rPr>
              <a:t>Cultivating Growth</a:t>
            </a:r>
            <a:endParaRPr lang="en-US" sz="1850" dirty="0"/>
          </a:p>
        </p:txBody>
      </p:sp>
      <p:sp>
        <p:nvSpPr>
          <p:cNvPr id="12" name="Text 7"/>
          <p:cNvSpPr/>
          <p:nvPr/>
        </p:nvSpPr>
        <p:spPr>
          <a:xfrm>
            <a:off x="944166" y="6103501"/>
            <a:ext cx="6182201" cy="604123"/>
          </a:xfrm>
          <a:prstGeom prst="rect">
            <a:avLst/>
          </a:prstGeom>
          <a:noFill/>
          <a:ln/>
        </p:spPr>
        <p:txBody>
          <a:bodyPr wrap="square" lIns="0" tIns="0" rIns="0" bIns="0" rtlCol="0" anchor="t"/>
          <a:lstStyle/>
          <a:p>
            <a:pPr algn="l" indent="0" marL="0">
              <a:lnSpc>
                <a:spcPts val="2350"/>
              </a:lnSpc>
              <a:buNone/>
            </a:pPr>
            <a:r>
              <a:rPr lang="en-US" sz="1450" dirty="0">
                <a:solidFill>
                  <a:srgbClr val="D3C9C5"/>
                </a:solidFill>
                <a:latin typeface="Noto Serif HK" pitchFamily="34" charset="0"/>
                <a:ea typeface="Noto Serif HK" pitchFamily="34" charset="-122"/>
                <a:cs typeface="Noto Serif HK" pitchFamily="34" charset="-120"/>
              </a:rPr>
              <a:t>Aim to move towards Theory Y practices where possible to unlock employee potential.</a:t>
            </a:r>
            <a:endParaRPr lang="en-US" sz="1450" dirty="0"/>
          </a:p>
        </p:txBody>
      </p:sp>
      <p:pic>
        <p:nvPicPr>
          <p:cNvPr id="13" name="Image 3" descr="preencoded.png">    </p:cNvPr>
          <p:cNvPicPr>
            <a:picLocks noChangeAspect="1"/>
          </p:cNvPicPr>
          <p:nvPr/>
        </p:nvPicPr>
        <p:blipFill>
          <a:blip r:embed="rId4"/>
          <a:stretch>
            <a:fillRect/>
          </a:stretch>
        </p:blipFill>
        <p:spPr>
          <a:xfrm>
            <a:off x="7315200" y="4751070"/>
            <a:ext cx="6559868" cy="755333"/>
          </a:xfrm>
          <a:prstGeom prst="rect">
            <a:avLst/>
          </a:prstGeom>
        </p:spPr>
      </p:pic>
      <p:sp>
        <p:nvSpPr>
          <p:cNvPr id="14" name="Text 8"/>
          <p:cNvSpPr/>
          <p:nvPr/>
        </p:nvSpPr>
        <p:spPr>
          <a:xfrm>
            <a:off x="7504033" y="5695236"/>
            <a:ext cx="2970847" cy="295037"/>
          </a:xfrm>
          <a:prstGeom prst="rect">
            <a:avLst/>
          </a:prstGeom>
          <a:noFill/>
          <a:ln/>
        </p:spPr>
        <p:txBody>
          <a:bodyPr wrap="none" lIns="0" tIns="0" rIns="0" bIns="0" rtlCol="0" anchor="t"/>
          <a:lstStyle/>
          <a:p>
            <a:pPr algn="l" indent="0" marL="0">
              <a:lnSpc>
                <a:spcPts val="2300"/>
              </a:lnSpc>
              <a:buNone/>
            </a:pPr>
            <a:r>
              <a:rPr lang="en-US" sz="1850" b="1" dirty="0">
                <a:solidFill>
                  <a:srgbClr val="D3C9C5"/>
                </a:solidFill>
                <a:latin typeface="Noto Serif HK Bold" pitchFamily="34" charset="0"/>
                <a:ea typeface="Noto Serif HK Bold" pitchFamily="34" charset="-122"/>
                <a:cs typeface="Noto Serif HK Bold" pitchFamily="34" charset="-120"/>
              </a:rPr>
              <a:t>Optimizing Performance</a:t>
            </a:r>
            <a:endParaRPr lang="en-US" sz="1850" dirty="0"/>
          </a:p>
        </p:txBody>
      </p:sp>
      <p:sp>
        <p:nvSpPr>
          <p:cNvPr id="15" name="Text 9"/>
          <p:cNvSpPr/>
          <p:nvPr/>
        </p:nvSpPr>
        <p:spPr>
          <a:xfrm>
            <a:off x="7504033" y="6103501"/>
            <a:ext cx="6182201" cy="604123"/>
          </a:xfrm>
          <a:prstGeom prst="rect">
            <a:avLst/>
          </a:prstGeom>
          <a:noFill/>
          <a:ln/>
        </p:spPr>
        <p:txBody>
          <a:bodyPr wrap="square" lIns="0" tIns="0" rIns="0" bIns="0" rtlCol="0" anchor="t"/>
          <a:lstStyle/>
          <a:p>
            <a:pPr algn="l" indent="0" marL="0">
              <a:lnSpc>
                <a:spcPts val="2350"/>
              </a:lnSpc>
              <a:buNone/>
            </a:pPr>
            <a:r>
              <a:rPr lang="en-US" sz="1450" dirty="0">
                <a:solidFill>
                  <a:srgbClr val="D3C9C5"/>
                </a:solidFill>
                <a:latin typeface="Noto Serif HK" pitchFamily="34" charset="0"/>
                <a:ea typeface="Noto Serif HK" pitchFamily="34" charset="-122"/>
                <a:cs typeface="Noto Serif HK" pitchFamily="34" charset="-120"/>
              </a:rPr>
              <a:t>A dynamic leadership style leads to higher engagement and better outcomes.</a:t>
            </a:r>
            <a:endParaRPr lang="en-US" sz="1450" dirty="0"/>
          </a:p>
        </p:txBody>
      </p:sp>
      <p:sp>
        <p:nvSpPr>
          <p:cNvPr id="16" name="Text 10"/>
          <p:cNvSpPr/>
          <p:nvPr/>
        </p:nvSpPr>
        <p:spPr>
          <a:xfrm>
            <a:off x="755333" y="7108865"/>
            <a:ext cx="13119735" cy="604123"/>
          </a:xfrm>
          <a:prstGeom prst="rect">
            <a:avLst/>
          </a:prstGeom>
          <a:noFill/>
          <a:ln/>
        </p:spPr>
        <p:txBody>
          <a:bodyPr wrap="square" lIns="0" tIns="0" rIns="0" bIns="0" rtlCol="0" anchor="t"/>
          <a:lstStyle/>
          <a:p>
            <a:pPr algn="l" indent="0" marL="0">
              <a:lnSpc>
                <a:spcPts val="2350"/>
              </a:lnSpc>
              <a:buNone/>
            </a:pPr>
            <a:r>
              <a:rPr lang="en-US" sz="1450" dirty="0">
                <a:solidFill>
                  <a:srgbClr val="D3C9C5"/>
                </a:solidFill>
                <a:latin typeface="Noto Serif HK" pitchFamily="34" charset="0"/>
                <a:ea typeface="Noto Serif HK" pitchFamily="34" charset="-122"/>
                <a:cs typeface="Noto Serif HK" pitchFamily="34" charset="-120"/>
              </a:rPr>
              <a:t>By consciously choosing a management style that aligns with both employee potential and organizational objectives, managers can create a more productive, innovative, and satisfying work environment for everyone involved.</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64563"/>
            <a:ext cx="7169706" cy="620078"/>
          </a:xfrm>
          <a:prstGeom prst="rect">
            <a:avLst/>
          </a:prstGeom>
          <a:noFill/>
          <a:ln/>
        </p:spPr>
        <p:txBody>
          <a:bodyPr wrap="none" lIns="0" tIns="0" rIns="0" bIns="0" rtlCol="0" anchor="t"/>
          <a:lstStyle/>
          <a:p>
            <a:pPr algn="l" indent="0" marL="0">
              <a:lnSpc>
                <a:spcPts val="4850"/>
              </a:lnSpc>
              <a:buNone/>
            </a:pPr>
            <a:r>
              <a:rPr lang="en-US" sz="3900" b="1" dirty="0">
                <a:solidFill>
                  <a:srgbClr val="FFF8F5"/>
                </a:solidFill>
                <a:latin typeface="Noto Serif HK Bold" pitchFamily="34" charset="0"/>
                <a:ea typeface="Noto Serif HK Bold" pitchFamily="34" charset="-122"/>
                <a:cs typeface="Noto Serif HK Bold" pitchFamily="34" charset="-120"/>
              </a:rPr>
              <a:t>Key Takeaways &amp; Discussion</a:t>
            </a:r>
            <a:endParaRPr lang="en-US" sz="3900" dirty="0"/>
          </a:p>
        </p:txBody>
      </p:sp>
      <p:sp>
        <p:nvSpPr>
          <p:cNvPr id="4" name="Text 1"/>
          <p:cNvSpPr/>
          <p:nvPr/>
        </p:nvSpPr>
        <p:spPr>
          <a:xfrm>
            <a:off x="6280190" y="2182297"/>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Today, we've explored the fundamental distinctions between McGregor's Theory X and Theory Y. We've seen how a manager's underlying beliefs about their workforce can shape everything from daily interactions to long-term organizational success.</a:t>
            </a:r>
            <a:endParaRPr lang="en-US" sz="1550" dirty="0"/>
          </a:p>
        </p:txBody>
      </p:sp>
      <p:sp>
        <p:nvSpPr>
          <p:cNvPr id="5" name="Text 2"/>
          <p:cNvSpPr/>
          <p:nvPr/>
        </p:nvSpPr>
        <p:spPr>
          <a:xfrm>
            <a:off x="6280190" y="3675698"/>
            <a:ext cx="75564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Theory X:</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Assumes employees dislike work and need strict control.</a:t>
            </a:r>
            <a:endParaRPr lang="en-US" sz="1550" dirty="0"/>
          </a:p>
        </p:txBody>
      </p:sp>
      <p:sp>
        <p:nvSpPr>
          <p:cNvPr id="6" name="Text 3"/>
          <p:cNvSpPr/>
          <p:nvPr/>
        </p:nvSpPr>
        <p:spPr>
          <a:xfrm>
            <a:off x="6280190" y="4062651"/>
            <a:ext cx="75564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Theory Y:</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Believes employees are self-motivated and seek responsibility.</a:t>
            </a:r>
            <a:endParaRPr lang="en-US" sz="1550" dirty="0"/>
          </a:p>
        </p:txBody>
      </p:sp>
      <p:sp>
        <p:nvSpPr>
          <p:cNvPr id="7" name="Text 4"/>
          <p:cNvSpPr/>
          <p:nvPr/>
        </p:nvSpPr>
        <p:spPr>
          <a:xfrm>
            <a:off x="6280190" y="4449604"/>
            <a:ext cx="7556421"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Impact:</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These theories dictate management styles, affecting morale, creativity, and overall productivity.</a:t>
            </a:r>
            <a:endParaRPr lang="en-US" sz="1550" dirty="0"/>
          </a:p>
        </p:txBody>
      </p:sp>
      <p:sp>
        <p:nvSpPr>
          <p:cNvPr id="8" name="Text 5"/>
          <p:cNvSpPr/>
          <p:nvPr/>
        </p:nvSpPr>
        <p:spPr>
          <a:xfrm>
            <a:off x="6280190" y="5154097"/>
            <a:ext cx="7556421"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Adaptability:</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Effective leaders understand both theories and adapt their approach to suit the situation and the individuals.</a:t>
            </a:r>
            <a:endParaRPr lang="en-US" sz="1550" dirty="0"/>
          </a:p>
        </p:txBody>
      </p:sp>
      <p:sp>
        <p:nvSpPr>
          <p:cNvPr id="9" name="Text 6"/>
          <p:cNvSpPr/>
          <p:nvPr/>
        </p:nvSpPr>
        <p:spPr>
          <a:xfrm>
            <a:off x="6280190" y="6012418"/>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As future managers, your ability to understand and apply these concepts will be invaluable. What are your initial thoughts? How might these theories influence your own leadership philosophy?</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2025-08-21T15:28:30Z</dcterms:created>
  <dcterms:modified xsi:type="dcterms:W3CDTF">2025-08-21T15:28:30Z</dcterms:modified>
</cp:coreProperties>
</file>