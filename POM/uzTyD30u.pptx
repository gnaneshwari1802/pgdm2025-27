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Production and Operations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Exam-Ready Notes for 20 Marks | Comprehensive Study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297680"/>
            <a:ext cx="5486400" cy="0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Introduction to Operations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297680"/>
            <a:ext cx="5486400" cy="0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1: Key Concepts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Operations Management: Planning, organizing, and supervising processes to convert inputs into outputs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Supply Chain: Network of organizations involved in delivering products/services to customers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Production vs Service Operations: Tangible vs Intangible outputs, high vs low customer contact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1: Key Concepts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Three Major Functional Areas: Operations, Marketing, Finance - all interrelated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Process Management: Design and control of business processes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Operations Manager's Job: Planning capacity, managing quality, scheduling, inventory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1: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Define operations management and supply chain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Identify similarities/differences between production and service operations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Explain importance of operations management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Identify three major functional areas and their interrelation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Summarize two major aspects of process management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Describe operations function and operations manager's 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Competitiveness, Strategy, and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297680"/>
            <a:ext cx="5486400" cy="0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2: Key Concepts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Competitiveness: How effectively an organization meets customer needs relative to competitors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Organizations compete through marketing and operations functions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Marketing's Influence: Identifying consumer needs, pricing &amp; quality, advertising &amp; promotion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Strategy: Plan for achieving organizational goals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2: Key Concepts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Mission: Reason for organization's existence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Core Competencies: Unique strengths that give competitive advantage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Order Qualifiers vs Order Winners: Minimum requirements vs factors that win orders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Productivity = Output / Input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Productivity improvement methods: Reducing inputs while maintaining output or increasing output with same inputs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2: Important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Productivity = Output / Input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Multi-factor Productivity = Output / (Labor + Material + Overhead)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Productivity Growth = (Current Productivity - Previous Productivity) / Previous Productivity × 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Session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Strategic Capacity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297680"/>
            <a:ext cx="5486400" cy="0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3: Key Concepts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Capacity: Upper limit on the load that an operating unit can handle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Capacity needs: Equipment, Space, Employee skills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Goal: Match long-term supply capabilities with predicted long-term demand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Overcapacity → High operating costs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Under capacity → Strained resources and possible loss of customers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3: Key Concepts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Design Capacity: Maximum output under ideal conditions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Effective Capacity: Maximum output under normal conditions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Actual Output: Actual production achieved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Efficiency = Actual Output / Effective Capacity × 100%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Utilization = Actual Output / Design Capacity × 100%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Capacity cushion = Capacity - Average demand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3: Capacity Planning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What kind of capacity is needed?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How much is needed to match demand?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When is it needed?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How much will it cost?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3: Important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Efficiency = (Actual Output / Effective Capacity) × 100%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Utilization = (Actual Output / Design Capacity) × 100%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Session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Process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297680"/>
            <a:ext cx="5486400" cy="0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4: Key Concepts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Process Selection: Deciding on the way production will be organized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Implications: Capacity planning, facility layout, equipment, work system design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Capital Intensity: Mix of equipment and labor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Process Flexibility: Degree to which system can be adjusted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Process Types (Manufacturing): Job shop, Batch, Repetitive/Assembly, Continuous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4: Key Concepts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Process Types (Services): Professional service, Service shop, Mass service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Product-Process Matrix: Matches product volume/variety with process type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Automation: Use of machines/robots to perform tasks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Break-even Analysis: Finding the volume where two alternatives have equal cost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Break-even Point = Fixed Cost / (Revenue per unit - Variable cost per unit)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4: Important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Total Cost = Fixed Cost + (Variable Cost per unit × Volume)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Break-even Point = Fixed Cost / (Price - Variable Cost per unit)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Session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Location Planning and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297680"/>
            <a:ext cx="5486400" cy="0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5: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Reasons for location decisions: Addition of new facilities, market expansion, growth in demand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Location importance: Affects costs, revenues, competitive advantage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Location options: Expand existing facility, add new facility, relocate, do nothing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Major factors: Regional factors (labor, resources, market), Community factors (quality of life, services), Site factors (size, cost, access)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Decision process: Identify important factors, develop alternatives, evaluate alternatives, make selection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Factor Rating Method: Weighted scoring model for location alternatives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Center of Gravity Method: For distribution centers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Break-even Analysis: For comparing location costs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5: Analysis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Factor Rating Method: Score × Weight for each factor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Center of Gravity: Cx = Σ(dix × Vi) / ΣVi, Cy = Σ(diy × Vi) / ΣVi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Locational Break-even Analysis: Compare total costs at different volumes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Session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Product and Service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297680"/>
            <a:ext cx="5486400" cy="0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6: Key Concepts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Strategic importance: Affects quality, cost, customer satisfaction, competitive advantage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What design does: Translates customer needs into product/service specifications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Key questions: Who? What? Where? When? Why? How?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Reasons for design/redesign: Market changes, technology changes, competitive pressure, cost reduction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Sources of design ideas: Customers, competitors, suppliers, research, reverse engineering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Legal considerations: Patents, trademarks, copyrights, product liability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6: Key Concepts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Ethical considerations: Safety, environment, social responsibility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Sustainability: Environmental impact throughout product lifecycle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Life Cycle Assessment (LCA): Evaluating environmental impact from cradle to grave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Concurrent Engineering: Cross-functional teams working simultaneously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Design for Manufacturing (DFM): Designing products for easy manufacturing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Modular Design: Using standardized components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6: Design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Feasibility analysis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Product specifications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Process specifications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Prototype development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Testing and refinement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Production launch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Session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Facility Layout and Line Balancing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297680"/>
            <a:ext cx="5486400" cy="0"/>
          </a:xfrm>
          <a:prstGeom prst="rect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7: Key Concepts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Layout: Configuration of departments, work centers, equipment with emphasis on movement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Need for layout planning: Inefficient operations, high costs, bottlenecks, safety hazards, design changes, volume changes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Layout objectives: Minimize material handling costs, utilize space efficiently, facilitate communication, ensure worker safety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Product Layout: Arrangement for high-volume, standardized products (assembly line)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Process Layout: Arrangement by function or process type (job shop)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7: Key Concepts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Fixed-Position Layout: Product stays in one place, resources move to it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Cellular Layout: Group technology, machines arranged in cells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Line Balancing: Assigning tasks to workstations to minimize idle time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Cycle Time: Maximum time allowed at each workstation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Minimum number of workstations = Sum of task times / Cycle time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Efficiency = Sum of task times / (Number of workstations × Cycle time) × 100%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Session 7: Important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Cycle Time = Operating time per day / Desired output per day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Minimum number of workstations = Σ Task times / Cycle time (round up)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Efficiency = (Σ Task times) / (Actual number of workstations × Cycle time) × 100%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Balance Delay = 100% - Efficiency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Exam Preparation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Focus on definitions and key concepts (40% weightage)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Master all formulas - practice numerical problems (30% weightage)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Understand frameworks and their applications (20% weightage)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Learn differences between concepts (e.g., efficiency vs utilization)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Practice diagrams: Product-Process Matrix, Layout Types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Memorize Learning Objectives - they guide exam questions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For 20 marks: Answer 4-5 questions with proper examples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Quick Formula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PRODUCTIVITY: Output / Input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CAPACITY: Efficiency = (Actual / Effective) × 100%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CAPACITY: Utilization = (Actual / Design) × 100%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PROCESS: Break-even = Fixed Cost / (Price - Variable Cost)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LAYOUT: Cycle Time = Operating Time / Desired Output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LAYOUT: Min Workstations = Σ Task Times / Cycle Time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LAYOUT: Efficiency = Σ Task Times / (Workstations × Cycle) × 100%</a:t>
            </a:r>
          </a:p>
          <a:p>
            <a:pPr>
              <a:spcBef>
                <a:spcPts val="800"/>
              </a:spcBef>
              <a:defRPr sz="1800" b="1">
                <a:solidFill>
                  <a:srgbClr val="4472C4"/>
                </a:solidFill>
              </a:defRPr>
            </a:pPr>
            <a:r>
              <a:t>LOCATION: Center of Gravity = Σ(coordinate × volume) / Σ volume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